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6"/>
    <p:sldId id="260" r:id="rId6"/>
    <p:sldId id="261" r:id="rId7"/>
    <p:sldId id="262" r:id="rId8"/>
    <p:sldId id="266" r:id="rId17"/>
    <p:sldId id="267" r:id="rId18"/>
    <p:sldId id="263" r:id="rId9"/>
    <p:sldId id="268" r:id="rId19"/>
    <p:sldId id="269" r:id="rId20"/>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be8358-ada0-11ce-d290-ac2c3380c2b7}">
          <p14:sldIdLst>
            <p14:sldId id="256"/>
            <p14:sldId id="257"/>
          </p14:sldIdLst>
        </p14:section>
        <p14:section name="The problem" id="{3f9705c7-c06c-0cd6-024e-6ce8380101ef}">
          <p14:sldIdLst>
            <p14:sldId id="258"/>
          </p14:sldIdLst>
        </p14:section>
        <p14:section name="The solution" id="{f59f389a-788a-30cd-6190-63b78cc35900}">
          <p14:sldIdLst>
            <p14:sldId id="259"/>
          </p14:sldIdLst>
        </p14:section>
        <p14:section name="Highlights" id="{78797283-8199-9465-4e07-ea8e4d3a5e3f}">
          <p14:sldIdLst>
            <p14:sldId id="260"/>
            <p14:sldId id="261"/>
            <p14:sldId id="262"/>
          </p14:sldIdLst>
        </p14:section>
        <p14:section name="Why it matters" id="{ad29ef7a-3ad4-15d6-dc04-595a08225d7c}">
          <p14:sldIdLst>
            <p14:sldId id="263"/>
          </p14:sldIdLst>
        </p14:section>
        <p14:section name="Next steps" id="{a47d7c33-9bc2-6b61-988f-72faa2d0a27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VUCRMS is a shared records platform for every office of the City government. This short talk covers what goes wrong with records today, what the system changes, and why that matters for Vigan.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question. Each office already keeps good records, but separately: logbooks, spreadsheets, registry books, forms, each checked by hand. What if all of that became one record per person that every office shares? The same information could then show who qualifies for a program but is not in it yet, turn into charts for planning, and produce disaster response lists in minutes. That is what VUCRMS does, and the rest of this presentation shows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 works on its own. A senior citizen registered with CSWD may also appear in Civil Registry and Agriculture records under a slightly different name. Nobody can easily tell it is the same person, and the City has no single, reliable view of its own records for planning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office keeps working in its own space, but the resident underneath is the same record. When CSWD, Civil Registry or Agriculture register someone, VUCRMS checks whether that person already exists, including near-matches in spelling, and lets staff confirm before anything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main highlights. The City administrator can build a chart from any office's records in a few clicks: pick the data, choose what to count, group it, and pick a chart. It is not limited to residents. The Business Permits, Building Permits and Zoning offices get the same charts, and the Heritage Zone page already shows businesses, building permits and zoning clearances inside the heritage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Program gaps answer a question no single office can answer on its own: who qualifies for help but is not getting it, and who is still on a list they no longer belong on. Because every office shares one record per person, the system can compare across programs. The list can be filtered by barangay and printed, and staff record what came of contacting each person, so nobody is followed up twice or forgotten. The check runs fresh each time the page opens and never changes a record by itself.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 approves its own beneficiaries, and no office has the full list, so it is hard to see when one household is in several programs while another household has none. VUCRMS shows how many programs each household is in, flags households with a senior or a young child that get no help at all. The goal is not to cut anyone's benefits automatically; it is to give officials the information to spread limited funds across more of the people who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Putting every office's records in one place only works if people can trust it. Every change can be traced to the person who made it, and residents' personal data is protected the way the Data Privacy Act requires, on infrastructure the City controls. Officials get view-only accounts that show counts and charts but no names. Opening, exporting or printing a list is recorded as well, and residents' requests to see, correct or delete their data are tracked for the Data Protection Officer.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a sample of the records each office already maintains, in whatever form it is kept. Those samples are used to set up each office's space correctly before rollout, so the system fits the work offices already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resident to see what the shared record changes. Lola Maria is an example, not a real person. CSWD registers her as a senior citizen, and her record is created once. When Agriculture registers her farm, the system finds her and links to the same record. If another office types her name a little differently, the system holds the entry until an administrator confirms it is the same person. And when Civil Registry records her death, she leaves her household and is taken off the program lists without any office having to be told.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shared record helps in a disaster. Before a typhoon, the Disaster lists page shows the residents who may need help to evacuate, by barangay and household, and one barangay's list can be printed for rescue teams. After it, staff choose a relief event and mark each household as it receives relief. A household can claim once per event, and the City can see who has not received anything yet.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people get different things from the same system. The Mayor and other officials get a view-only account that shows the city in counts and charts, with no names. Office heads get a list of what needs their attention and reports for any period. Front-line staff register a person once, can import the spreadsheets they already have, and can print a certificate or ID straight from the record. Residents are recorded once and recognized in every office.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that often comes up is how this relates to CBMS. They do different jobs. CBMS is a household census required by RA 11315 and run about every three years, and it gives the City its poverty indicators. VUCRMS holds the records offices create every day, so it is current, and offices use it to serve residents and follow up. The two fit together: CBMS shows where the City stood at the last census, and VUCRMS shows where it stands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point to switch to the system itself. The demonstration uses sample data, tagged Sample on screen, not real residents. Show four things: registering someone who is already in the registry, clicking a bar on a chart to list the records behind it, opening a Not yet served list for one barangay and marking who has been contacted, and printing one barangay's evacuation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rtlCol="0"/>
          <a:lstStyle>
            <a:lvl1pPr indent="0" marL="0">
              <a:buNone/>
              <a:defRPr lang="en-US" sz="1400" b="1" spc="200" kern="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548640" y="3063240"/>
            <a:ext cx="731520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ok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713232"/>
            <a:ext cx="804672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ph idx="102" type="body" hasCustomPrompt="1"/>
          </p:nvPr>
        </p:nvSpPr>
        <p:spPr>
          <a:xfrm>
            <a:off x="548640" y="1325880"/>
            <a:ext cx="804672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VUCRMS  ·  City Government of Vigan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400" b="1" spc="200" kern="0" dirty="0">
                <a:solidFill>
                  <a:schemeClr val="accent4"/>
                </a:solidFill>
              </a:rPr>
              <a:t>CITY GOVERNMENT OF VIGAN</a:t>
            </a: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3800" b="1" dirty="0">
                <a:solidFill>
                  <a:schemeClr val="bg1"/>
                </a:solidFill>
              </a:rPr>
              <a:t>One record system for the whole City</a:t>
            </a:r>
            <a:endParaRPr lang="en-US" sz="3800" dirty="0"/>
          </a:p>
        </p:txBody>
      </p:sp>
      <p:sp>
        <p:nvSpPr>
          <p:cNvPr id="4" name="Text 0"/>
          <p:cNvSpPr/>
          <p:nvPr>
            <p:ph idx="102" type="body" hasCustomPrompt="1"/>
          </p:nvPr>
        </p:nvSpPr>
        <p:spPr>
          <a:xfrm>
            <a:off x="548640" y="3063240"/>
            <a:ext cx="7315200" cy="1097280"/>
          </a:xfrm>
          <a:prstGeom prst="rect">
            <a:avLst/>
          </a:prstGeom>
          <a:noFill/>
          <a:ln/>
        </p:spPr>
        <p:txBody>
          <a:bodyPr wrap="square" lIns="0" tIns="0" rIns="0" bIns="0" rtlCol="0" anchor="t"/>
          <a:lstStyle/>
          <a:p>
            <a:pPr indent="0" marL="0">
              <a:buNone/>
            </a:pPr>
            <a:r>
              <a:rPr lang="en-US" sz="1600" dirty="0">
                <a:solidFill>
                  <a:schemeClr val="bg1"/>
                </a:solidFill>
              </a:rPr>
              <a:t>Vigan Unified Central Record Management System (VUCRMS): why the City needs 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lIns="0" tIns="0" rIns="0" bIns="0" rtlCol="0"/>
          <a:lstStyle/>
          <a:p>
            <a:pPr indent="0" marL="0">
              <a:buNone/>
            </a:pPr>
            <a:r>
              <a:rPr lang="en-US" sz="1200" b="1" spc="200" kern="0" dirty="0">
                <a:solidFill>
                  <a:schemeClr val="accent4"/>
                </a:solidFill>
              </a:rPr>
              <a:t>A QUESTION TO START</a:t>
            </a:r>
            <a:endParaRPr lang="en-US" sz="1200" dirty="0"/>
          </a:p>
        </p:txBody>
      </p:sp>
      <p:sp>
        <p:nvSpPr>
          <p:cNvPr id="3" name="Text 0"/>
          <p:cNvSpPr/>
          <p:nvPr>
            <p:ph idx="101" type="title" hasCustomPrompt="1"/>
          </p:nvPr>
        </p:nvSpPr>
        <p:spPr>
          <a:xfrm>
            <a:off x="548640" y="713232"/>
            <a:ext cx="8046720" cy="594360"/>
          </a:xfrm>
          <a:prstGeom prst="rect">
            <a:avLst/>
          </a:prstGeom>
          <a:noFill/>
          <a:ln/>
        </p:spPr>
        <p:txBody>
          <a:bodyPr wrap="square" lIns="0" tIns="0" rIns="0" bIns="0" rtlCol="0" anchor="t"/>
          <a:lstStyle/>
          <a:p>
            <a:pPr algn="l" indent="0" marL="0">
              <a:buNone/>
            </a:pPr>
            <a:r>
              <a:rPr lang="en-US" sz="3000" b="1" dirty="0">
                <a:solidFill>
                  <a:schemeClr val="bg1"/>
                </a:solidFill>
              </a:rPr>
              <a:t>What if every office's records worked as one?</a:t>
            </a:r>
            <a:endParaRPr lang="en-US" sz="3000" dirty="0"/>
          </a:p>
        </p:txBody>
      </p:sp>
      <p:sp>
        <p:nvSpPr>
          <p:cNvPr id="4" name="Text 0"/>
          <p:cNvSpPr/>
          <p:nvPr>
            <p:ph idx="102" type="body" hasCustomPrompt="1"/>
          </p:nvPr>
        </p:nvSpPr>
        <p:spPr>
          <a:xfrm>
            <a:off x="548640" y="1325880"/>
            <a:ext cx="8046720" cy="320040"/>
          </a:xfrm>
          <a:prstGeom prst="rect">
            <a:avLst/>
          </a:prstGeom>
          <a:noFill/>
          <a:ln/>
        </p:spPr>
        <p:txBody>
          <a:bodyPr wrap="square" lIns="0" tIns="0" rIns="0" bIns="0" rtlCol="0" anchor="t"/>
          <a:lstStyle/>
          <a:p>
            <a:pPr indent="0" marL="0">
              <a:buNone/>
            </a:pPr>
            <a:r>
              <a:rPr lang="en-US" sz="1400" dirty="0">
                <a:solidFill>
                  <a:schemeClr val="accent4"/>
                </a:solidFill>
              </a:rPr>
              <a:t>Records kept separately and checked by hand, brought together into data the City can use.</a:t>
            </a:r>
            <a:endParaRPr lang="en-US" sz="1400" dirty="0"/>
          </a:p>
        </p:txBody>
      </p:sp>
      <p:sp>
        <p:nvSpPr>
          <p:cNvPr id="5" name="Text 3"/>
          <p:cNvSpPr txBox="1"/>
          <p:nvPr/>
        </p:nvSpPr>
        <p:spPr>
          <a:xfrm>
            <a:off x="548640" y="1783080"/>
            <a:ext cx="210312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KEPT SEPARATELY</a:t>
            </a:r>
            <a:endParaRPr lang="en-US" sz="1100" dirty="0"/>
          </a:p>
        </p:txBody>
      </p:sp>
      <p:sp>
        <p:nvSpPr>
          <p:cNvPr id="6" name="Text 4"/>
          <p:cNvSpPr txBox="1"/>
          <p:nvPr/>
        </p:nvSpPr>
        <p:spPr>
          <a:xfrm>
            <a:off x="3108960" y="1783080"/>
            <a:ext cx="173736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BROUGHT TOGETHER</a:t>
            </a:r>
            <a:endParaRPr lang="en-US" sz="1100" dirty="0"/>
          </a:p>
        </p:txBody>
      </p:sp>
      <p:sp>
        <p:nvSpPr>
          <p:cNvPr id="7" name="Text 5"/>
          <p:cNvSpPr txBox="1"/>
          <p:nvPr/>
        </p:nvSpPr>
        <p:spPr>
          <a:xfrm>
            <a:off x="5303520" y="1783080"/>
            <a:ext cx="3291840" cy="228600"/>
          </a:xfrm>
          <a:prstGeom prst="rect">
            <a:avLst/>
          </a:prstGeom>
          <a:noFill/>
          <a:ln/>
        </p:spPr>
        <p:txBody>
          <a:bodyPr wrap="square" lIns="0" tIns="0" rIns="0" bIns="0" rtlCol="0" anchor="ctr"/>
          <a:lstStyle/>
          <a:p>
            <a:pPr indent="0" marL="0">
              <a:buNone/>
            </a:pPr>
            <a:r>
              <a:rPr lang="en-US" sz="1100" b="1" spc="100" kern="0" dirty="0">
                <a:solidFill>
                  <a:schemeClr val="accent4"/>
                </a:solidFill>
              </a:rPr>
              <a:t>PUT TO USE</a:t>
            </a:r>
            <a:endParaRPr lang="en-US" sz="1100" dirty="0"/>
          </a:p>
        </p:txBody>
      </p:sp>
      <p:sp>
        <p:nvSpPr>
          <p:cNvPr id="8" name="Shape 6"/>
          <p:cNvSpPr/>
          <p:nvPr/>
        </p:nvSpPr>
        <p:spPr>
          <a:xfrm>
            <a:off x="548640" y="2103120"/>
            <a:ext cx="2103120" cy="411480"/>
          </a:xfrm>
          <a:prstGeom prst="roundRect">
            <a:avLst>
              <a:gd name="adj" fmla="val 13333"/>
            </a:avLst>
          </a:prstGeom>
          <a:solidFill>
            <a:srgbClr val="FFFFFF">
              <a:alpha val="15000"/>
            </a:srgbClr>
          </a:solidFill>
          <a:ln w="9525">
            <a:solidFill>
              <a:srgbClr val="E3EFE8"/>
            </a:solidFill>
            <a:prstDash val="dash"/>
          </a:ln>
        </p:spPr>
      </p:sp>
      <p:sp>
        <p:nvSpPr>
          <p:cNvPr id="9" name="Text 7"/>
          <p:cNvSpPr txBox="1"/>
          <p:nvPr/>
        </p:nvSpPr>
        <p:spPr>
          <a:xfrm>
            <a:off x="640080" y="2103120"/>
            <a:ext cx="1920240" cy="411480"/>
          </a:xfrm>
          <a:prstGeom prst="rect">
            <a:avLst/>
          </a:prstGeom>
          <a:noFill/>
          <a:ln/>
        </p:spPr>
        <p:txBody>
          <a:bodyPr wrap="square" lIns="0" tIns="0" rIns="0" bIns="0" rtlCol="0" anchor="ctr"/>
          <a:lstStyle/>
          <a:p>
            <a:pPr indent="0" marL="0">
              <a:buNone/>
            </a:pPr>
            <a:r>
              <a:rPr lang="en-US" sz="1100" dirty="0">
                <a:solidFill>
                  <a:schemeClr val="bg1"/>
                </a:solidFill>
              </a:rPr>
              <a:t>Social Welfare: logbooks</a:t>
            </a:r>
            <a:endParaRPr lang="en-US" sz="1100" dirty="0"/>
          </a:p>
        </p:txBody>
      </p:sp>
      <p:sp>
        <p:nvSpPr>
          <p:cNvPr id="10" name="Shape 8"/>
          <p:cNvSpPr/>
          <p:nvPr/>
        </p:nvSpPr>
        <p:spPr>
          <a:xfrm>
            <a:off x="2651760" y="2308860"/>
            <a:ext cx="457200" cy="0"/>
          </a:xfrm>
          <a:prstGeom prst="line">
            <a:avLst/>
          </a:prstGeom>
          <a:noFill/>
          <a:ln w="12700">
            <a:solidFill>
              <a:srgbClr val="E3EFE8"/>
            </a:solidFill>
            <a:prstDash val="solid"/>
          </a:ln>
        </p:spPr>
      </p:sp>
      <p:sp>
        <p:nvSpPr>
          <p:cNvPr id="11" name="Shape 9"/>
          <p:cNvSpPr/>
          <p:nvPr/>
        </p:nvSpPr>
        <p:spPr>
          <a:xfrm>
            <a:off x="548640" y="2651760"/>
            <a:ext cx="2103120" cy="411480"/>
          </a:xfrm>
          <a:prstGeom prst="roundRect">
            <a:avLst>
              <a:gd name="adj" fmla="val 13333"/>
            </a:avLst>
          </a:prstGeom>
          <a:solidFill>
            <a:srgbClr val="FFFFFF">
              <a:alpha val="15000"/>
            </a:srgbClr>
          </a:solidFill>
          <a:ln w="9525">
            <a:solidFill>
              <a:srgbClr val="E3EFE8"/>
            </a:solidFill>
            <a:prstDash val="dash"/>
          </a:ln>
        </p:spPr>
      </p:sp>
      <p:sp>
        <p:nvSpPr>
          <p:cNvPr id="12" name="Text 10"/>
          <p:cNvSpPr txBox="1"/>
          <p:nvPr/>
        </p:nvSpPr>
        <p:spPr>
          <a:xfrm>
            <a:off x="640080" y="2651760"/>
            <a:ext cx="1920240" cy="411480"/>
          </a:xfrm>
          <a:prstGeom prst="rect">
            <a:avLst/>
          </a:prstGeom>
          <a:noFill/>
          <a:ln/>
        </p:spPr>
        <p:txBody>
          <a:bodyPr wrap="square" lIns="0" tIns="0" rIns="0" bIns="0" rtlCol="0" anchor="ctr"/>
          <a:lstStyle/>
          <a:p>
            <a:pPr indent="0" marL="0">
              <a:buNone/>
            </a:pPr>
            <a:r>
              <a:rPr lang="en-US" sz="1100" dirty="0">
                <a:solidFill>
                  <a:schemeClr val="bg1"/>
                </a:solidFill>
              </a:rPr>
              <a:t>Agriculture: spreadsheets</a:t>
            </a:r>
            <a:endParaRPr lang="en-US" sz="1100" dirty="0"/>
          </a:p>
        </p:txBody>
      </p:sp>
      <p:sp>
        <p:nvSpPr>
          <p:cNvPr id="13" name="Shape 11"/>
          <p:cNvSpPr/>
          <p:nvPr/>
        </p:nvSpPr>
        <p:spPr>
          <a:xfrm>
            <a:off x="2651760" y="2857500"/>
            <a:ext cx="457200" cy="0"/>
          </a:xfrm>
          <a:prstGeom prst="line">
            <a:avLst/>
          </a:prstGeom>
          <a:noFill/>
          <a:ln w="12700">
            <a:solidFill>
              <a:srgbClr val="E3EFE8"/>
            </a:solidFill>
            <a:prstDash val="solid"/>
          </a:ln>
        </p:spPr>
      </p:sp>
      <p:sp>
        <p:nvSpPr>
          <p:cNvPr id="14" name="Shape 12"/>
          <p:cNvSpPr/>
          <p:nvPr/>
        </p:nvSpPr>
        <p:spPr>
          <a:xfrm>
            <a:off x="548640" y="3200400"/>
            <a:ext cx="2103120" cy="411480"/>
          </a:xfrm>
          <a:prstGeom prst="roundRect">
            <a:avLst>
              <a:gd name="adj" fmla="val 13333"/>
            </a:avLst>
          </a:prstGeom>
          <a:solidFill>
            <a:srgbClr val="FFFFFF">
              <a:alpha val="15000"/>
            </a:srgbClr>
          </a:solidFill>
          <a:ln w="9525">
            <a:solidFill>
              <a:srgbClr val="E3EFE8"/>
            </a:solidFill>
            <a:prstDash val="dash"/>
          </a:ln>
        </p:spPr>
      </p:sp>
      <p:sp>
        <p:nvSpPr>
          <p:cNvPr id="15" name="Text 13"/>
          <p:cNvSpPr txBox="1"/>
          <p:nvPr/>
        </p:nvSpPr>
        <p:spPr>
          <a:xfrm>
            <a:off x="640080" y="3200400"/>
            <a:ext cx="1920240" cy="411480"/>
          </a:xfrm>
          <a:prstGeom prst="rect">
            <a:avLst/>
          </a:prstGeom>
          <a:noFill/>
          <a:ln/>
        </p:spPr>
        <p:txBody>
          <a:bodyPr wrap="square" lIns="0" tIns="0" rIns="0" bIns="0" rtlCol="0" anchor="ctr"/>
          <a:lstStyle/>
          <a:p>
            <a:pPr indent="0" marL="0">
              <a:buNone/>
            </a:pPr>
            <a:r>
              <a:rPr lang="en-US" sz="1100" dirty="0">
                <a:solidFill>
                  <a:schemeClr val="bg1"/>
                </a:solidFill>
              </a:rPr>
              <a:t>Civil Registry: registry books</a:t>
            </a:r>
            <a:endParaRPr lang="en-US" sz="1100" dirty="0"/>
          </a:p>
        </p:txBody>
      </p:sp>
      <p:sp>
        <p:nvSpPr>
          <p:cNvPr id="16" name="Shape 14"/>
          <p:cNvSpPr/>
          <p:nvPr/>
        </p:nvSpPr>
        <p:spPr>
          <a:xfrm>
            <a:off x="2651760" y="3406140"/>
            <a:ext cx="457200" cy="0"/>
          </a:xfrm>
          <a:prstGeom prst="line">
            <a:avLst/>
          </a:prstGeom>
          <a:noFill/>
          <a:ln w="12700">
            <a:solidFill>
              <a:srgbClr val="E3EFE8"/>
            </a:solidFill>
            <a:prstDash val="solid"/>
          </a:ln>
        </p:spPr>
      </p:sp>
      <p:sp>
        <p:nvSpPr>
          <p:cNvPr id="17" name="Shape 15"/>
          <p:cNvSpPr/>
          <p:nvPr/>
        </p:nvSpPr>
        <p:spPr>
          <a:xfrm>
            <a:off x="548640" y="3749040"/>
            <a:ext cx="2103120" cy="411480"/>
          </a:xfrm>
          <a:prstGeom prst="roundRect">
            <a:avLst>
              <a:gd name="adj" fmla="val 13333"/>
            </a:avLst>
          </a:prstGeom>
          <a:solidFill>
            <a:srgbClr val="FFFFFF">
              <a:alpha val="15000"/>
            </a:srgbClr>
          </a:solidFill>
          <a:ln w="9525">
            <a:solidFill>
              <a:srgbClr val="E3EFE8"/>
            </a:solidFill>
            <a:prstDash val="dash"/>
          </a:ln>
        </p:spPr>
      </p:sp>
      <p:sp>
        <p:nvSpPr>
          <p:cNvPr id="18" name="Text 16"/>
          <p:cNvSpPr txBox="1"/>
          <p:nvPr/>
        </p:nvSpPr>
        <p:spPr>
          <a:xfrm>
            <a:off x="640080" y="3749040"/>
            <a:ext cx="1920240" cy="411480"/>
          </a:xfrm>
          <a:prstGeom prst="rect">
            <a:avLst/>
          </a:prstGeom>
          <a:noFill/>
          <a:ln/>
        </p:spPr>
        <p:txBody>
          <a:bodyPr wrap="square" lIns="0" tIns="0" rIns="0" bIns="0" rtlCol="0" anchor="ctr"/>
          <a:lstStyle/>
          <a:p>
            <a:pPr indent="0" marL="0">
              <a:buNone/>
            </a:pPr>
            <a:r>
              <a:rPr lang="en-US" sz="1100" dirty="0">
                <a:solidFill>
                  <a:schemeClr val="bg1"/>
                </a:solidFill>
              </a:rPr>
              <a:t>Business Permits: forms</a:t>
            </a:r>
            <a:endParaRPr lang="en-US" sz="1100" dirty="0"/>
          </a:p>
        </p:txBody>
      </p:sp>
      <p:sp>
        <p:nvSpPr>
          <p:cNvPr id="19" name="Shape 17"/>
          <p:cNvSpPr/>
          <p:nvPr/>
        </p:nvSpPr>
        <p:spPr>
          <a:xfrm>
            <a:off x="2651760" y="3954780"/>
            <a:ext cx="457200" cy="0"/>
          </a:xfrm>
          <a:prstGeom prst="line">
            <a:avLst/>
          </a:prstGeom>
          <a:noFill/>
          <a:ln w="12700">
            <a:solidFill>
              <a:srgbClr val="E3EFE8"/>
            </a:solidFill>
            <a:prstDash val="solid"/>
          </a:ln>
        </p:spPr>
      </p:sp>
      <p:sp>
        <p:nvSpPr>
          <p:cNvPr id="20" name="Shape 18"/>
          <p:cNvSpPr/>
          <p:nvPr/>
        </p:nvSpPr>
        <p:spPr>
          <a:xfrm>
            <a:off x="3108960" y="2103120"/>
            <a:ext cx="1737360" cy="2057400"/>
          </a:xfrm>
          <a:prstGeom prst="roundRect">
            <a:avLst>
              <a:gd name="adj" fmla="val 4211"/>
            </a:avLst>
          </a:prstGeom>
          <a:solidFill>
            <a:srgbClr val="FFFFFF"/>
          </a:solidFill>
          <a:ln/>
        </p:spPr>
      </p:sp>
      <p:pic>
        <p:nvPicPr>
          <p:cNvPr id="21" name="Image 0" descr="preencoded.png">    </p:cNvPr>
          <p:cNvPicPr>
            <a:picLocks noChangeAspect="1"/>
          </p:cNvPicPr>
          <p:nvPr/>
        </p:nvPicPr>
        <p:blipFill>
          <a:blip r:embed="rId1"/>
          <a:stretch>
            <a:fillRect/>
          </a:stretch>
        </p:blipFill>
        <p:spPr>
          <a:xfrm>
            <a:off x="3749040" y="2423160"/>
            <a:ext cx="457200" cy="457200"/>
          </a:xfrm>
          <a:prstGeom prst="rect">
            <a:avLst/>
          </a:prstGeom>
        </p:spPr>
      </p:pic>
      <p:sp>
        <p:nvSpPr>
          <p:cNvPr id="22" name="Text 19"/>
          <p:cNvSpPr txBox="1"/>
          <p:nvPr/>
        </p:nvSpPr>
        <p:spPr>
          <a:xfrm>
            <a:off x="3200400" y="2971800"/>
            <a:ext cx="1554480" cy="1005840"/>
          </a:xfrm>
          <a:prstGeom prst="rect">
            <a:avLst/>
          </a:prstGeom>
          <a:noFill/>
          <a:ln/>
        </p:spPr>
        <p:txBody>
          <a:bodyPr wrap="square" lIns="0" tIns="0" rIns="0" bIns="0" rtlCol="0" anchor="t"/>
          <a:lstStyle/>
          <a:p>
            <a:pPr algn="ctr" indent="0" marL="0">
              <a:buNone/>
            </a:pPr>
            <a:r>
              <a:rPr lang="en-US" sz="1600" b="1" dirty="0">
                <a:solidFill>
                  <a:schemeClr val="tx2"/>
                </a:solidFill>
              </a:rPr>
              <a:t>One record</a:t>
            </a:r>
            <a:endParaRPr lang="en-US" sz="1600" dirty="0"/>
          </a:p>
          <a:p>
            <a:pPr algn="ctr" indent="0" marL="0">
              <a:buNone/>
            </a:pPr>
            <a:r>
              <a:rPr lang="en-US" sz="1100" dirty="0">
                <a:solidFill>
                  <a:schemeClr val="tx2"/>
                </a:solidFill>
              </a:rPr>
              <a:t>shared by every office</a:t>
            </a:r>
            <a:endParaRPr lang="en-US" sz="1600" dirty="0"/>
          </a:p>
        </p:txBody>
      </p:sp>
      <p:sp>
        <p:nvSpPr>
          <p:cNvPr id="23" name="Shape 20"/>
          <p:cNvSpPr/>
          <p:nvPr/>
        </p:nvSpPr>
        <p:spPr>
          <a:xfrm>
            <a:off x="4846320" y="3131820"/>
            <a:ext cx="457200" cy="0"/>
          </a:xfrm>
          <a:prstGeom prst="line">
            <a:avLst/>
          </a:prstGeom>
          <a:noFill/>
          <a:ln w="19050">
            <a:solidFill>
              <a:srgbClr val="E3EFE8"/>
            </a:solidFill>
            <a:prstDash val="solid"/>
            <a:tailEnd type="triangle"/>
          </a:ln>
        </p:spPr>
      </p:sp>
      <p:sp>
        <p:nvSpPr>
          <p:cNvPr id="24" name="Shape 21"/>
          <p:cNvSpPr/>
          <p:nvPr/>
        </p:nvSpPr>
        <p:spPr>
          <a:xfrm>
            <a:off x="5303520" y="2103120"/>
            <a:ext cx="3291840" cy="594360"/>
          </a:xfrm>
          <a:prstGeom prst="roundRect">
            <a:avLst>
              <a:gd name="adj" fmla="val 12308"/>
            </a:avLst>
          </a:prstGeom>
          <a:solidFill>
            <a:srgbClr val="E3EFE8"/>
          </a:solidFill>
          <a:ln/>
        </p:spPr>
      </p:sp>
      <p:pic>
        <p:nvPicPr>
          <p:cNvPr id="25" name="Image 1" descr="preencoded.png">    </p:cNvPr>
          <p:cNvPicPr>
            <a:picLocks noChangeAspect="1"/>
          </p:cNvPicPr>
          <p:nvPr/>
        </p:nvPicPr>
        <p:blipFill>
          <a:blip r:embed="rId2"/>
          <a:stretch>
            <a:fillRect/>
          </a:stretch>
        </p:blipFill>
        <p:spPr>
          <a:xfrm>
            <a:off x="5440680" y="2258568"/>
            <a:ext cx="274320" cy="274320"/>
          </a:xfrm>
          <a:prstGeom prst="rect">
            <a:avLst/>
          </a:prstGeom>
        </p:spPr>
      </p:pic>
      <p:sp>
        <p:nvSpPr>
          <p:cNvPr id="26" name="Text 22"/>
          <p:cNvSpPr txBox="1"/>
          <p:nvPr/>
        </p:nvSpPr>
        <p:spPr>
          <a:xfrm>
            <a:off x="5852160" y="215798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Program gaps</a:t>
            </a:r>
            <a:endParaRPr lang="en-US" sz="1250" dirty="0"/>
          </a:p>
        </p:txBody>
      </p:sp>
      <p:sp>
        <p:nvSpPr>
          <p:cNvPr id="27" name="Text 23"/>
          <p:cNvSpPr txBox="1"/>
          <p:nvPr/>
        </p:nvSpPr>
        <p:spPr>
          <a:xfrm>
            <a:off x="5852160" y="239572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Who qualifies for help but is not served yet</a:t>
            </a:r>
            <a:endParaRPr lang="en-US" sz="1050" dirty="0"/>
          </a:p>
        </p:txBody>
      </p:sp>
      <p:sp>
        <p:nvSpPr>
          <p:cNvPr id="28" name="Shape 24"/>
          <p:cNvSpPr/>
          <p:nvPr/>
        </p:nvSpPr>
        <p:spPr>
          <a:xfrm>
            <a:off x="5303520" y="2834640"/>
            <a:ext cx="3291840" cy="594360"/>
          </a:xfrm>
          <a:prstGeom prst="roundRect">
            <a:avLst>
              <a:gd name="adj" fmla="val 12308"/>
            </a:avLst>
          </a:prstGeom>
          <a:solidFill>
            <a:srgbClr val="E3EFE8"/>
          </a:solidFill>
          <a:ln/>
        </p:spPr>
      </p:sp>
      <p:pic>
        <p:nvPicPr>
          <p:cNvPr id="29" name="Image 2" descr="preencoded.png">    </p:cNvPr>
          <p:cNvPicPr>
            <a:picLocks noChangeAspect="1"/>
          </p:cNvPicPr>
          <p:nvPr/>
        </p:nvPicPr>
        <p:blipFill>
          <a:blip r:embed="rId3"/>
          <a:stretch>
            <a:fillRect/>
          </a:stretch>
        </p:blipFill>
        <p:spPr>
          <a:xfrm>
            <a:off x="5440680" y="2990088"/>
            <a:ext cx="274320" cy="274320"/>
          </a:xfrm>
          <a:prstGeom prst="rect">
            <a:avLst/>
          </a:prstGeom>
        </p:spPr>
      </p:pic>
      <p:sp>
        <p:nvSpPr>
          <p:cNvPr id="30" name="Text 25"/>
          <p:cNvSpPr txBox="1"/>
          <p:nvPr/>
        </p:nvSpPr>
        <p:spPr>
          <a:xfrm>
            <a:off x="5852160" y="288950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Data visualizations</a:t>
            </a:r>
            <a:endParaRPr lang="en-US" sz="1250" dirty="0"/>
          </a:p>
        </p:txBody>
      </p:sp>
      <p:sp>
        <p:nvSpPr>
          <p:cNvPr id="31" name="Text 26"/>
          <p:cNvSpPr txBox="1"/>
          <p:nvPr/>
        </p:nvSpPr>
        <p:spPr>
          <a:xfrm>
            <a:off x="5852160" y="312724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Charts from any office's records</a:t>
            </a:r>
            <a:endParaRPr lang="en-US" sz="1050" dirty="0"/>
          </a:p>
        </p:txBody>
      </p:sp>
      <p:sp>
        <p:nvSpPr>
          <p:cNvPr id="32" name="Shape 27"/>
          <p:cNvSpPr/>
          <p:nvPr/>
        </p:nvSpPr>
        <p:spPr>
          <a:xfrm>
            <a:off x="5303520" y="3566160"/>
            <a:ext cx="3291840" cy="594360"/>
          </a:xfrm>
          <a:prstGeom prst="roundRect">
            <a:avLst>
              <a:gd name="adj" fmla="val 12308"/>
            </a:avLst>
          </a:prstGeom>
          <a:solidFill>
            <a:srgbClr val="E3EFE8"/>
          </a:solidFill>
          <a:ln/>
        </p:spPr>
      </p:sp>
      <p:pic>
        <p:nvPicPr>
          <p:cNvPr id="33" name="Image 3" descr="preencoded.png">    </p:cNvPr>
          <p:cNvPicPr>
            <a:picLocks noChangeAspect="1"/>
          </p:cNvPicPr>
          <p:nvPr/>
        </p:nvPicPr>
        <p:blipFill>
          <a:blip r:embed="rId4"/>
          <a:stretch>
            <a:fillRect/>
          </a:stretch>
        </p:blipFill>
        <p:spPr>
          <a:xfrm>
            <a:off x="5440680" y="3721608"/>
            <a:ext cx="274320" cy="274320"/>
          </a:xfrm>
          <a:prstGeom prst="rect">
            <a:avLst/>
          </a:prstGeom>
        </p:spPr>
      </p:pic>
      <p:sp>
        <p:nvSpPr>
          <p:cNvPr id="34" name="Text 28"/>
          <p:cNvSpPr txBox="1"/>
          <p:nvPr/>
        </p:nvSpPr>
        <p:spPr>
          <a:xfrm>
            <a:off x="5852160" y="3621024"/>
            <a:ext cx="2651760" cy="228600"/>
          </a:xfrm>
          <a:prstGeom prst="rect">
            <a:avLst/>
          </a:prstGeom>
          <a:noFill/>
          <a:ln/>
        </p:spPr>
        <p:txBody>
          <a:bodyPr wrap="square" lIns="0" tIns="0" rIns="0" bIns="0" rtlCol="0" anchor="ctr"/>
          <a:lstStyle/>
          <a:p>
            <a:pPr indent="0" marL="0">
              <a:buNone/>
            </a:pPr>
            <a:r>
              <a:rPr lang="en-US" sz="1250" b="1" dirty="0">
                <a:solidFill>
                  <a:schemeClr val="tx1"/>
                </a:solidFill>
              </a:rPr>
              <a:t>Disaster response lists</a:t>
            </a:r>
            <a:endParaRPr lang="en-US" sz="1250" dirty="0"/>
          </a:p>
        </p:txBody>
      </p:sp>
      <p:sp>
        <p:nvSpPr>
          <p:cNvPr id="35" name="Text 29"/>
          <p:cNvSpPr txBox="1"/>
          <p:nvPr/>
        </p:nvSpPr>
        <p:spPr>
          <a:xfrm>
            <a:off x="5852160" y="3858768"/>
            <a:ext cx="2651760" cy="256032"/>
          </a:xfrm>
          <a:prstGeom prst="rect">
            <a:avLst/>
          </a:prstGeom>
          <a:noFill/>
          <a:ln/>
        </p:spPr>
        <p:txBody>
          <a:bodyPr wrap="square" lIns="0" tIns="0" rIns="0" bIns="0" rtlCol="0" anchor="ctr"/>
          <a:lstStyle/>
          <a:p>
            <a:pPr indent="0" marL="0">
              <a:buNone/>
            </a:pPr>
            <a:r>
              <a:rPr lang="en-US" sz="1050" dirty="0">
                <a:solidFill>
                  <a:schemeClr val="accent3"/>
                </a:solidFill>
              </a:rPr>
              <a:t>Who may need help to evacuate, by barangay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 every office keeps its own records</a:t>
            </a:r>
            <a:endParaRPr lang="en-US" sz="3000" dirty="0"/>
          </a:p>
        </p:txBody>
      </p:sp>
      <p:sp>
        <p:nvSpPr>
          <p:cNvPr id="3" name="Shape 1"/>
          <p:cNvSpPr/>
          <p:nvPr/>
        </p:nvSpPr>
        <p:spPr>
          <a:xfrm>
            <a:off x="457200" y="1325880"/>
            <a:ext cx="2560320" cy="3108960"/>
          </a:xfrm>
          <a:prstGeom prst="roundRect">
            <a:avLst>
              <a:gd name="adj" fmla="val 2857"/>
            </a:avLst>
          </a:prstGeom>
          <a:solidFill>
            <a:srgbClr val="F1F5F2"/>
          </a:solidFill>
          <a:ln/>
        </p:spPr>
      </p:sp>
      <p:sp>
        <p:nvSpPr>
          <p:cNvPr id="4" name="Shape 2"/>
          <p:cNvSpPr/>
          <p:nvPr/>
        </p:nvSpPr>
        <p:spPr>
          <a:xfrm>
            <a:off x="731520" y="1600200"/>
            <a:ext cx="685800" cy="685800"/>
          </a:xfrm>
          <a:prstGeom prst="ellipse">
            <a:avLst/>
          </a:prstGeom>
          <a:solidFill>
            <a:srgbClr val="F7E9E4"/>
          </a:solidFill>
          <a:ln/>
        </p:spPr>
      </p:sp>
      <p:pic>
        <p:nvPicPr>
          <p:cNvPr id="5" name="Image 0" descr="preencoded.png">    </p:cNvPr>
          <p:cNvPicPr>
            <a:picLocks noChangeAspect="1"/>
          </p:cNvPicPr>
          <p:nvPr/>
        </p:nvPicPr>
        <p:blipFill>
          <a:blip r:embed="rId1"/>
          <a:stretch>
            <a:fillRect/>
          </a:stretch>
        </p:blipFill>
        <p:spPr>
          <a:xfrm>
            <a:off x="902970" y="1771650"/>
            <a:ext cx="342900" cy="342900"/>
          </a:xfrm>
          <a:prstGeom prst="rect">
            <a:avLst/>
          </a:prstGeom>
        </p:spPr>
      </p:pic>
      <p:sp>
        <p:nvSpPr>
          <p:cNvPr id="6" name="Text 3"/>
          <p:cNvSpPr txBox="1"/>
          <p:nvPr/>
        </p:nvSpPr>
        <p:spPr>
          <a:xfrm>
            <a:off x="73152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Records sit in separate offices</a:t>
            </a:r>
            <a:endParaRPr lang="en-US" sz="1600" dirty="0"/>
          </a:p>
        </p:txBody>
      </p:sp>
      <p:sp>
        <p:nvSpPr>
          <p:cNvPr id="7" name="Text 4"/>
          <p:cNvSpPr txBox="1"/>
          <p:nvPr/>
        </p:nvSpPr>
        <p:spPr>
          <a:xfrm>
            <a:off x="73152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Paper logbooks and separate spreadsheets, with no shared way to check information across offices.</a:t>
            </a:r>
            <a:endParaRPr lang="en-US" sz="1400" dirty="0"/>
          </a:p>
        </p:txBody>
      </p:sp>
      <p:sp>
        <p:nvSpPr>
          <p:cNvPr id="8" name="Shape 5"/>
          <p:cNvSpPr/>
          <p:nvPr/>
        </p:nvSpPr>
        <p:spPr>
          <a:xfrm>
            <a:off x="3291840" y="1325880"/>
            <a:ext cx="2560320" cy="3108960"/>
          </a:xfrm>
          <a:prstGeom prst="roundRect">
            <a:avLst>
              <a:gd name="adj" fmla="val 2857"/>
            </a:avLst>
          </a:prstGeom>
          <a:solidFill>
            <a:srgbClr val="F1F5F2"/>
          </a:solidFill>
          <a:ln/>
        </p:spPr>
      </p:sp>
      <p:sp>
        <p:nvSpPr>
          <p:cNvPr id="9" name="Shape 6"/>
          <p:cNvSpPr/>
          <p:nvPr/>
        </p:nvSpPr>
        <p:spPr>
          <a:xfrm>
            <a:off x="3566160" y="1600200"/>
            <a:ext cx="685800" cy="685800"/>
          </a:xfrm>
          <a:prstGeom prst="ellipse">
            <a:avLst/>
          </a:prstGeom>
          <a:solidFill>
            <a:srgbClr val="F7E9E4"/>
          </a:solidFill>
          <a:ln/>
        </p:spPr>
      </p:sp>
      <p:pic>
        <p:nvPicPr>
          <p:cNvPr id="10" name="Image 1" descr="preencoded.png">    </p:cNvPr>
          <p:cNvPicPr>
            <a:picLocks noChangeAspect="1"/>
          </p:cNvPicPr>
          <p:nvPr/>
        </p:nvPicPr>
        <p:blipFill>
          <a:blip r:embed="rId2"/>
          <a:stretch>
            <a:fillRect/>
          </a:stretch>
        </p:blipFill>
        <p:spPr>
          <a:xfrm>
            <a:off x="3737610" y="1771650"/>
            <a:ext cx="342900" cy="342900"/>
          </a:xfrm>
          <a:prstGeom prst="rect">
            <a:avLst/>
          </a:prstGeom>
        </p:spPr>
      </p:pic>
      <p:sp>
        <p:nvSpPr>
          <p:cNvPr id="11" name="Text 7"/>
          <p:cNvSpPr txBox="1"/>
          <p:nvPr/>
        </p:nvSpPr>
        <p:spPr>
          <a:xfrm>
            <a:off x="356616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One resident, many copies</a:t>
            </a:r>
            <a:endParaRPr lang="en-US" sz="1600" dirty="0"/>
          </a:p>
        </p:txBody>
      </p:sp>
      <p:sp>
        <p:nvSpPr>
          <p:cNvPr id="12" name="Text 8"/>
          <p:cNvSpPr txBox="1"/>
          <p:nvPr/>
        </p:nvSpPr>
        <p:spPr>
          <a:xfrm>
            <a:off x="356616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Each office makes its own copy of a person, often with slightly different spelling or details.</a:t>
            </a:r>
            <a:endParaRPr lang="en-US" sz="1400" dirty="0"/>
          </a:p>
        </p:txBody>
      </p:sp>
      <p:sp>
        <p:nvSpPr>
          <p:cNvPr id="13" name="Shape 9"/>
          <p:cNvSpPr/>
          <p:nvPr/>
        </p:nvSpPr>
        <p:spPr>
          <a:xfrm>
            <a:off x="6126480" y="1325880"/>
            <a:ext cx="2560320" cy="3108960"/>
          </a:xfrm>
          <a:prstGeom prst="roundRect">
            <a:avLst>
              <a:gd name="adj" fmla="val 2857"/>
            </a:avLst>
          </a:prstGeom>
          <a:solidFill>
            <a:srgbClr val="F1F5F2"/>
          </a:solidFill>
          <a:ln/>
        </p:spPr>
      </p:sp>
      <p:sp>
        <p:nvSpPr>
          <p:cNvPr id="14" name="Shape 10"/>
          <p:cNvSpPr/>
          <p:nvPr/>
        </p:nvSpPr>
        <p:spPr>
          <a:xfrm>
            <a:off x="6400800" y="1600200"/>
            <a:ext cx="685800" cy="685800"/>
          </a:xfrm>
          <a:prstGeom prst="ellipse">
            <a:avLst/>
          </a:prstGeom>
          <a:solidFill>
            <a:srgbClr val="F7E9E4"/>
          </a:solidFill>
          <a:ln/>
        </p:spPr>
      </p:sp>
      <p:pic>
        <p:nvPicPr>
          <p:cNvPr id="15" name="Image 2" descr="preencoded.png">    </p:cNvPr>
          <p:cNvPicPr>
            <a:picLocks noChangeAspect="1"/>
          </p:cNvPicPr>
          <p:nvPr/>
        </p:nvPicPr>
        <p:blipFill>
          <a:blip r:embed="rId3"/>
          <a:stretch>
            <a:fillRect/>
          </a:stretch>
        </p:blipFill>
        <p:spPr>
          <a:xfrm>
            <a:off x="6572250" y="1771650"/>
            <a:ext cx="342900" cy="342900"/>
          </a:xfrm>
          <a:prstGeom prst="rect">
            <a:avLst/>
          </a:prstGeom>
        </p:spPr>
      </p:pic>
      <p:sp>
        <p:nvSpPr>
          <p:cNvPr id="16" name="Text 11"/>
          <p:cNvSpPr txBox="1"/>
          <p:nvPr/>
        </p:nvSpPr>
        <p:spPr>
          <a:xfrm>
            <a:off x="6400800" y="2423160"/>
            <a:ext cx="2011680" cy="685800"/>
          </a:xfrm>
          <a:prstGeom prst="rect">
            <a:avLst/>
          </a:prstGeom>
          <a:noFill/>
          <a:ln/>
        </p:spPr>
        <p:txBody>
          <a:bodyPr wrap="square" lIns="0" tIns="0" rIns="0" bIns="0" rtlCol="0" anchor="t"/>
          <a:lstStyle/>
          <a:p>
            <a:pPr indent="0" marL="0">
              <a:buNone/>
            </a:pPr>
            <a:r>
              <a:rPr lang="en-US" sz="1600" b="1" dirty="0">
                <a:solidFill>
                  <a:schemeClr val="tx1"/>
                </a:solidFill>
              </a:rPr>
              <a:t>No citywide picture</a:t>
            </a:r>
            <a:endParaRPr lang="en-US" sz="1600" dirty="0"/>
          </a:p>
        </p:txBody>
      </p:sp>
      <p:sp>
        <p:nvSpPr>
          <p:cNvPr id="17" name="Text 12"/>
          <p:cNvSpPr txBox="1"/>
          <p:nvPr/>
        </p:nvSpPr>
        <p:spPr>
          <a:xfrm>
            <a:off x="6400800" y="3108960"/>
            <a:ext cx="2011680" cy="1188720"/>
          </a:xfrm>
          <a:prstGeom prst="rect">
            <a:avLst/>
          </a:prstGeom>
          <a:noFill/>
          <a:ln/>
        </p:spPr>
        <p:txBody>
          <a:bodyPr wrap="square" lIns="0" tIns="0" rIns="0" bIns="0" rtlCol="0" anchor="t"/>
          <a:lstStyle/>
          <a:p>
            <a:pPr indent="0" marL="0">
              <a:buNone/>
            </a:pPr>
            <a:r>
              <a:rPr lang="en-US" sz="1400" dirty="0">
                <a:solidFill>
                  <a:schemeClr val="accent3"/>
                </a:solidFill>
              </a:rPr>
              <a:t>Reports are put together by hand, so officials can't easily see who is served, where, and by which program.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Every office, one shared record</a:t>
            </a:r>
            <a:endParaRPr lang="en-US" sz="3000" dirty="0"/>
          </a:p>
        </p:txBody>
      </p:sp>
      <p:sp>
        <p:nvSpPr>
          <p:cNvPr id="3" name="Shape 1"/>
          <p:cNvSpPr/>
          <p:nvPr/>
        </p:nvSpPr>
        <p:spPr>
          <a:xfrm>
            <a:off x="457200" y="1325880"/>
            <a:ext cx="1783080" cy="438912"/>
          </a:xfrm>
          <a:prstGeom prst="roundRect">
            <a:avLst>
              <a:gd name="adj" fmla="val 16667"/>
            </a:avLst>
          </a:prstGeom>
          <a:solidFill>
            <a:srgbClr val="E3EFE8"/>
          </a:solidFill>
          <a:ln/>
        </p:spPr>
      </p:sp>
      <p:sp>
        <p:nvSpPr>
          <p:cNvPr id="4" name="Text 2"/>
          <p:cNvSpPr txBox="1"/>
          <p:nvPr/>
        </p:nvSpPr>
        <p:spPr>
          <a:xfrm>
            <a:off x="457200" y="1325880"/>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Social Welfare (CSWD)</a:t>
            </a:r>
            <a:endParaRPr lang="en-US" sz="1200" dirty="0"/>
          </a:p>
        </p:txBody>
      </p:sp>
      <p:sp>
        <p:nvSpPr>
          <p:cNvPr id="5" name="Shape 3"/>
          <p:cNvSpPr/>
          <p:nvPr/>
        </p:nvSpPr>
        <p:spPr>
          <a:xfrm>
            <a:off x="2240280" y="1545336"/>
            <a:ext cx="320040" cy="0"/>
          </a:xfrm>
          <a:prstGeom prst="line">
            <a:avLst/>
          </a:prstGeom>
          <a:noFill/>
          <a:ln w="15875">
            <a:solidFill>
              <a:srgbClr val="8B948D"/>
            </a:solidFill>
            <a:prstDash val="solid"/>
          </a:ln>
        </p:spPr>
      </p:sp>
      <p:sp>
        <p:nvSpPr>
          <p:cNvPr id="6" name="Shape 4"/>
          <p:cNvSpPr/>
          <p:nvPr/>
        </p:nvSpPr>
        <p:spPr>
          <a:xfrm>
            <a:off x="457200" y="1947672"/>
            <a:ext cx="1783080" cy="438912"/>
          </a:xfrm>
          <a:prstGeom prst="roundRect">
            <a:avLst>
              <a:gd name="adj" fmla="val 16667"/>
            </a:avLst>
          </a:prstGeom>
          <a:solidFill>
            <a:srgbClr val="E3EFE8"/>
          </a:solidFill>
          <a:ln/>
        </p:spPr>
      </p:sp>
      <p:sp>
        <p:nvSpPr>
          <p:cNvPr id="7" name="Text 5"/>
          <p:cNvSpPr txBox="1"/>
          <p:nvPr/>
        </p:nvSpPr>
        <p:spPr>
          <a:xfrm>
            <a:off x="457200" y="1947672"/>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Civil Registry</a:t>
            </a:r>
            <a:endParaRPr lang="en-US" sz="1200" dirty="0"/>
          </a:p>
        </p:txBody>
      </p:sp>
      <p:sp>
        <p:nvSpPr>
          <p:cNvPr id="8" name="Shape 6"/>
          <p:cNvSpPr/>
          <p:nvPr/>
        </p:nvSpPr>
        <p:spPr>
          <a:xfrm>
            <a:off x="2240280" y="2167128"/>
            <a:ext cx="320040" cy="0"/>
          </a:xfrm>
          <a:prstGeom prst="line">
            <a:avLst/>
          </a:prstGeom>
          <a:noFill/>
          <a:ln w="15875">
            <a:solidFill>
              <a:srgbClr val="8B948D"/>
            </a:solidFill>
            <a:prstDash val="solid"/>
          </a:ln>
        </p:spPr>
      </p:sp>
      <p:sp>
        <p:nvSpPr>
          <p:cNvPr id="9" name="Shape 7"/>
          <p:cNvSpPr/>
          <p:nvPr/>
        </p:nvSpPr>
        <p:spPr>
          <a:xfrm>
            <a:off x="457200" y="2569464"/>
            <a:ext cx="1783080" cy="438912"/>
          </a:xfrm>
          <a:prstGeom prst="roundRect">
            <a:avLst>
              <a:gd name="adj" fmla="val 16667"/>
            </a:avLst>
          </a:prstGeom>
          <a:solidFill>
            <a:srgbClr val="E3EFE8"/>
          </a:solidFill>
          <a:ln/>
        </p:spPr>
      </p:sp>
      <p:sp>
        <p:nvSpPr>
          <p:cNvPr id="10" name="Text 8"/>
          <p:cNvSpPr txBox="1"/>
          <p:nvPr/>
        </p:nvSpPr>
        <p:spPr>
          <a:xfrm>
            <a:off x="457200" y="2569464"/>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Agriculture</a:t>
            </a:r>
            <a:endParaRPr lang="en-US" sz="1200" dirty="0"/>
          </a:p>
        </p:txBody>
      </p:sp>
      <p:sp>
        <p:nvSpPr>
          <p:cNvPr id="11" name="Shape 9"/>
          <p:cNvSpPr/>
          <p:nvPr/>
        </p:nvSpPr>
        <p:spPr>
          <a:xfrm>
            <a:off x="2240280" y="2788920"/>
            <a:ext cx="320040" cy="0"/>
          </a:xfrm>
          <a:prstGeom prst="line">
            <a:avLst/>
          </a:prstGeom>
          <a:noFill/>
          <a:ln w="15875">
            <a:solidFill>
              <a:srgbClr val="8B948D"/>
            </a:solidFill>
            <a:prstDash val="solid"/>
          </a:ln>
        </p:spPr>
      </p:sp>
      <p:sp>
        <p:nvSpPr>
          <p:cNvPr id="12" name="Shape 10"/>
          <p:cNvSpPr/>
          <p:nvPr/>
        </p:nvSpPr>
        <p:spPr>
          <a:xfrm>
            <a:off x="457200" y="3191256"/>
            <a:ext cx="1783080" cy="438912"/>
          </a:xfrm>
          <a:prstGeom prst="roundRect">
            <a:avLst>
              <a:gd name="adj" fmla="val 16667"/>
            </a:avLst>
          </a:prstGeom>
          <a:solidFill>
            <a:srgbClr val="E3EFE8"/>
          </a:solidFill>
          <a:ln/>
        </p:spPr>
      </p:sp>
      <p:sp>
        <p:nvSpPr>
          <p:cNvPr id="13" name="Text 11"/>
          <p:cNvSpPr txBox="1"/>
          <p:nvPr/>
        </p:nvSpPr>
        <p:spPr>
          <a:xfrm>
            <a:off x="457200" y="3191256"/>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Business Permits</a:t>
            </a:r>
            <a:endParaRPr lang="en-US" sz="1200" dirty="0"/>
          </a:p>
        </p:txBody>
      </p:sp>
      <p:sp>
        <p:nvSpPr>
          <p:cNvPr id="14" name="Shape 12"/>
          <p:cNvSpPr/>
          <p:nvPr/>
        </p:nvSpPr>
        <p:spPr>
          <a:xfrm>
            <a:off x="2240280" y="3410712"/>
            <a:ext cx="320040" cy="0"/>
          </a:xfrm>
          <a:prstGeom prst="line">
            <a:avLst/>
          </a:prstGeom>
          <a:noFill/>
          <a:ln w="15875">
            <a:solidFill>
              <a:srgbClr val="8B948D"/>
            </a:solidFill>
            <a:prstDash val="solid"/>
          </a:ln>
        </p:spPr>
      </p:sp>
      <p:sp>
        <p:nvSpPr>
          <p:cNvPr id="15" name="Shape 13"/>
          <p:cNvSpPr/>
          <p:nvPr/>
        </p:nvSpPr>
        <p:spPr>
          <a:xfrm>
            <a:off x="457200" y="3813048"/>
            <a:ext cx="1783080" cy="438912"/>
          </a:xfrm>
          <a:prstGeom prst="roundRect">
            <a:avLst>
              <a:gd name="adj" fmla="val 16667"/>
            </a:avLst>
          </a:prstGeom>
          <a:solidFill>
            <a:srgbClr val="E3EFE8"/>
          </a:solidFill>
          <a:ln/>
        </p:spPr>
      </p:sp>
      <p:sp>
        <p:nvSpPr>
          <p:cNvPr id="16" name="Text 14"/>
          <p:cNvSpPr txBox="1"/>
          <p:nvPr/>
        </p:nvSpPr>
        <p:spPr>
          <a:xfrm>
            <a:off x="457200" y="3813048"/>
            <a:ext cx="1783080" cy="438912"/>
          </a:xfrm>
          <a:prstGeom prst="rect">
            <a:avLst/>
          </a:prstGeom>
          <a:noFill/>
          <a:ln/>
        </p:spPr>
        <p:txBody>
          <a:bodyPr wrap="square" lIns="0" tIns="0" rIns="0" bIns="0" rtlCol="0" anchor="ctr"/>
          <a:lstStyle/>
          <a:p>
            <a:pPr algn="ctr" indent="0" marL="0">
              <a:buNone/>
            </a:pPr>
            <a:r>
              <a:rPr lang="en-US" sz="1200" b="1" dirty="0">
                <a:solidFill>
                  <a:schemeClr val="tx2"/>
                </a:solidFill>
              </a:rPr>
              <a:t>Assessor's Office</a:t>
            </a:r>
            <a:endParaRPr lang="en-US" sz="1200" dirty="0"/>
          </a:p>
        </p:txBody>
      </p:sp>
      <p:sp>
        <p:nvSpPr>
          <p:cNvPr id="17" name="Shape 15"/>
          <p:cNvSpPr/>
          <p:nvPr/>
        </p:nvSpPr>
        <p:spPr>
          <a:xfrm>
            <a:off x="2240280" y="4032504"/>
            <a:ext cx="320040" cy="0"/>
          </a:xfrm>
          <a:prstGeom prst="line">
            <a:avLst/>
          </a:prstGeom>
          <a:noFill/>
          <a:ln w="15875">
            <a:solidFill>
              <a:srgbClr val="8B948D"/>
            </a:solidFill>
            <a:prstDash val="solid"/>
          </a:ln>
        </p:spPr>
      </p:sp>
      <p:sp>
        <p:nvSpPr>
          <p:cNvPr id="18" name="Shape 16"/>
          <p:cNvSpPr/>
          <p:nvPr/>
        </p:nvSpPr>
        <p:spPr>
          <a:xfrm>
            <a:off x="2560320" y="1325880"/>
            <a:ext cx="1554480" cy="2926080"/>
          </a:xfrm>
          <a:prstGeom prst="roundRect">
            <a:avLst>
              <a:gd name="adj" fmla="val 4706"/>
            </a:avLst>
          </a:prstGeom>
          <a:solidFill>
            <a:srgbClr val="0F6B4C"/>
          </a:solidFill>
          <a:ln/>
        </p:spPr>
      </p:sp>
      <p:sp>
        <p:nvSpPr>
          <p:cNvPr id="19" name="Text 17"/>
          <p:cNvSpPr txBox="1"/>
          <p:nvPr/>
        </p:nvSpPr>
        <p:spPr>
          <a:xfrm>
            <a:off x="2651760" y="1325880"/>
            <a:ext cx="1371600" cy="2926080"/>
          </a:xfrm>
          <a:prstGeom prst="rect">
            <a:avLst/>
          </a:prstGeom>
          <a:noFill/>
          <a:ln/>
        </p:spPr>
        <p:txBody>
          <a:bodyPr wrap="square" lIns="0" tIns="0" rIns="0" bIns="0" rtlCol="0" anchor="ctr"/>
          <a:lstStyle/>
          <a:p>
            <a:pPr algn="ctr" indent="0" marL="0">
              <a:buNone/>
            </a:pPr>
            <a:r>
              <a:rPr lang="en-US" sz="2000" b="1" dirty="0">
                <a:solidFill>
                  <a:schemeClr val="bg1"/>
                </a:solidFill>
              </a:rPr>
              <a:t>VUCRMS</a:t>
            </a:r>
            <a:endParaRPr lang="en-US" sz="2000" dirty="0"/>
          </a:p>
          <a:p>
            <a:pPr algn="ctr" indent="0" marL="0">
              <a:buNone/>
            </a:pPr>
            <a:r>
              <a:rPr lang="en-US" sz="1300" dirty="0">
                <a:solidFill>
                  <a:schemeClr val="bg1"/>
                </a:solidFill>
              </a:rPr>
              <a:t>one shared record system</a:t>
            </a:r>
            <a:endParaRPr lang="en-US" sz="2000" dirty="0"/>
          </a:p>
        </p:txBody>
      </p:sp>
      <p:sp>
        <p:nvSpPr>
          <p:cNvPr id="20" name="Shape 18"/>
          <p:cNvSpPr/>
          <p:nvPr/>
        </p:nvSpPr>
        <p:spPr>
          <a:xfrm>
            <a:off x="4572000" y="1371600"/>
            <a:ext cx="548640" cy="548640"/>
          </a:xfrm>
          <a:prstGeom prst="ellipse">
            <a:avLst/>
          </a:prstGeom>
          <a:solidFill>
            <a:srgbClr val="E3EFE8"/>
          </a:solidFill>
          <a:ln/>
        </p:spPr>
      </p:sp>
      <p:pic>
        <p:nvPicPr>
          <p:cNvPr id="21" name="Image 0" descr="preencoded.png">    </p:cNvPr>
          <p:cNvPicPr>
            <a:picLocks noChangeAspect="1"/>
          </p:cNvPicPr>
          <p:nvPr/>
        </p:nvPicPr>
        <p:blipFill>
          <a:blip r:embed="rId1"/>
          <a:stretch>
            <a:fillRect/>
          </a:stretch>
        </p:blipFill>
        <p:spPr>
          <a:xfrm>
            <a:off x="4709160" y="1508760"/>
            <a:ext cx="274320" cy="274320"/>
          </a:xfrm>
          <a:prstGeom prst="rect">
            <a:avLst/>
          </a:prstGeom>
        </p:spPr>
      </p:pic>
      <p:sp>
        <p:nvSpPr>
          <p:cNvPr id="22" name="Text 19"/>
          <p:cNvSpPr txBox="1"/>
          <p:nvPr/>
        </p:nvSpPr>
        <p:spPr>
          <a:xfrm>
            <a:off x="5303520" y="1353312"/>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A secured space for each office</a:t>
            </a:r>
            <a:endParaRPr lang="en-US" sz="1500" dirty="0"/>
          </a:p>
        </p:txBody>
      </p:sp>
      <p:sp>
        <p:nvSpPr>
          <p:cNvPr id="23" name="Text 20"/>
          <p:cNvSpPr txBox="1"/>
          <p:nvPr/>
        </p:nvSpPr>
        <p:spPr>
          <a:xfrm>
            <a:off x="5303520" y="1645920"/>
            <a:ext cx="3383280" cy="548640"/>
          </a:xfrm>
          <a:prstGeom prst="rect">
            <a:avLst/>
          </a:prstGeom>
          <a:noFill/>
          <a:ln/>
        </p:spPr>
        <p:txBody>
          <a:bodyPr wrap="square" lIns="0" tIns="0" rIns="0" bIns="0" rtlCol="0" anchor="t"/>
          <a:lstStyle/>
          <a:p>
            <a:pPr indent="0" marL="0">
              <a:buNone/>
            </a:pPr>
            <a:r>
              <a:rPr lang="en-US" sz="1200" dirty="0">
                <a:solidFill>
                  <a:schemeClr val="accent3"/>
                </a:solidFill>
              </a:rPr>
              <a:t>Each office defines its own record types and sees only its own data.</a:t>
            </a:r>
            <a:endParaRPr lang="en-US" sz="1200" dirty="0"/>
          </a:p>
        </p:txBody>
      </p:sp>
      <p:sp>
        <p:nvSpPr>
          <p:cNvPr id="24" name="Shape 21"/>
          <p:cNvSpPr/>
          <p:nvPr/>
        </p:nvSpPr>
        <p:spPr>
          <a:xfrm>
            <a:off x="4572000" y="2395728"/>
            <a:ext cx="548640" cy="548640"/>
          </a:xfrm>
          <a:prstGeom prst="ellipse">
            <a:avLst/>
          </a:prstGeom>
          <a:solidFill>
            <a:srgbClr val="E3EFE8"/>
          </a:solidFill>
          <a:ln/>
        </p:spPr>
      </p:sp>
      <p:pic>
        <p:nvPicPr>
          <p:cNvPr id="25" name="Image 1" descr="preencoded.png">    </p:cNvPr>
          <p:cNvPicPr>
            <a:picLocks noChangeAspect="1"/>
          </p:cNvPicPr>
          <p:nvPr/>
        </p:nvPicPr>
        <p:blipFill>
          <a:blip r:embed="rId2"/>
          <a:stretch>
            <a:fillRect/>
          </a:stretch>
        </p:blipFill>
        <p:spPr>
          <a:xfrm>
            <a:off x="4709160" y="2532888"/>
            <a:ext cx="274320" cy="274320"/>
          </a:xfrm>
          <a:prstGeom prst="rect">
            <a:avLst/>
          </a:prstGeom>
        </p:spPr>
      </p:pic>
      <p:sp>
        <p:nvSpPr>
          <p:cNvPr id="26" name="Text 22"/>
          <p:cNvSpPr txBox="1"/>
          <p:nvPr/>
        </p:nvSpPr>
        <p:spPr>
          <a:xfrm>
            <a:off x="5303520" y="2377440"/>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One person, one record</a:t>
            </a:r>
            <a:endParaRPr lang="en-US" sz="1500" dirty="0"/>
          </a:p>
        </p:txBody>
      </p:sp>
      <p:sp>
        <p:nvSpPr>
          <p:cNvPr id="27" name="Text 23"/>
          <p:cNvSpPr txBox="1"/>
          <p:nvPr/>
        </p:nvSpPr>
        <p:spPr>
          <a:xfrm>
            <a:off x="5303520" y="2670048"/>
            <a:ext cx="3383280" cy="548640"/>
          </a:xfrm>
          <a:prstGeom prst="rect">
            <a:avLst/>
          </a:prstGeom>
          <a:noFill/>
          <a:ln/>
        </p:spPr>
        <p:txBody>
          <a:bodyPr wrap="square" lIns="0" tIns="0" rIns="0" bIns="0" rtlCol="0" anchor="t"/>
          <a:lstStyle/>
          <a:p>
            <a:pPr indent="0" marL="0">
              <a:buNone/>
            </a:pPr>
            <a:r>
              <a:rPr lang="en-US" sz="1200" dirty="0">
                <a:solidFill>
                  <a:schemeClr val="accent3"/>
                </a:solidFill>
              </a:rPr>
              <a:t>The system recognizes a returning resident and sends possible duplicates to staff for review before saving.</a:t>
            </a:r>
            <a:endParaRPr lang="en-US" sz="1200" dirty="0"/>
          </a:p>
        </p:txBody>
      </p:sp>
      <p:sp>
        <p:nvSpPr>
          <p:cNvPr id="28" name="Shape 24"/>
          <p:cNvSpPr/>
          <p:nvPr/>
        </p:nvSpPr>
        <p:spPr>
          <a:xfrm>
            <a:off x="4572000" y="3419856"/>
            <a:ext cx="548640" cy="548640"/>
          </a:xfrm>
          <a:prstGeom prst="ellipse">
            <a:avLst/>
          </a:prstGeom>
          <a:solidFill>
            <a:srgbClr val="E3EFE8"/>
          </a:solidFill>
          <a:ln/>
        </p:spPr>
      </p:sp>
      <p:pic>
        <p:nvPicPr>
          <p:cNvPr id="29" name="Image 2" descr="preencoded.png">    </p:cNvPr>
          <p:cNvPicPr>
            <a:picLocks noChangeAspect="1"/>
          </p:cNvPicPr>
          <p:nvPr/>
        </p:nvPicPr>
        <p:blipFill>
          <a:blip r:embed="rId3"/>
          <a:stretch>
            <a:fillRect/>
          </a:stretch>
        </p:blipFill>
        <p:spPr>
          <a:xfrm>
            <a:off x="4709160" y="3557016"/>
            <a:ext cx="274320" cy="274320"/>
          </a:xfrm>
          <a:prstGeom prst="rect">
            <a:avLst/>
          </a:prstGeom>
        </p:spPr>
      </p:pic>
      <p:sp>
        <p:nvSpPr>
          <p:cNvPr id="30" name="Text 25"/>
          <p:cNvSpPr txBox="1"/>
          <p:nvPr/>
        </p:nvSpPr>
        <p:spPr>
          <a:xfrm>
            <a:off x="5303520" y="3401568"/>
            <a:ext cx="3383280" cy="292608"/>
          </a:xfrm>
          <a:prstGeom prst="rect">
            <a:avLst/>
          </a:prstGeom>
          <a:noFill/>
          <a:ln/>
        </p:spPr>
        <p:txBody>
          <a:bodyPr wrap="square" lIns="0" tIns="0" rIns="0" bIns="0" rtlCol="0" anchor="ctr"/>
          <a:lstStyle/>
          <a:p>
            <a:pPr indent="0" marL="0">
              <a:buNone/>
            </a:pPr>
            <a:r>
              <a:rPr lang="en-US" sz="1500" b="1" dirty="0">
                <a:solidFill>
                  <a:schemeClr val="tx1"/>
                </a:solidFill>
              </a:rPr>
              <a:t>Households, not just individuals</a:t>
            </a:r>
            <a:endParaRPr lang="en-US" sz="1500" dirty="0"/>
          </a:p>
        </p:txBody>
      </p:sp>
      <p:sp>
        <p:nvSpPr>
          <p:cNvPr id="31" name="Text 26"/>
          <p:cNvSpPr txBox="1"/>
          <p:nvPr/>
        </p:nvSpPr>
        <p:spPr>
          <a:xfrm>
            <a:off x="5303520" y="3694176"/>
            <a:ext cx="3383280" cy="548640"/>
          </a:xfrm>
          <a:prstGeom prst="rect">
            <a:avLst/>
          </a:prstGeom>
          <a:noFill/>
          <a:ln/>
        </p:spPr>
        <p:txBody>
          <a:bodyPr wrap="square" lIns="0" tIns="0" rIns="0" bIns="0" rtlCol="0" anchor="t"/>
          <a:lstStyle/>
          <a:p>
            <a:pPr indent="0" marL="0">
              <a:buNone/>
            </a:pPr>
            <a:r>
              <a:rPr lang="en-US" sz="1200" dirty="0">
                <a:solidFill>
                  <a:schemeClr val="accent3"/>
                </a:solidFill>
              </a:rPr>
              <a:t>Family links support programs such as those under the Solo Parent Welfare Act.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Highlight: charts from any office's records</a:t>
            </a:r>
            <a:endParaRPr lang="en-US" sz="3000" dirty="0"/>
          </a:p>
        </p:txBody>
      </p:sp>
      <p:sp>
        <p:nvSpPr>
          <p:cNvPr id="3" name="Shape 1"/>
          <p:cNvSpPr/>
          <p:nvPr/>
        </p:nvSpPr>
        <p:spPr>
          <a:xfrm>
            <a:off x="457200" y="1234440"/>
            <a:ext cx="1828800" cy="1600200"/>
          </a:xfrm>
          <a:prstGeom prst="roundRect">
            <a:avLst>
              <a:gd name="adj" fmla="val 4571"/>
            </a:avLst>
          </a:prstGeom>
          <a:solidFill>
            <a:srgbClr val="F1F5F2"/>
          </a:solidFill>
          <a:ln/>
        </p:spPr>
      </p:sp>
      <p:sp>
        <p:nvSpPr>
          <p:cNvPr id="4" name="Shape 2"/>
          <p:cNvSpPr/>
          <p:nvPr/>
        </p:nvSpPr>
        <p:spPr>
          <a:xfrm>
            <a:off x="640080" y="1417320"/>
            <a:ext cx="457200" cy="457200"/>
          </a:xfrm>
          <a:prstGeom prst="ellipse">
            <a:avLst/>
          </a:prstGeom>
          <a:solidFill>
            <a:srgbClr val="0F6B4C"/>
          </a:solidFill>
          <a:ln/>
        </p:spPr>
      </p:sp>
      <p:pic>
        <p:nvPicPr>
          <p:cNvPr id="5" name="Image 0" descr="preencoded.png">    </p:cNvPr>
          <p:cNvPicPr>
            <a:picLocks noChangeAspect="1"/>
          </p:cNvPicPr>
          <p:nvPr/>
        </p:nvPicPr>
        <p:blipFill>
          <a:blip r:embed="rId1"/>
          <a:stretch>
            <a:fillRect/>
          </a:stretch>
        </p:blipFill>
        <p:spPr>
          <a:xfrm>
            <a:off x="754380" y="1531620"/>
            <a:ext cx="228600" cy="228600"/>
          </a:xfrm>
          <a:prstGeom prst="rect">
            <a:avLst/>
          </a:prstGeom>
        </p:spPr>
      </p:pic>
      <p:sp>
        <p:nvSpPr>
          <p:cNvPr id="6" name="Text 3"/>
          <p:cNvSpPr txBox="1"/>
          <p:nvPr/>
        </p:nvSpPr>
        <p:spPr>
          <a:xfrm>
            <a:off x="640080"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Pick the data</a:t>
            </a:r>
            <a:endParaRPr lang="en-US" sz="1350" dirty="0"/>
          </a:p>
        </p:txBody>
      </p:sp>
      <p:sp>
        <p:nvSpPr>
          <p:cNvPr id="7" name="Text 4"/>
          <p:cNvSpPr txBox="1"/>
          <p:nvPr/>
        </p:nvSpPr>
        <p:spPr>
          <a:xfrm>
            <a:off x="640080"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Records from any office in the system</a:t>
            </a:r>
            <a:endParaRPr lang="en-US" sz="1150" dirty="0"/>
          </a:p>
        </p:txBody>
      </p:sp>
      <p:sp>
        <p:nvSpPr>
          <p:cNvPr id="8" name="Text 5"/>
          <p:cNvSpPr txBox="1"/>
          <p:nvPr/>
        </p:nvSpPr>
        <p:spPr>
          <a:xfrm>
            <a:off x="2286000"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9" name="Shape 6"/>
          <p:cNvSpPr/>
          <p:nvPr/>
        </p:nvSpPr>
        <p:spPr>
          <a:xfrm>
            <a:off x="2587752" y="1234440"/>
            <a:ext cx="1828800" cy="1600200"/>
          </a:xfrm>
          <a:prstGeom prst="roundRect">
            <a:avLst>
              <a:gd name="adj" fmla="val 4571"/>
            </a:avLst>
          </a:prstGeom>
          <a:solidFill>
            <a:srgbClr val="F1F5F2"/>
          </a:solidFill>
          <a:ln/>
        </p:spPr>
      </p:sp>
      <p:sp>
        <p:nvSpPr>
          <p:cNvPr id="10" name="Shape 7"/>
          <p:cNvSpPr/>
          <p:nvPr/>
        </p:nvSpPr>
        <p:spPr>
          <a:xfrm>
            <a:off x="2770632" y="1417320"/>
            <a:ext cx="457200" cy="457200"/>
          </a:xfrm>
          <a:prstGeom prst="ellipse">
            <a:avLst/>
          </a:prstGeom>
          <a:solidFill>
            <a:srgbClr val="0F6B4C"/>
          </a:solidFill>
          <a:ln/>
        </p:spPr>
      </p:sp>
      <p:pic>
        <p:nvPicPr>
          <p:cNvPr id="11" name="Image 1" descr="preencoded.png">    </p:cNvPr>
          <p:cNvPicPr>
            <a:picLocks noChangeAspect="1"/>
          </p:cNvPicPr>
          <p:nvPr/>
        </p:nvPicPr>
        <p:blipFill>
          <a:blip r:embed="rId2"/>
          <a:stretch>
            <a:fillRect/>
          </a:stretch>
        </p:blipFill>
        <p:spPr>
          <a:xfrm>
            <a:off x="2884932" y="1531620"/>
            <a:ext cx="228600" cy="228600"/>
          </a:xfrm>
          <a:prstGeom prst="rect">
            <a:avLst/>
          </a:prstGeom>
        </p:spPr>
      </p:pic>
      <p:sp>
        <p:nvSpPr>
          <p:cNvPr id="12" name="Text 8"/>
          <p:cNvSpPr txBox="1"/>
          <p:nvPr/>
        </p:nvSpPr>
        <p:spPr>
          <a:xfrm>
            <a:off x="2770632"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What to count</a:t>
            </a:r>
            <a:endParaRPr lang="en-US" sz="1350" dirty="0"/>
          </a:p>
        </p:txBody>
      </p:sp>
      <p:sp>
        <p:nvSpPr>
          <p:cNvPr id="13" name="Text 9"/>
          <p:cNvSpPr txBox="1"/>
          <p:nvPr/>
        </p:nvSpPr>
        <p:spPr>
          <a:xfrm>
            <a:off x="2770632"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Records, people, or the total of a number field</a:t>
            </a:r>
            <a:endParaRPr lang="en-US" sz="1150" dirty="0"/>
          </a:p>
        </p:txBody>
      </p:sp>
      <p:sp>
        <p:nvSpPr>
          <p:cNvPr id="14" name="Text 10"/>
          <p:cNvSpPr txBox="1"/>
          <p:nvPr/>
        </p:nvSpPr>
        <p:spPr>
          <a:xfrm>
            <a:off x="4416552"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5" name="Shape 11"/>
          <p:cNvSpPr/>
          <p:nvPr/>
        </p:nvSpPr>
        <p:spPr>
          <a:xfrm>
            <a:off x="4718304" y="1234440"/>
            <a:ext cx="1828800" cy="1600200"/>
          </a:xfrm>
          <a:prstGeom prst="roundRect">
            <a:avLst>
              <a:gd name="adj" fmla="val 4571"/>
            </a:avLst>
          </a:prstGeom>
          <a:solidFill>
            <a:srgbClr val="F1F5F2"/>
          </a:solidFill>
          <a:ln/>
        </p:spPr>
      </p:sp>
      <p:sp>
        <p:nvSpPr>
          <p:cNvPr id="16" name="Shape 12"/>
          <p:cNvSpPr/>
          <p:nvPr/>
        </p:nvSpPr>
        <p:spPr>
          <a:xfrm>
            <a:off x="4901184" y="1417320"/>
            <a:ext cx="457200" cy="457200"/>
          </a:xfrm>
          <a:prstGeom prst="ellipse">
            <a:avLst/>
          </a:prstGeom>
          <a:solidFill>
            <a:srgbClr val="0F6B4C"/>
          </a:solidFill>
          <a:ln/>
        </p:spPr>
      </p:sp>
      <p:pic>
        <p:nvPicPr>
          <p:cNvPr id="17" name="Image 2" descr="preencoded.png">    </p:cNvPr>
          <p:cNvPicPr>
            <a:picLocks noChangeAspect="1"/>
          </p:cNvPicPr>
          <p:nvPr/>
        </p:nvPicPr>
        <p:blipFill>
          <a:blip r:embed="rId3"/>
          <a:stretch>
            <a:fillRect/>
          </a:stretch>
        </p:blipFill>
        <p:spPr>
          <a:xfrm>
            <a:off x="5015484" y="1531620"/>
            <a:ext cx="228600" cy="228600"/>
          </a:xfrm>
          <a:prstGeom prst="rect">
            <a:avLst/>
          </a:prstGeom>
        </p:spPr>
      </p:pic>
      <p:sp>
        <p:nvSpPr>
          <p:cNvPr id="18" name="Text 13"/>
          <p:cNvSpPr txBox="1"/>
          <p:nvPr/>
        </p:nvSpPr>
        <p:spPr>
          <a:xfrm>
            <a:off x="4901184"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Group it</a:t>
            </a:r>
            <a:endParaRPr lang="en-US" sz="1350" dirty="0"/>
          </a:p>
        </p:txBody>
      </p:sp>
      <p:sp>
        <p:nvSpPr>
          <p:cNvPr id="19" name="Text 14"/>
          <p:cNvSpPr txBox="1"/>
          <p:nvPr/>
        </p:nvSpPr>
        <p:spPr>
          <a:xfrm>
            <a:off x="4901184"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By barangay, month, age group or any field the office keeps</a:t>
            </a:r>
            <a:endParaRPr lang="en-US" sz="1150" dirty="0"/>
          </a:p>
        </p:txBody>
      </p:sp>
      <p:sp>
        <p:nvSpPr>
          <p:cNvPr id="20" name="Text 15"/>
          <p:cNvSpPr txBox="1"/>
          <p:nvPr/>
        </p:nvSpPr>
        <p:spPr>
          <a:xfrm>
            <a:off x="6547104" y="1783080"/>
            <a:ext cx="301752"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1" name="Shape 16"/>
          <p:cNvSpPr/>
          <p:nvPr/>
        </p:nvSpPr>
        <p:spPr>
          <a:xfrm>
            <a:off x="6848856" y="1234440"/>
            <a:ext cx="1828800" cy="1600200"/>
          </a:xfrm>
          <a:prstGeom prst="roundRect">
            <a:avLst>
              <a:gd name="adj" fmla="val 4571"/>
            </a:avLst>
          </a:prstGeom>
          <a:solidFill>
            <a:srgbClr val="F1F5F2"/>
          </a:solidFill>
          <a:ln/>
        </p:spPr>
      </p:sp>
      <p:sp>
        <p:nvSpPr>
          <p:cNvPr id="22" name="Shape 17"/>
          <p:cNvSpPr/>
          <p:nvPr/>
        </p:nvSpPr>
        <p:spPr>
          <a:xfrm>
            <a:off x="7031736" y="1417320"/>
            <a:ext cx="457200" cy="457200"/>
          </a:xfrm>
          <a:prstGeom prst="ellipse">
            <a:avLst/>
          </a:prstGeom>
          <a:solidFill>
            <a:srgbClr val="0F6B4C"/>
          </a:solidFill>
          <a:ln/>
        </p:spPr>
      </p:sp>
      <p:pic>
        <p:nvPicPr>
          <p:cNvPr id="23" name="Image 3" descr="preencoded.png">    </p:cNvPr>
          <p:cNvPicPr>
            <a:picLocks noChangeAspect="1"/>
          </p:cNvPicPr>
          <p:nvPr/>
        </p:nvPicPr>
        <p:blipFill>
          <a:blip r:embed="rId4"/>
          <a:stretch>
            <a:fillRect/>
          </a:stretch>
        </p:blipFill>
        <p:spPr>
          <a:xfrm>
            <a:off x="7146036" y="1531620"/>
            <a:ext cx="228600" cy="228600"/>
          </a:xfrm>
          <a:prstGeom prst="rect">
            <a:avLst/>
          </a:prstGeom>
        </p:spPr>
      </p:pic>
      <p:sp>
        <p:nvSpPr>
          <p:cNvPr id="24" name="Text 18"/>
          <p:cNvSpPr txBox="1"/>
          <p:nvPr/>
        </p:nvSpPr>
        <p:spPr>
          <a:xfrm>
            <a:off x="7031736" y="1965960"/>
            <a:ext cx="1463040" cy="274320"/>
          </a:xfrm>
          <a:prstGeom prst="rect">
            <a:avLst/>
          </a:prstGeom>
          <a:noFill/>
          <a:ln/>
        </p:spPr>
        <p:txBody>
          <a:bodyPr wrap="square" lIns="0" tIns="0" rIns="0" bIns="0" rtlCol="0" anchor="ctr"/>
          <a:lstStyle/>
          <a:p>
            <a:pPr indent="0" marL="0">
              <a:buNone/>
            </a:pPr>
            <a:r>
              <a:rPr lang="en-US" sz="1350" b="1" dirty="0">
                <a:solidFill>
                  <a:schemeClr val="tx1"/>
                </a:solidFill>
              </a:rPr>
              <a:t>Show it</a:t>
            </a:r>
            <a:endParaRPr lang="en-US" sz="1350" dirty="0"/>
          </a:p>
        </p:txBody>
      </p:sp>
      <p:sp>
        <p:nvSpPr>
          <p:cNvPr id="25" name="Text 19"/>
          <p:cNvSpPr txBox="1"/>
          <p:nvPr/>
        </p:nvSpPr>
        <p:spPr>
          <a:xfrm>
            <a:off x="7031736" y="2240280"/>
            <a:ext cx="1463040" cy="548640"/>
          </a:xfrm>
          <a:prstGeom prst="rect">
            <a:avLst/>
          </a:prstGeom>
          <a:noFill/>
          <a:ln/>
        </p:spPr>
        <p:txBody>
          <a:bodyPr wrap="square" lIns="0" tIns="0" rIns="0" bIns="0" rtlCol="0" anchor="t"/>
          <a:lstStyle/>
          <a:p>
            <a:pPr indent="0" marL="0">
              <a:buNone/>
            </a:pPr>
            <a:r>
              <a:rPr lang="en-US" sz="1150" dirty="0">
                <a:solidFill>
                  <a:schemeClr val="accent3"/>
                </a:solidFill>
              </a:rPr>
              <a:t>Bar, line or donut chart, or one big number</a:t>
            </a:r>
            <a:endParaRPr lang="en-US" sz="1150" dirty="0"/>
          </a:p>
        </p:txBody>
      </p:sp>
      <p:sp>
        <p:nvSpPr>
          <p:cNvPr id="26" name="Text 20"/>
          <p:cNvSpPr txBox="1"/>
          <p:nvPr/>
        </p:nvSpPr>
        <p:spPr>
          <a:xfrm>
            <a:off x="457200" y="3108960"/>
            <a:ext cx="8229600" cy="320040"/>
          </a:xfrm>
          <a:prstGeom prst="rect">
            <a:avLst/>
          </a:prstGeom>
          <a:noFill/>
          <a:ln/>
        </p:spPr>
        <p:txBody>
          <a:bodyPr wrap="square" lIns="0" tIns="0" rIns="0" bIns="0" rtlCol="0" anchor="ctr"/>
          <a:lstStyle/>
          <a:p>
            <a:pPr indent="0" marL="0">
              <a:buNone/>
            </a:pPr>
            <a:r>
              <a:rPr lang="en-US" sz="1400" b="1" dirty="0">
                <a:solidFill>
                  <a:schemeClr val="accent2"/>
                </a:solidFill>
              </a:rPr>
              <a:t>Beyond residents: charts the system already shows</a:t>
            </a:r>
            <a:endParaRPr lang="en-US" sz="1400" dirty="0"/>
          </a:p>
        </p:txBody>
      </p:sp>
      <p:sp>
        <p:nvSpPr>
          <p:cNvPr id="27" name="Shape 21"/>
          <p:cNvSpPr/>
          <p:nvPr/>
        </p:nvSpPr>
        <p:spPr>
          <a:xfrm>
            <a:off x="457200" y="3520440"/>
            <a:ext cx="1828800" cy="777240"/>
          </a:xfrm>
          <a:prstGeom prst="roundRect">
            <a:avLst>
              <a:gd name="adj" fmla="val 9412"/>
            </a:avLst>
          </a:prstGeom>
          <a:solidFill>
            <a:srgbClr val="F7E9E4"/>
          </a:solidFill>
          <a:ln/>
        </p:spPr>
      </p:sp>
      <p:sp>
        <p:nvSpPr>
          <p:cNvPr id="28" name="Text 22"/>
          <p:cNvSpPr txBox="1"/>
          <p:nvPr/>
        </p:nvSpPr>
        <p:spPr>
          <a:xfrm>
            <a:off x="594360"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Businesses by barangay</a:t>
            </a:r>
            <a:endParaRPr lang="en-US" sz="1300" dirty="0"/>
          </a:p>
        </p:txBody>
      </p:sp>
      <p:sp>
        <p:nvSpPr>
          <p:cNvPr id="29" name="Shape 23"/>
          <p:cNvSpPr/>
          <p:nvPr/>
        </p:nvSpPr>
        <p:spPr>
          <a:xfrm>
            <a:off x="2587752" y="3520440"/>
            <a:ext cx="1828800" cy="777240"/>
          </a:xfrm>
          <a:prstGeom prst="roundRect">
            <a:avLst>
              <a:gd name="adj" fmla="val 9412"/>
            </a:avLst>
          </a:prstGeom>
          <a:solidFill>
            <a:srgbClr val="F7E9E4"/>
          </a:solidFill>
          <a:ln/>
        </p:spPr>
      </p:sp>
      <p:sp>
        <p:nvSpPr>
          <p:cNvPr id="30" name="Text 24"/>
          <p:cNvSpPr txBox="1"/>
          <p:nvPr/>
        </p:nvSpPr>
        <p:spPr>
          <a:xfrm>
            <a:off x="2724912"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Building permits by use</a:t>
            </a:r>
            <a:endParaRPr lang="en-US" sz="1300" dirty="0"/>
          </a:p>
        </p:txBody>
      </p:sp>
      <p:sp>
        <p:nvSpPr>
          <p:cNvPr id="31" name="Shape 25"/>
          <p:cNvSpPr/>
          <p:nvPr/>
        </p:nvSpPr>
        <p:spPr>
          <a:xfrm>
            <a:off x="4718304" y="3520440"/>
            <a:ext cx="1828800" cy="777240"/>
          </a:xfrm>
          <a:prstGeom prst="roundRect">
            <a:avLst>
              <a:gd name="adj" fmla="val 9412"/>
            </a:avLst>
          </a:prstGeom>
          <a:solidFill>
            <a:srgbClr val="F7E9E4"/>
          </a:solidFill>
          <a:ln/>
        </p:spPr>
      </p:sp>
      <p:sp>
        <p:nvSpPr>
          <p:cNvPr id="32" name="Text 26"/>
          <p:cNvSpPr txBox="1"/>
          <p:nvPr/>
        </p:nvSpPr>
        <p:spPr>
          <a:xfrm>
            <a:off x="4855464"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Zoning clearances by decision</a:t>
            </a:r>
            <a:endParaRPr lang="en-US" sz="1300" dirty="0"/>
          </a:p>
        </p:txBody>
      </p:sp>
      <p:sp>
        <p:nvSpPr>
          <p:cNvPr id="33" name="Shape 27"/>
          <p:cNvSpPr/>
          <p:nvPr/>
        </p:nvSpPr>
        <p:spPr>
          <a:xfrm>
            <a:off x="6848856" y="3520440"/>
            <a:ext cx="1828800" cy="777240"/>
          </a:xfrm>
          <a:prstGeom prst="roundRect">
            <a:avLst>
              <a:gd name="adj" fmla="val 9412"/>
            </a:avLst>
          </a:prstGeom>
          <a:solidFill>
            <a:srgbClr val="F7E9E4"/>
          </a:solidFill>
          <a:ln/>
        </p:spPr>
      </p:sp>
      <p:sp>
        <p:nvSpPr>
          <p:cNvPr id="34" name="Text 28"/>
          <p:cNvSpPr txBox="1"/>
          <p:nvPr/>
        </p:nvSpPr>
        <p:spPr>
          <a:xfrm>
            <a:off x="6986016" y="3520440"/>
            <a:ext cx="1554480" cy="777240"/>
          </a:xfrm>
          <a:prstGeom prst="rect">
            <a:avLst/>
          </a:prstGeom>
          <a:noFill/>
          <a:ln/>
        </p:spPr>
        <p:txBody>
          <a:bodyPr wrap="square" lIns="0" tIns="0" rIns="0" bIns="0" rtlCol="0" anchor="ctr"/>
          <a:lstStyle/>
          <a:p>
            <a:pPr indent="0" marL="0">
              <a:buNone/>
            </a:pPr>
            <a:r>
              <a:rPr lang="en-US" sz="1300" b="1" dirty="0">
                <a:solidFill>
                  <a:schemeClr val="tx1"/>
                </a:solidFill>
              </a:rPr>
              <a:t>Businesses with lapsed permits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Highlight: program gaps show who is missed</a:t>
            </a:r>
            <a:endParaRPr lang="en-US" sz="3000" dirty="0"/>
          </a:p>
        </p:txBody>
      </p:sp>
      <p:sp>
        <p:nvSpPr>
          <p:cNvPr id="3" name="Shape 1"/>
          <p:cNvSpPr/>
          <p:nvPr/>
        </p:nvSpPr>
        <p:spPr>
          <a:xfrm>
            <a:off x="457200" y="1234440"/>
            <a:ext cx="4846320" cy="1508760"/>
          </a:xfrm>
          <a:prstGeom prst="roundRect">
            <a:avLst>
              <a:gd name="adj" fmla="val 4848"/>
            </a:avLst>
          </a:prstGeom>
          <a:solidFill>
            <a:srgbClr val="F1F5F2"/>
          </a:solidFill>
          <a:ln/>
        </p:spPr>
        <p:txBody>
          <a:bodyPr/>
          <a:p/>
        </p:txBody>
      </p:sp>
      <p:sp>
        <p:nvSpPr>
          <p:cNvPr id="4" name="Shape 2"/>
          <p:cNvSpPr/>
          <p:nvPr/>
        </p:nvSpPr>
        <p:spPr>
          <a:xfrm>
            <a:off x="685800" y="1463040"/>
            <a:ext cx="594360" cy="594360"/>
          </a:xfrm>
          <a:prstGeom prst="ellipse">
            <a:avLst/>
          </a:prstGeom>
          <a:solidFill>
            <a:srgbClr val="E3EFE8"/>
          </a:solidFill>
          <a:ln/>
        </p:spPr>
        <p:txBody>
          <a:bodyPr/>
          <a:p/>
        </p:txBody>
      </p:sp>
      <p:pic>
        <p:nvPicPr>
          <p:cNvPr id="5" name="Image 0" descr="preencoded.png">    </p:cNvPr>
          <p:cNvPicPr>
            <a:picLocks noChangeAspect="1"/>
          </p:cNvPicPr>
          <p:nvPr/>
        </p:nvPicPr>
        <p:blipFill>
          <a:blip r:embed="rId1"/>
          <a:stretch>
            <a:fillRect/>
          </a:stretch>
        </p:blipFill>
        <p:spPr>
          <a:xfrm>
            <a:off x="834390" y="1611630"/>
            <a:ext cx="297180" cy="297180"/>
          </a:xfrm>
          <a:prstGeom prst="rect">
            <a:avLst/>
          </a:prstGeom>
        </p:spPr>
      </p:pic>
      <p:sp>
        <p:nvSpPr>
          <p:cNvPr id="6" name="Text 3"/>
          <p:cNvSpPr txBox="1"/>
          <p:nvPr/>
        </p:nvSpPr>
        <p:spPr>
          <a:xfrm>
            <a:off x="1463040" y="1417320"/>
            <a:ext cx="3611880" cy="320040"/>
          </a:xfrm>
          <a:prstGeom prst="rect">
            <a:avLst/>
          </a:prstGeom>
          <a:noFill/>
          <a:ln/>
        </p:spPr>
        <p:txBody>
          <a:bodyPr wrap="square" lIns="0" tIns="0" rIns="0" bIns="0" rtlCol="0" anchor="ctr"/>
          <a:lstStyle/>
          <a:p>
            <a:pPr indent="0" marL="0">
              <a:buNone/>
            </a:pPr>
            <a:r>
              <a:rPr lang="en-US" sz="1600" b="1" dirty="0">
                <a:solidFill>
                  <a:schemeClr val="tx1"/>
                </a:solidFill>
              </a:rPr>
              <a:t>Not yet served</a:t>
            </a:r>
            <a:endParaRPr lang="en-US" sz="1600" dirty="0"/>
          </a:p>
        </p:txBody>
      </p:sp>
      <p:sp>
        <p:nvSpPr>
          <p:cNvPr id="7" name="Text 4"/>
          <p:cNvSpPr txBox="1"/>
          <p:nvPr/>
        </p:nvSpPr>
        <p:spPr>
          <a:xfrm>
            <a:off x="1463040" y="1764792"/>
            <a:ext cx="3611880" cy="411480"/>
          </a:xfrm>
          <a:prstGeom prst="rect">
            <a:avLst/>
          </a:prstGeom>
          <a:noFill/>
          <a:ln/>
        </p:spPr>
        <p:txBody>
          <a:bodyPr wrap="square" lIns="0" tIns="0" rIns="0" bIns="0" rtlCol="0" anchor="t"/>
          <a:lstStyle/>
          <a:p>
            <a:pPr indent="0" marL="0">
              <a:buNone/>
            </a:pPr>
            <a:r>
              <a:rPr lang="en-US" sz="1250" dirty="0">
                <a:solidFill>
                  <a:schemeClr val="tx1"/>
                </a:solidFill>
              </a:rPr>
              <a:t>People who meet a program's conditions but are not in it yet.</a:t>
            </a:r>
            <a:endParaRPr lang="en-US" sz="1250" dirty="0"/>
          </a:p>
        </p:txBody>
      </p:sp>
      <p:sp>
        <p:nvSpPr>
          <p:cNvPr id="8" name="Text 5"/>
          <p:cNvSpPr txBox="1"/>
          <p:nvPr/>
        </p:nvSpPr>
        <p:spPr>
          <a:xfrm>
            <a:off x="1463040" y="2194560"/>
            <a:ext cx="3611880" cy="457200"/>
          </a:xfrm>
          <a:prstGeom prst="rect">
            <a:avLst/>
          </a:prstGeom>
          <a:noFill/>
          <a:ln/>
        </p:spPr>
        <p:txBody>
          <a:bodyPr wrap="square" lIns="0" tIns="0" rIns="0" bIns="0" rtlCol="0" anchor="t"/>
          <a:lstStyle/>
          <a:p>
            <a:pPr indent="0" marL="0">
              <a:buNone/>
            </a:pPr>
            <a:r>
              <a:rPr lang="en-US" sz="1200" i="1" dirty="0">
                <a:solidFill>
                  <a:schemeClr val="accent3"/>
                </a:solidFill>
              </a:rPr>
              <a:t>Example: residents aged 60 or older who are not in the senior citizen program.</a:t>
            </a:r>
            <a:endParaRPr lang="en-US" sz="1200" dirty="0"/>
          </a:p>
        </p:txBody>
      </p:sp>
      <p:sp>
        <p:nvSpPr>
          <p:cNvPr id="9" name="Shape 6"/>
          <p:cNvSpPr/>
          <p:nvPr/>
        </p:nvSpPr>
        <p:spPr>
          <a:xfrm>
            <a:off x="457200" y="2926080"/>
            <a:ext cx="4846320" cy="1508760"/>
          </a:xfrm>
          <a:prstGeom prst="roundRect">
            <a:avLst>
              <a:gd name="adj" fmla="val 4848"/>
            </a:avLst>
          </a:prstGeom>
          <a:solidFill>
            <a:srgbClr val="F1F5F2"/>
          </a:solidFill>
          <a:ln/>
        </p:spPr>
        <p:txBody>
          <a:bodyPr/>
          <a:p/>
        </p:txBody>
      </p:sp>
      <p:sp>
        <p:nvSpPr>
          <p:cNvPr id="10" name="Shape 7"/>
          <p:cNvSpPr/>
          <p:nvPr/>
        </p:nvSpPr>
        <p:spPr>
          <a:xfrm>
            <a:off x="685800" y="3154680"/>
            <a:ext cx="594360" cy="594360"/>
          </a:xfrm>
          <a:prstGeom prst="ellipse">
            <a:avLst/>
          </a:prstGeom>
          <a:solidFill>
            <a:srgbClr val="F7E9E4"/>
          </a:solidFill>
          <a:ln/>
        </p:spPr>
        <p:txBody>
          <a:bodyPr/>
          <a:p/>
        </p:txBody>
      </p:sp>
      <p:pic>
        <p:nvPicPr>
          <p:cNvPr id="11" name="Image 1" descr="preencoded.png">    </p:cNvPr>
          <p:cNvPicPr>
            <a:picLocks noChangeAspect="1"/>
          </p:cNvPicPr>
          <p:nvPr/>
        </p:nvPicPr>
        <p:blipFill>
          <a:blip r:embed="rId2"/>
          <a:stretch>
            <a:fillRect/>
          </a:stretch>
        </p:blipFill>
        <p:spPr>
          <a:xfrm>
            <a:off x="834390" y="3303270"/>
            <a:ext cx="297180" cy="297180"/>
          </a:xfrm>
          <a:prstGeom prst="rect">
            <a:avLst/>
          </a:prstGeom>
        </p:spPr>
      </p:pic>
      <p:sp>
        <p:nvSpPr>
          <p:cNvPr id="12" name="Text 8"/>
          <p:cNvSpPr txBox="1"/>
          <p:nvPr/>
        </p:nvSpPr>
        <p:spPr>
          <a:xfrm>
            <a:off x="1463040" y="3108960"/>
            <a:ext cx="3611880" cy="320040"/>
          </a:xfrm>
          <a:prstGeom prst="rect">
            <a:avLst/>
          </a:prstGeom>
          <a:noFill/>
          <a:ln/>
        </p:spPr>
        <p:txBody>
          <a:bodyPr wrap="square" lIns="0" tIns="0" rIns="0" bIns="0" rtlCol="0" anchor="ctr"/>
          <a:lstStyle/>
          <a:p>
            <a:pPr indent="0" marL="0">
              <a:buNone/>
            </a:pPr>
            <a:r>
              <a:rPr lang="en-US" sz="1600" b="1" dirty="0">
                <a:solidFill>
                  <a:schemeClr val="tx1"/>
                </a:solidFill>
              </a:rPr>
              <a:t>Needs cleanup</a:t>
            </a:r>
            <a:endParaRPr lang="en-US" sz="1600" dirty="0"/>
          </a:p>
        </p:txBody>
      </p:sp>
      <p:sp>
        <p:nvSpPr>
          <p:cNvPr id="13" name="Text 9"/>
          <p:cNvSpPr txBox="1"/>
          <p:nvPr/>
        </p:nvSpPr>
        <p:spPr>
          <a:xfrm>
            <a:off x="1463040" y="3456432"/>
            <a:ext cx="3611880" cy="411480"/>
          </a:xfrm>
          <a:prstGeom prst="rect">
            <a:avLst/>
          </a:prstGeom>
          <a:noFill/>
          <a:ln/>
        </p:spPr>
        <p:txBody>
          <a:bodyPr wrap="square" lIns="0" tIns="0" rIns="0" bIns="0" rtlCol="0" anchor="t"/>
          <a:lstStyle/>
          <a:p>
            <a:pPr indent="0" marL="0">
              <a:buNone/>
            </a:pPr>
            <a:r>
              <a:rPr lang="en-US" sz="1250" dirty="0">
                <a:solidFill>
                  <a:schemeClr val="tx1"/>
                </a:solidFill>
              </a:rPr>
              <a:t>People still in a program even though they no longer meet its conditions.</a:t>
            </a:r>
            <a:endParaRPr lang="en-US" sz="1250" dirty="0"/>
          </a:p>
        </p:txBody>
      </p:sp>
      <p:sp>
        <p:nvSpPr>
          <p:cNvPr id="14" name="Text 10"/>
          <p:cNvSpPr txBox="1"/>
          <p:nvPr/>
        </p:nvSpPr>
        <p:spPr>
          <a:xfrm>
            <a:off x="1463040" y="3886200"/>
            <a:ext cx="3611880" cy="457200"/>
          </a:xfrm>
          <a:prstGeom prst="rect">
            <a:avLst/>
          </a:prstGeom>
          <a:noFill/>
          <a:ln/>
        </p:spPr>
        <p:txBody>
          <a:bodyPr wrap="square" lIns="0" tIns="0" rIns="0" bIns="0" rtlCol="0" anchor="t"/>
          <a:lstStyle/>
          <a:p>
            <a:pPr indent="0" marL="0">
              <a:buNone/>
            </a:pPr>
            <a:r>
              <a:rPr lang="en-US" sz="1200" i="1" dirty="0">
                <a:solidFill>
                  <a:schemeClr val="accent3"/>
                </a:solidFill>
              </a:rPr>
              <a:t>Example: people under 60 still listed in the senior citizen program.</a:t>
            </a:r>
            <a:endParaRPr lang="en-US" sz="1200" dirty="0"/>
          </a:p>
        </p:txBody>
      </p:sp>
      <p:sp>
        <p:nvSpPr>
          <p:cNvPr id="15" name="Shape 11"/>
          <p:cNvSpPr/>
          <p:nvPr/>
        </p:nvSpPr>
        <p:spPr>
          <a:xfrm>
            <a:off x="5669280" y="1280160"/>
            <a:ext cx="457200" cy="457200"/>
          </a:xfrm>
          <a:prstGeom prst="ellipse">
            <a:avLst/>
          </a:prstGeom>
          <a:solidFill>
            <a:srgbClr val="E3EFE8"/>
          </a:solidFill>
          <a:ln/>
        </p:spPr>
        <p:txBody>
          <a:bodyPr/>
          <a:p/>
        </p:txBody>
      </p:sp>
      <p:pic>
        <p:nvPicPr>
          <p:cNvPr id="16" name="Image 2" descr="preencoded.png">    </p:cNvPr>
          <p:cNvPicPr>
            <a:picLocks noChangeAspect="1"/>
          </p:cNvPicPr>
          <p:nvPr/>
        </p:nvPicPr>
        <p:blipFill>
          <a:blip r:embed="rId3"/>
          <a:stretch>
            <a:fillRect/>
          </a:stretch>
        </p:blipFill>
        <p:spPr>
          <a:xfrm>
            <a:off x="5783580" y="1394460"/>
            <a:ext cx="228600" cy="228600"/>
          </a:xfrm>
          <a:prstGeom prst="rect">
            <a:avLst/>
          </a:prstGeom>
        </p:spPr>
      </p:pic>
      <p:sp>
        <p:nvSpPr>
          <p:cNvPr id="17" name="Text 12"/>
          <p:cNvSpPr txBox="1"/>
          <p:nvPr/>
        </p:nvSpPr>
        <p:spPr>
          <a:xfrm>
            <a:off x="6263640" y="126187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Filter by barangay</a:t>
            </a:r>
            <a:endParaRPr lang="en-US" sz="1400" dirty="0"/>
          </a:p>
        </p:txBody>
      </p:sp>
      <p:sp>
        <p:nvSpPr>
          <p:cNvPr id="18" name="Text 13"/>
          <p:cNvSpPr txBox="1"/>
          <p:nvPr/>
        </p:nvSpPr>
        <p:spPr>
          <a:xfrm>
            <a:off x="6263640" y="155448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See where the people who were missed live.</a:t>
            </a:r>
            <a:endParaRPr lang="en-US" sz="1150" dirty="0"/>
          </a:p>
        </p:txBody>
      </p:sp>
      <p:sp>
        <p:nvSpPr>
          <p:cNvPr id="19" name="Shape 14"/>
          <p:cNvSpPr/>
          <p:nvPr/>
        </p:nvSpPr>
        <p:spPr>
          <a:xfrm>
            <a:off x="5669280" y="2331720"/>
            <a:ext cx="457200" cy="457200"/>
          </a:xfrm>
          <a:prstGeom prst="ellipse">
            <a:avLst/>
          </a:prstGeom>
          <a:solidFill>
            <a:srgbClr val="E3EFE8"/>
          </a:solidFill>
          <a:ln/>
        </p:spPr>
        <p:txBody>
          <a:bodyPr/>
          <a:p/>
        </p:txBody>
      </p:sp>
      <p:sp>
        <p:nvSpPr>
          <p:cNvPr id="21" name="Text 15"/>
          <p:cNvSpPr txBox="1"/>
          <p:nvPr/>
        </p:nvSpPr>
        <p:spPr>
          <a:xfrm>
            <a:off x="6263640" y="231343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Track the follow-up</a:t>
            </a:r>
            <a:endParaRPr lang="en-US" sz="1400" dirty="0"/>
          </a:p>
        </p:txBody>
      </p:sp>
      <p:sp>
        <p:nvSpPr>
          <p:cNvPr id="22" name="Text 16"/>
          <p:cNvSpPr txBox="1"/>
          <p:nvPr/>
        </p:nvSpPr>
        <p:spPr>
          <a:xfrm>
            <a:off x="6263640" y="260604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Record what came of contacting each person, and print the list for a barangay.</a:t>
            </a:r>
            <a:endParaRPr lang="en-US" sz="1150" dirty="0"/>
          </a:p>
        </p:txBody>
      </p:sp>
      <p:sp>
        <p:nvSpPr>
          <p:cNvPr id="23" name="Shape 17"/>
          <p:cNvSpPr/>
          <p:nvPr/>
        </p:nvSpPr>
        <p:spPr>
          <a:xfrm>
            <a:off x="5669280" y="3383280"/>
            <a:ext cx="457200" cy="457200"/>
          </a:xfrm>
          <a:prstGeom prst="ellipse">
            <a:avLst/>
          </a:prstGeom>
          <a:solidFill>
            <a:srgbClr val="E3EFE8"/>
          </a:solidFill>
          <a:ln/>
        </p:spPr>
      </p:sp>
      <p:pic>
        <p:nvPicPr>
          <p:cNvPr id="24" name="Image 4" descr="preencoded.png">    </p:cNvPr>
          <p:cNvPicPr>
            <a:picLocks noChangeAspect="1"/>
          </p:cNvPicPr>
          <p:nvPr/>
        </p:nvPicPr>
        <p:blipFill>
          <a:blip r:embed="rId5"/>
          <a:stretch>
            <a:fillRect/>
          </a:stretch>
        </p:blipFill>
        <p:spPr>
          <a:xfrm>
            <a:off x="5783580" y="3497580"/>
            <a:ext cx="228600" cy="228600"/>
          </a:xfrm>
          <a:prstGeom prst="rect">
            <a:avLst/>
          </a:prstGeom>
        </p:spPr>
      </p:pic>
      <p:sp>
        <p:nvSpPr>
          <p:cNvPr id="25" name="Text 18"/>
          <p:cNvSpPr txBox="1"/>
          <p:nvPr/>
        </p:nvSpPr>
        <p:spPr>
          <a:xfrm>
            <a:off x="6263640" y="3364992"/>
            <a:ext cx="2423160" cy="274320"/>
          </a:xfrm>
          <a:prstGeom prst="rect">
            <a:avLst/>
          </a:prstGeom>
          <a:noFill/>
          <a:ln/>
        </p:spPr>
        <p:txBody>
          <a:bodyPr wrap="square" lIns="0" tIns="0" rIns="0" bIns="0" rtlCol="0" anchor="ctr"/>
          <a:lstStyle/>
          <a:p>
            <a:pPr indent="0" marL="0">
              <a:buNone/>
            </a:pPr>
            <a:r>
              <a:rPr lang="en-US" sz="1400" b="1" dirty="0">
                <a:solidFill>
                  <a:schemeClr val="tx1"/>
                </a:solidFill>
              </a:rPr>
              <a:t>Rules set once</a:t>
            </a:r>
            <a:endParaRPr lang="en-US" sz="1400" dirty="0"/>
          </a:p>
        </p:txBody>
      </p:sp>
      <p:sp>
        <p:nvSpPr>
          <p:cNvPr id="26" name="Text 19"/>
          <p:cNvSpPr txBox="1"/>
          <p:nvPr/>
        </p:nvSpPr>
        <p:spPr>
          <a:xfrm>
            <a:off x="6263640" y="3657600"/>
            <a:ext cx="2423160" cy="640080"/>
          </a:xfrm>
          <a:prstGeom prst="rect">
            <a:avLst/>
          </a:prstGeom>
          <a:noFill/>
          <a:ln/>
        </p:spPr>
        <p:txBody>
          <a:bodyPr wrap="square" lIns="0" tIns="0" rIns="0" bIns="0" rtlCol="0" anchor="t"/>
          <a:lstStyle/>
          <a:p>
            <a:pPr indent="0" marL="0">
              <a:buNone/>
            </a:pPr>
            <a:r>
              <a:rPr lang="en-US" sz="1150" dirty="0">
                <a:solidFill>
                  <a:schemeClr val="accent3"/>
                </a:solidFill>
              </a:rPr>
              <a:t>The City administrator sets the rules; each office sees gaps in its own programs.</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pic>
        <p:nvPicPr>
          <p:cNvPr id="27" name="Picture 26" descr="ic_check_0F6B4C.png"/>
          <p:cNvPicPr>
            <a:picLocks noChangeAspect="1"/>
          </p:cNvPicPr>
          <p:nvPr/>
        </p:nvPicPr>
        <p:blipFill>
          <a:blip r:embed="rId8"/>
          <a:stretch>
            <a:fillRect/>
          </a:stretch>
        </p:blipFill>
        <p:spPr>
          <a:xfrm>
            <a:off x="5783580" y="2446020"/>
            <a:ext cx="228600" cy="228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Same programs, more households reached</a:t>
            </a:r>
            <a:endParaRPr lang="en-US" sz="3000" dirty="0"/>
          </a:p>
        </p:txBody>
      </p:sp>
      <p:sp>
        <p:nvSpPr>
          <p:cNvPr id="3" name="Shape 1"/>
          <p:cNvSpPr/>
          <p:nvPr/>
        </p:nvSpPr>
        <p:spPr>
          <a:xfrm>
            <a:off x="457200" y="1188720"/>
            <a:ext cx="4023360" cy="2240280"/>
          </a:xfrm>
          <a:prstGeom prst="roundRect">
            <a:avLst>
              <a:gd name="adj" fmla="val 3265"/>
            </a:avLst>
          </a:prstGeom>
          <a:solidFill>
            <a:srgbClr val="F1F5F2"/>
          </a:solidFill>
          <a:ln/>
        </p:spPr>
      </p:sp>
      <p:sp>
        <p:nvSpPr>
          <p:cNvPr id="4" name="Text 2"/>
          <p:cNvSpPr txBox="1"/>
          <p:nvPr/>
        </p:nvSpPr>
        <p:spPr>
          <a:xfrm>
            <a:off x="685800" y="1280160"/>
            <a:ext cx="3566160" cy="274320"/>
          </a:xfrm>
          <a:prstGeom prst="rect">
            <a:avLst/>
          </a:prstGeom>
          <a:noFill/>
          <a:ln/>
        </p:spPr>
        <p:txBody>
          <a:bodyPr wrap="square" lIns="0" tIns="0" rIns="0" bIns="0" rtlCol="0" anchor="ctr"/>
          <a:lstStyle/>
          <a:p>
            <a:pPr indent="0" marL="0">
              <a:buNone/>
            </a:pPr>
            <a:r>
              <a:rPr lang="en-US" sz="1400" b="1" dirty="0">
                <a:solidFill>
                  <a:schemeClr val="accent2"/>
                </a:solidFill>
              </a:rPr>
              <a:t>Without a shared record</a:t>
            </a:r>
            <a:endParaRPr lang="en-US" sz="1400" dirty="0"/>
          </a:p>
        </p:txBody>
      </p:sp>
      <p:sp>
        <p:nvSpPr>
          <p:cNvPr id="5" name="Text 3"/>
          <p:cNvSpPr txBox="1"/>
          <p:nvPr/>
        </p:nvSpPr>
        <p:spPr>
          <a:xfrm>
            <a:off x="685800" y="1554480"/>
            <a:ext cx="3566160" cy="228600"/>
          </a:xfrm>
          <a:prstGeom prst="rect">
            <a:avLst/>
          </a:prstGeom>
          <a:noFill/>
          <a:ln/>
        </p:spPr>
        <p:txBody>
          <a:bodyPr wrap="square" lIns="0" tIns="0" rIns="0" bIns="0" rtlCol="0" anchor="ctr"/>
          <a:lstStyle/>
          <a:p>
            <a:pPr indent="0" marL="0">
              <a:buNone/>
            </a:pPr>
            <a:r>
              <a:rPr lang="en-US" sz="1100" dirty="0">
                <a:solidFill>
                  <a:schemeClr val="accent3"/>
                </a:solidFill>
              </a:rPr>
              <a:t>Overlaps between offices are hard to see.</a:t>
            </a:r>
            <a:endParaRPr lang="en-US" sz="1100" dirty="0"/>
          </a:p>
        </p:txBody>
      </p:sp>
      <p:sp>
        <p:nvSpPr>
          <p:cNvPr id="6" name="Shape 4"/>
          <p:cNvSpPr/>
          <p:nvPr/>
        </p:nvSpPr>
        <p:spPr>
          <a:xfrm>
            <a:off x="685800" y="1920240"/>
            <a:ext cx="1325880" cy="274320"/>
          </a:xfrm>
          <a:prstGeom prst="roundRect">
            <a:avLst>
              <a:gd name="adj" fmla="val 20000"/>
            </a:avLst>
          </a:prstGeom>
          <a:solidFill>
            <a:srgbClr val="FFFFFF"/>
          </a:solidFill>
          <a:ln/>
        </p:spPr>
      </p:sp>
      <p:sp>
        <p:nvSpPr>
          <p:cNvPr id="7" name="Text 5"/>
          <p:cNvSpPr txBox="1"/>
          <p:nvPr/>
        </p:nvSpPr>
        <p:spPr>
          <a:xfrm>
            <a:off x="685800" y="192024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Social pension</a:t>
            </a:r>
            <a:endParaRPr lang="en-US" sz="1050" dirty="0"/>
          </a:p>
        </p:txBody>
      </p:sp>
      <p:sp>
        <p:nvSpPr>
          <p:cNvPr id="8" name="Shape 6"/>
          <p:cNvSpPr/>
          <p:nvPr/>
        </p:nvSpPr>
        <p:spPr>
          <a:xfrm>
            <a:off x="2057400" y="2057400"/>
            <a:ext cx="1417320" cy="0"/>
          </a:xfrm>
          <a:prstGeom prst="line">
            <a:avLst/>
          </a:prstGeom>
          <a:noFill/>
          <a:ln w="15875">
            <a:solidFill>
              <a:srgbClr val="B85042"/>
            </a:solidFill>
            <a:prstDash val="solid"/>
          </a:ln>
        </p:spPr>
      </p:sp>
      <p:pic>
        <p:nvPicPr>
          <p:cNvPr id="9" name="Image 0" descr="preencoded.png">    </p:cNvPr>
          <p:cNvPicPr>
            <a:picLocks noChangeAspect="1"/>
          </p:cNvPicPr>
          <p:nvPr/>
        </p:nvPicPr>
        <p:blipFill>
          <a:blip r:embed="rId1"/>
          <a:stretch>
            <a:fillRect/>
          </a:stretch>
        </p:blipFill>
        <p:spPr>
          <a:xfrm>
            <a:off x="3566160" y="1920240"/>
            <a:ext cx="274320" cy="274320"/>
          </a:xfrm>
          <a:prstGeom prst="rect">
            <a:avLst/>
          </a:prstGeom>
        </p:spPr>
      </p:pic>
      <p:sp>
        <p:nvSpPr>
          <p:cNvPr id="10" name="Shape 7"/>
          <p:cNvSpPr/>
          <p:nvPr/>
        </p:nvSpPr>
        <p:spPr>
          <a:xfrm>
            <a:off x="685800" y="2286000"/>
            <a:ext cx="1325880" cy="274320"/>
          </a:xfrm>
          <a:prstGeom prst="roundRect">
            <a:avLst>
              <a:gd name="adj" fmla="val 20000"/>
            </a:avLst>
          </a:prstGeom>
          <a:solidFill>
            <a:srgbClr val="FFFFFF"/>
          </a:solidFill>
          <a:ln/>
        </p:spPr>
      </p:sp>
      <p:sp>
        <p:nvSpPr>
          <p:cNvPr id="11" name="Text 8"/>
          <p:cNvSpPr txBox="1"/>
          <p:nvPr/>
        </p:nvSpPr>
        <p:spPr>
          <a:xfrm>
            <a:off x="685800" y="228600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PWD assistance</a:t>
            </a:r>
            <a:endParaRPr lang="en-US" sz="1050" dirty="0"/>
          </a:p>
        </p:txBody>
      </p:sp>
      <p:sp>
        <p:nvSpPr>
          <p:cNvPr id="12" name="Shape 9"/>
          <p:cNvSpPr/>
          <p:nvPr/>
        </p:nvSpPr>
        <p:spPr>
          <a:xfrm flipV="1">
            <a:off x="2057400" y="2057400"/>
            <a:ext cx="1417320" cy="365760"/>
          </a:xfrm>
          <a:prstGeom prst="line">
            <a:avLst/>
          </a:prstGeom>
          <a:noFill/>
          <a:ln w="15875">
            <a:solidFill>
              <a:srgbClr val="B85042"/>
            </a:solidFill>
            <a:prstDash val="solid"/>
          </a:ln>
        </p:spPr>
      </p:sp>
      <p:pic>
        <p:nvPicPr>
          <p:cNvPr id="13" name="Image 1" descr="preencoded.png">    </p:cNvPr>
          <p:cNvPicPr>
            <a:picLocks noChangeAspect="1"/>
          </p:cNvPicPr>
          <p:nvPr/>
        </p:nvPicPr>
        <p:blipFill>
          <a:blip r:embed="rId2"/>
          <a:stretch>
            <a:fillRect/>
          </a:stretch>
        </p:blipFill>
        <p:spPr>
          <a:xfrm>
            <a:off x="3566160" y="2286000"/>
            <a:ext cx="274320" cy="274320"/>
          </a:xfrm>
          <a:prstGeom prst="rect">
            <a:avLst/>
          </a:prstGeom>
        </p:spPr>
      </p:pic>
      <p:sp>
        <p:nvSpPr>
          <p:cNvPr id="14" name="Shape 10"/>
          <p:cNvSpPr/>
          <p:nvPr/>
        </p:nvSpPr>
        <p:spPr>
          <a:xfrm>
            <a:off x="685800" y="2651760"/>
            <a:ext cx="1325880" cy="274320"/>
          </a:xfrm>
          <a:prstGeom prst="roundRect">
            <a:avLst>
              <a:gd name="adj" fmla="val 20000"/>
            </a:avLst>
          </a:prstGeom>
          <a:solidFill>
            <a:srgbClr val="FFFFFF"/>
          </a:solidFill>
          <a:ln/>
        </p:spPr>
      </p:sp>
      <p:sp>
        <p:nvSpPr>
          <p:cNvPr id="15" name="Text 11"/>
          <p:cNvSpPr txBox="1"/>
          <p:nvPr/>
        </p:nvSpPr>
        <p:spPr>
          <a:xfrm>
            <a:off x="685800" y="265176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Solo parent aid</a:t>
            </a:r>
            <a:endParaRPr lang="en-US" sz="1050" dirty="0"/>
          </a:p>
        </p:txBody>
      </p:sp>
      <p:sp>
        <p:nvSpPr>
          <p:cNvPr id="16" name="Shape 12"/>
          <p:cNvSpPr/>
          <p:nvPr/>
        </p:nvSpPr>
        <p:spPr>
          <a:xfrm flipV="1">
            <a:off x="2057400" y="2057400"/>
            <a:ext cx="1417320" cy="731520"/>
          </a:xfrm>
          <a:prstGeom prst="line">
            <a:avLst/>
          </a:prstGeom>
          <a:noFill/>
          <a:ln w="15875">
            <a:solidFill>
              <a:srgbClr val="B85042"/>
            </a:solidFill>
            <a:prstDash val="solid"/>
          </a:ln>
        </p:spPr>
      </p:sp>
      <p:pic>
        <p:nvPicPr>
          <p:cNvPr id="17" name="Image 2" descr="preencoded.png">    </p:cNvPr>
          <p:cNvPicPr>
            <a:picLocks noChangeAspect="1"/>
          </p:cNvPicPr>
          <p:nvPr/>
        </p:nvPicPr>
        <p:blipFill>
          <a:blip r:embed="rId3"/>
          <a:stretch>
            <a:fillRect/>
          </a:stretch>
        </p:blipFill>
        <p:spPr>
          <a:xfrm>
            <a:off x="3566160" y="2651760"/>
            <a:ext cx="274320" cy="274320"/>
          </a:xfrm>
          <a:prstGeom prst="rect">
            <a:avLst/>
          </a:prstGeom>
        </p:spPr>
      </p:pic>
      <p:sp>
        <p:nvSpPr>
          <p:cNvPr id="18" name="Shape 13"/>
          <p:cNvSpPr/>
          <p:nvPr/>
        </p:nvSpPr>
        <p:spPr>
          <a:xfrm>
            <a:off x="685800" y="3017520"/>
            <a:ext cx="1325880" cy="274320"/>
          </a:xfrm>
          <a:prstGeom prst="roundRect">
            <a:avLst>
              <a:gd name="adj" fmla="val 20000"/>
            </a:avLst>
          </a:prstGeom>
          <a:solidFill>
            <a:srgbClr val="FFFFFF"/>
          </a:solidFill>
          <a:ln/>
        </p:spPr>
      </p:sp>
      <p:sp>
        <p:nvSpPr>
          <p:cNvPr id="19" name="Text 14"/>
          <p:cNvSpPr txBox="1"/>
          <p:nvPr/>
        </p:nvSpPr>
        <p:spPr>
          <a:xfrm>
            <a:off x="685800" y="301752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Farm subsidy</a:t>
            </a:r>
            <a:endParaRPr lang="en-US" sz="1050" dirty="0"/>
          </a:p>
        </p:txBody>
      </p:sp>
      <p:sp>
        <p:nvSpPr>
          <p:cNvPr id="20" name="Shape 15"/>
          <p:cNvSpPr/>
          <p:nvPr/>
        </p:nvSpPr>
        <p:spPr>
          <a:xfrm flipV="1">
            <a:off x="2057400" y="2057400"/>
            <a:ext cx="1417320" cy="1097280"/>
          </a:xfrm>
          <a:prstGeom prst="line">
            <a:avLst/>
          </a:prstGeom>
          <a:noFill/>
          <a:ln w="15875">
            <a:solidFill>
              <a:srgbClr val="B85042"/>
            </a:solidFill>
            <a:prstDash val="solid"/>
          </a:ln>
        </p:spPr>
      </p:sp>
      <p:pic>
        <p:nvPicPr>
          <p:cNvPr id="21" name="Image 3" descr="preencoded.png">    </p:cNvPr>
          <p:cNvPicPr>
            <a:picLocks noChangeAspect="1"/>
          </p:cNvPicPr>
          <p:nvPr/>
        </p:nvPicPr>
        <p:blipFill>
          <a:blip r:embed="rId4"/>
          <a:stretch>
            <a:fillRect/>
          </a:stretch>
        </p:blipFill>
        <p:spPr>
          <a:xfrm>
            <a:off x="3566160" y="3017520"/>
            <a:ext cx="274320" cy="274320"/>
          </a:xfrm>
          <a:prstGeom prst="rect">
            <a:avLst/>
          </a:prstGeom>
        </p:spPr>
      </p:pic>
      <p:sp>
        <p:nvSpPr>
          <p:cNvPr id="22" name="Shape 16"/>
          <p:cNvSpPr/>
          <p:nvPr/>
        </p:nvSpPr>
        <p:spPr>
          <a:xfrm>
            <a:off x="4663440" y="1188720"/>
            <a:ext cx="4023360" cy="2240280"/>
          </a:xfrm>
          <a:prstGeom prst="roundRect">
            <a:avLst>
              <a:gd name="adj" fmla="val 3265"/>
            </a:avLst>
          </a:prstGeom>
          <a:solidFill>
            <a:srgbClr val="F1F5F2"/>
          </a:solidFill>
          <a:ln/>
        </p:spPr>
      </p:sp>
      <p:sp>
        <p:nvSpPr>
          <p:cNvPr id="23" name="Text 17"/>
          <p:cNvSpPr txBox="1"/>
          <p:nvPr/>
        </p:nvSpPr>
        <p:spPr>
          <a:xfrm>
            <a:off x="4892040" y="1280160"/>
            <a:ext cx="3566160" cy="274320"/>
          </a:xfrm>
          <a:prstGeom prst="rect">
            <a:avLst/>
          </a:prstGeom>
          <a:noFill/>
          <a:ln/>
        </p:spPr>
        <p:txBody>
          <a:bodyPr wrap="square" lIns="0" tIns="0" rIns="0" bIns="0" rtlCol="0" anchor="ctr"/>
          <a:lstStyle/>
          <a:p>
            <a:pPr indent="0" marL="0">
              <a:buNone/>
            </a:pPr>
            <a:r>
              <a:rPr lang="en-US" sz="1400" b="1" dirty="0">
                <a:solidFill>
                  <a:schemeClr val="tx2"/>
                </a:solidFill>
              </a:rPr>
              <a:t>With VUCRMS</a:t>
            </a:r>
            <a:endParaRPr lang="en-US" sz="1400" dirty="0"/>
          </a:p>
        </p:txBody>
      </p:sp>
      <p:sp>
        <p:nvSpPr>
          <p:cNvPr id="24" name="Text 18"/>
          <p:cNvSpPr txBox="1"/>
          <p:nvPr/>
        </p:nvSpPr>
        <p:spPr>
          <a:xfrm>
            <a:off x="4892040" y="1554480"/>
            <a:ext cx="3566160" cy="228600"/>
          </a:xfrm>
          <a:prstGeom prst="rect">
            <a:avLst/>
          </a:prstGeom>
          <a:noFill/>
          <a:ln/>
        </p:spPr>
        <p:txBody>
          <a:bodyPr wrap="square" lIns="0" tIns="0" rIns="0" bIns="0" rtlCol="0" anchor="ctr"/>
          <a:lstStyle/>
          <a:p>
            <a:pPr indent="0" marL="0">
              <a:buNone/>
            </a:pPr>
            <a:r>
              <a:rPr lang="en-US" sz="1100" dirty="0">
                <a:solidFill>
                  <a:schemeClr val="accent3"/>
                </a:solidFill>
              </a:rPr>
              <a:t>Each program can reach more households.</a:t>
            </a:r>
            <a:endParaRPr lang="en-US" sz="1100" dirty="0"/>
          </a:p>
        </p:txBody>
      </p:sp>
      <p:sp>
        <p:nvSpPr>
          <p:cNvPr id="25" name="Shape 19"/>
          <p:cNvSpPr/>
          <p:nvPr/>
        </p:nvSpPr>
        <p:spPr>
          <a:xfrm>
            <a:off x="4892040" y="1920240"/>
            <a:ext cx="1325880" cy="274320"/>
          </a:xfrm>
          <a:prstGeom prst="roundRect">
            <a:avLst>
              <a:gd name="adj" fmla="val 20000"/>
            </a:avLst>
          </a:prstGeom>
          <a:solidFill>
            <a:srgbClr val="FFFFFF"/>
          </a:solidFill>
          <a:ln/>
        </p:spPr>
      </p:sp>
      <p:sp>
        <p:nvSpPr>
          <p:cNvPr id="26" name="Text 20"/>
          <p:cNvSpPr txBox="1"/>
          <p:nvPr/>
        </p:nvSpPr>
        <p:spPr>
          <a:xfrm>
            <a:off x="4892040" y="192024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Social pension</a:t>
            </a:r>
            <a:endParaRPr lang="en-US" sz="1050" dirty="0"/>
          </a:p>
        </p:txBody>
      </p:sp>
      <p:sp>
        <p:nvSpPr>
          <p:cNvPr id="27" name="Shape 21"/>
          <p:cNvSpPr/>
          <p:nvPr/>
        </p:nvSpPr>
        <p:spPr>
          <a:xfrm>
            <a:off x="6263640" y="2057400"/>
            <a:ext cx="1417320" cy="0"/>
          </a:xfrm>
          <a:prstGeom prst="line">
            <a:avLst/>
          </a:prstGeom>
          <a:noFill/>
          <a:ln w="15875">
            <a:solidFill>
              <a:srgbClr val="0F6B4C"/>
            </a:solidFill>
            <a:prstDash val="solid"/>
          </a:ln>
        </p:spPr>
      </p:sp>
      <p:pic>
        <p:nvPicPr>
          <p:cNvPr id="28" name="Image 4" descr="preencoded.png">    </p:cNvPr>
          <p:cNvPicPr>
            <a:picLocks noChangeAspect="1"/>
          </p:cNvPicPr>
          <p:nvPr/>
        </p:nvPicPr>
        <p:blipFill>
          <a:blip r:embed="rId5"/>
          <a:stretch>
            <a:fillRect/>
          </a:stretch>
        </p:blipFill>
        <p:spPr>
          <a:xfrm>
            <a:off x="7772400" y="1920240"/>
            <a:ext cx="274320" cy="274320"/>
          </a:xfrm>
          <a:prstGeom prst="rect">
            <a:avLst/>
          </a:prstGeom>
        </p:spPr>
      </p:pic>
      <p:sp>
        <p:nvSpPr>
          <p:cNvPr id="29" name="Shape 22"/>
          <p:cNvSpPr/>
          <p:nvPr/>
        </p:nvSpPr>
        <p:spPr>
          <a:xfrm>
            <a:off x="4892040" y="2286000"/>
            <a:ext cx="1325880" cy="274320"/>
          </a:xfrm>
          <a:prstGeom prst="roundRect">
            <a:avLst>
              <a:gd name="adj" fmla="val 20000"/>
            </a:avLst>
          </a:prstGeom>
          <a:solidFill>
            <a:srgbClr val="FFFFFF"/>
          </a:solidFill>
          <a:ln/>
        </p:spPr>
      </p:sp>
      <p:sp>
        <p:nvSpPr>
          <p:cNvPr id="30" name="Text 23"/>
          <p:cNvSpPr txBox="1"/>
          <p:nvPr/>
        </p:nvSpPr>
        <p:spPr>
          <a:xfrm>
            <a:off x="4892040" y="228600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PWD assistance</a:t>
            </a:r>
            <a:endParaRPr lang="en-US" sz="1050" dirty="0"/>
          </a:p>
        </p:txBody>
      </p:sp>
      <p:sp>
        <p:nvSpPr>
          <p:cNvPr id="31" name="Shape 24"/>
          <p:cNvSpPr/>
          <p:nvPr/>
        </p:nvSpPr>
        <p:spPr>
          <a:xfrm>
            <a:off x="6263640" y="2423160"/>
            <a:ext cx="1417320" cy="0"/>
          </a:xfrm>
          <a:prstGeom prst="line">
            <a:avLst/>
          </a:prstGeom>
          <a:noFill/>
          <a:ln w="15875">
            <a:solidFill>
              <a:srgbClr val="0F6B4C"/>
            </a:solidFill>
            <a:prstDash val="solid"/>
          </a:ln>
        </p:spPr>
      </p:sp>
      <p:pic>
        <p:nvPicPr>
          <p:cNvPr id="32" name="Image 5" descr="preencoded.png">    </p:cNvPr>
          <p:cNvPicPr>
            <a:picLocks noChangeAspect="1"/>
          </p:cNvPicPr>
          <p:nvPr/>
        </p:nvPicPr>
        <p:blipFill>
          <a:blip r:embed="rId6"/>
          <a:stretch>
            <a:fillRect/>
          </a:stretch>
        </p:blipFill>
        <p:spPr>
          <a:xfrm>
            <a:off x="7772400" y="2286000"/>
            <a:ext cx="274320" cy="274320"/>
          </a:xfrm>
          <a:prstGeom prst="rect">
            <a:avLst/>
          </a:prstGeom>
        </p:spPr>
      </p:pic>
      <p:sp>
        <p:nvSpPr>
          <p:cNvPr id="33" name="Shape 25"/>
          <p:cNvSpPr/>
          <p:nvPr/>
        </p:nvSpPr>
        <p:spPr>
          <a:xfrm>
            <a:off x="4892040" y="2651760"/>
            <a:ext cx="1325880" cy="274320"/>
          </a:xfrm>
          <a:prstGeom prst="roundRect">
            <a:avLst>
              <a:gd name="adj" fmla="val 20000"/>
            </a:avLst>
          </a:prstGeom>
          <a:solidFill>
            <a:srgbClr val="FFFFFF"/>
          </a:solidFill>
          <a:ln/>
        </p:spPr>
      </p:sp>
      <p:sp>
        <p:nvSpPr>
          <p:cNvPr id="34" name="Text 26"/>
          <p:cNvSpPr txBox="1"/>
          <p:nvPr/>
        </p:nvSpPr>
        <p:spPr>
          <a:xfrm>
            <a:off x="4892040" y="265176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Solo parent aid</a:t>
            </a:r>
            <a:endParaRPr lang="en-US" sz="1050" dirty="0"/>
          </a:p>
        </p:txBody>
      </p:sp>
      <p:sp>
        <p:nvSpPr>
          <p:cNvPr id="35" name="Shape 27"/>
          <p:cNvSpPr/>
          <p:nvPr/>
        </p:nvSpPr>
        <p:spPr>
          <a:xfrm>
            <a:off x="6263640" y="2788920"/>
            <a:ext cx="1417320" cy="0"/>
          </a:xfrm>
          <a:prstGeom prst="line">
            <a:avLst/>
          </a:prstGeom>
          <a:noFill/>
          <a:ln w="15875">
            <a:solidFill>
              <a:srgbClr val="0F6B4C"/>
            </a:solidFill>
            <a:prstDash val="solid"/>
          </a:ln>
        </p:spPr>
      </p:sp>
      <p:pic>
        <p:nvPicPr>
          <p:cNvPr id="36" name="Image 6" descr="preencoded.png">    </p:cNvPr>
          <p:cNvPicPr>
            <a:picLocks noChangeAspect="1"/>
          </p:cNvPicPr>
          <p:nvPr/>
        </p:nvPicPr>
        <p:blipFill>
          <a:blip r:embed="rId7"/>
          <a:stretch>
            <a:fillRect/>
          </a:stretch>
        </p:blipFill>
        <p:spPr>
          <a:xfrm>
            <a:off x="7772400" y="2651760"/>
            <a:ext cx="274320" cy="274320"/>
          </a:xfrm>
          <a:prstGeom prst="rect">
            <a:avLst/>
          </a:prstGeom>
        </p:spPr>
      </p:pic>
      <p:sp>
        <p:nvSpPr>
          <p:cNvPr id="37" name="Shape 28"/>
          <p:cNvSpPr/>
          <p:nvPr/>
        </p:nvSpPr>
        <p:spPr>
          <a:xfrm>
            <a:off x="4892040" y="3017520"/>
            <a:ext cx="1325880" cy="274320"/>
          </a:xfrm>
          <a:prstGeom prst="roundRect">
            <a:avLst>
              <a:gd name="adj" fmla="val 20000"/>
            </a:avLst>
          </a:prstGeom>
          <a:solidFill>
            <a:srgbClr val="FFFFFF"/>
          </a:solidFill>
          <a:ln/>
        </p:spPr>
      </p:sp>
      <p:sp>
        <p:nvSpPr>
          <p:cNvPr id="38" name="Text 29"/>
          <p:cNvSpPr txBox="1"/>
          <p:nvPr/>
        </p:nvSpPr>
        <p:spPr>
          <a:xfrm>
            <a:off x="4892040" y="3017520"/>
            <a:ext cx="1325880" cy="274320"/>
          </a:xfrm>
          <a:prstGeom prst="rect">
            <a:avLst/>
          </a:prstGeom>
          <a:noFill/>
          <a:ln/>
        </p:spPr>
        <p:txBody>
          <a:bodyPr wrap="square" lIns="0" tIns="0" rIns="0" bIns="0" rtlCol="0" anchor="ctr"/>
          <a:lstStyle/>
          <a:p>
            <a:pPr algn="ctr" indent="0" marL="0">
              <a:buNone/>
            </a:pPr>
            <a:r>
              <a:rPr lang="en-US" sz="1050" dirty="0">
                <a:solidFill>
                  <a:schemeClr val="tx1"/>
                </a:solidFill>
              </a:rPr>
              <a:t>Farm subsidy</a:t>
            </a:r>
            <a:endParaRPr lang="en-US" sz="1050" dirty="0"/>
          </a:p>
        </p:txBody>
      </p:sp>
      <p:sp>
        <p:nvSpPr>
          <p:cNvPr id="39" name="Shape 30"/>
          <p:cNvSpPr/>
          <p:nvPr/>
        </p:nvSpPr>
        <p:spPr>
          <a:xfrm>
            <a:off x="6263640" y="3154680"/>
            <a:ext cx="1417320" cy="0"/>
          </a:xfrm>
          <a:prstGeom prst="line">
            <a:avLst/>
          </a:prstGeom>
          <a:noFill/>
          <a:ln w="15875">
            <a:solidFill>
              <a:srgbClr val="0F6B4C"/>
            </a:solidFill>
            <a:prstDash val="solid"/>
          </a:ln>
        </p:spPr>
      </p:sp>
      <p:pic>
        <p:nvPicPr>
          <p:cNvPr id="40" name="Image 7" descr="preencoded.png">    </p:cNvPr>
          <p:cNvPicPr>
            <a:picLocks noChangeAspect="1"/>
          </p:cNvPicPr>
          <p:nvPr/>
        </p:nvPicPr>
        <p:blipFill>
          <a:blip r:embed="rId8"/>
          <a:stretch>
            <a:fillRect/>
          </a:stretch>
        </p:blipFill>
        <p:spPr>
          <a:xfrm>
            <a:off x="7772400" y="3017520"/>
            <a:ext cx="274320" cy="274320"/>
          </a:xfrm>
          <a:prstGeom prst="rect">
            <a:avLst/>
          </a:prstGeom>
        </p:spPr>
      </p:pic>
      <p:sp>
        <p:nvSpPr>
          <p:cNvPr id="41" name="Shape 31"/>
          <p:cNvSpPr/>
          <p:nvPr/>
        </p:nvSpPr>
        <p:spPr>
          <a:xfrm>
            <a:off x="457200" y="3639312"/>
            <a:ext cx="411480" cy="411480"/>
          </a:xfrm>
          <a:prstGeom prst="ellipse">
            <a:avLst/>
          </a:prstGeom>
          <a:solidFill>
            <a:srgbClr val="E3EFE8"/>
          </a:solidFill>
          <a:ln/>
        </p:spPr>
      </p:sp>
      <p:pic>
        <p:nvPicPr>
          <p:cNvPr id="42" name="Image 8" descr="preencoded.png">    </p:cNvPr>
          <p:cNvPicPr>
            <a:picLocks noChangeAspect="1"/>
          </p:cNvPicPr>
          <p:nvPr/>
        </p:nvPicPr>
        <p:blipFill>
          <a:blip r:embed="rId9"/>
          <a:stretch>
            <a:fillRect/>
          </a:stretch>
        </p:blipFill>
        <p:spPr>
          <a:xfrm>
            <a:off x="560070" y="3742182"/>
            <a:ext cx="205740" cy="205740"/>
          </a:xfrm>
          <a:prstGeom prst="rect">
            <a:avLst/>
          </a:prstGeom>
        </p:spPr>
      </p:pic>
      <p:sp>
        <p:nvSpPr>
          <p:cNvPr id="43" name="Text 32"/>
          <p:cNvSpPr txBox="1"/>
          <p:nvPr/>
        </p:nvSpPr>
        <p:spPr>
          <a:xfrm>
            <a:off x="960120" y="3611880"/>
            <a:ext cx="3291840" cy="274320"/>
          </a:xfrm>
          <a:prstGeom prst="rect">
            <a:avLst/>
          </a:prstGeom>
          <a:noFill/>
          <a:ln/>
        </p:spPr>
        <p:txBody>
          <a:bodyPr wrap="square" lIns="0" tIns="0" rIns="0" bIns="0" rtlCol="0" anchor="ctr"/>
          <a:lstStyle/>
          <a:p>
            <a:pPr indent="0" marL="0">
              <a:buNone/>
            </a:pPr>
            <a:r>
              <a:rPr lang="en-US" sz="1200" b="1" dirty="0">
                <a:solidFill>
                  <a:schemeClr val="tx1"/>
                </a:solidFill>
              </a:rPr>
              <a:t>Programs per household</a:t>
            </a:r>
            <a:endParaRPr lang="en-US" sz="1200" dirty="0"/>
          </a:p>
        </p:txBody>
      </p:sp>
      <p:sp>
        <p:nvSpPr>
          <p:cNvPr id="44" name="Text 33"/>
          <p:cNvSpPr txBox="1"/>
          <p:nvPr/>
        </p:nvSpPr>
        <p:spPr>
          <a:xfrm>
            <a:off x="960120" y="3904488"/>
            <a:ext cx="3291840" cy="548640"/>
          </a:xfrm>
          <a:prstGeom prst="rect">
            <a:avLst/>
          </a:prstGeom>
          <a:noFill/>
          <a:ln/>
        </p:spPr>
        <p:txBody>
          <a:bodyPr wrap="square" lIns="0" tIns="0" rIns="0" bIns="0" rtlCol="0" anchor="t"/>
          <a:lstStyle/>
          <a:p>
            <a:pPr indent="0" marL="0">
              <a:buNone/>
            </a:pPr>
            <a:r>
              <a:rPr lang="en-US" sz="1050" dirty="0">
                <a:solidFill>
                  <a:schemeClr val="accent3"/>
                </a:solidFill>
              </a:rPr>
              <a:t>Shows the share in 4 or more programs and the share in none.</a:t>
            </a:r>
            <a:endParaRPr lang="en-US" sz="1050" dirty="0"/>
          </a:p>
        </p:txBody>
      </p:sp>
      <p:sp>
        <p:nvSpPr>
          <p:cNvPr id="45" name="Shape 34"/>
          <p:cNvSpPr/>
          <p:nvPr/>
        </p:nvSpPr>
        <p:spPr>
          <a:xfrm>
            <a:off x="4663440" y="3639312"/>
            <a:ext cx="411480" cy="411480"/>
          </a:xfrm>
          <a:prstGeom prst="ellipse">
            <a:avLst/>
          </a:prstGeom>
          <a:solidFill>
            <a:srgbClr val="E3EFE8"/>
          </a:solidFill>
          <a:ln/>
        </p:spPr>
      </p:sp>
      <p:pic>
        <p:nvPicPr>
          <p:cNvPr id="46" name="Image 9" descr="preencoded.png">    </p:cNvPr>
          <p:cNvPicPr>
            <a:picLocks noChangeAspect="1"/>
          </p:cNvPicPr>
          <p:nvPr/>
        </p:nvPicPr>
        <p:blipFill>
          <a:blip r:embed="rId10"/>
          <a:stretch>
            <a:fillRect/>
          </a:stretch>
        </p:blipFill>
        <p:spPr>
          <a:xfrm>
            <a:off x="4766310" y="3742182"/>
            <a:ext cx="205740" cy="205740"/>
          </a:xfrm>
          <a:prstGeom prst="rect">
            <a:avLst/>
          </a:prstGeom>
        </p:spPr>
      </p:pic>
      <p:sp>
        <p:nvSpPr>
          <p:cNvPr id="47" name="Text 35"/>
          <p:cNvSpPr txBox="1"/>
          <p:nvPr/>
        </p:nvSpPr>
        <p:spPr>
          <a:xfrm>
            <a:off x="5166360" y="3611880"/>
            <a:ext cx="3291840" cy="274320"/>
          </a:xfrm>
          <a:prstGeom prst="rect">
            <a:avLst/>
          </a:prstGeom>
          <a:noFill/>
          <a:ln/>
        </p:spPr>
        <p:txBody>
          <a:bodyPr wrap="square" lIns="0" tIns="0" rIns="0" bIns="0" rtlCol="0" anchor="ctr"/>
          <a:lstStyle/>
          <a:p>
            <a:pPr indent="0" marL="0">
              <a:buNone/>
            </a:pPr>
            <a:r>
              <a:rPr lang="en-US" sz="1200" b="1" dirty="0">
                <a:solidFill>
                  <a:schemeClr val="tx1"/>
                </a:solidFill>
              </a:rPr>
              <a:t>No one left without help</a:t>
            </a:r>
            <a:endParaRPr lang="en-US" sz="1200" dirty="0"/>
          </a:p>
        </p:txBody>
      </p:sp>
      <p:sp>
        <p:nvSpPr>
          <p:cNvPr id="48" name="Text 36"/>
          <p:cNvSpPr txBox="1"/>
          <p:nvPr/>
        </p:nvSpPr>
        <p:spPr>
          <a:xfrm>
            <a:off x="5166360" y="3904488"/>
            <a:ext cx="3291840" cy="548640"/>
          </a:xfrm>
          <a:prstGeom prst="rect">
            <a:avLst/>
          </a:prstGeom>
          <a:noFill/>
          <a:ln/>
        </p:spPr>
        <p:txBody>
          <a:bodyPr wrap="square" lIns="0" tIns="0" rIns="0" bIns="0" rtlCol="0" anchor="t"/>
          <a:lstStyle/>
          <a:p>
            <a:pPr indent="0" marL="0">
              <a:buNone/>
            </a:pPr>
            <a:r>
              <a:rPr lang="en-US" sz="1050" dirty="0">
                <a:solidFill>
                  <a:schemeClr val="accent3"/>
                </a:solidFill>
              </a:rPr>
              <a:t>Flags households with a senior or a child under 5 that get nothing.</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Safe to trust with residents' data</a:t>
            </a:r>
            <a:endParaRPr lang="en-US" sz="3000" dirty="0"/>
          </a:p>
        </p:txBody>
      </p:sp>
      <p:sp>
        <p:nvSpPr>
          <p:cNvPr id="3" name="Shape 1"/>
          <p:cNvSpPr/>
          <p:nvPr/>
        </p:nvSpPr>
        <p:spPr>
          <a:xfrm>
            <a:off x="457200" y="1554480"/>
            <a:ext cx="4023360" cy="1737360"/>
          </a:xfrm>
          <a:prstGeom prst="roundRect">
            <a:avLst>
              <a:gd name="adj" fmla="val 4211"/>
            </a:avLst>
          </a:prstGeom>
          <a:solidFill>
            <a:srgbClr val="F1F5F2"/>
          </a:solidFill>
          <a:ln/>
        </p:spPr>
      </p:sp>
      <p:sp>
        <p:nvSpPr>
          <p:cNvPr id="4" name="Shape 2"/>
          <p:cNvSpPr/>
          <p:nvPr/>
        </p:nvSpPr>
        <p:spPr>
          <a:xfrm>
            <a:off x="685800" y="1783080"/>
            <a:ext cx="594360" cy="594360"/>
          </a:xfrm>
          <a:prstGeom prst="ellipse">
            <a:avLst/>
          </a:prstGeom>
          <a:solidFill>
            <a:srgbClr val="0F6B4C"/>
          </a:solidFill>
          <a:ln/>
        </p:spPr>
      </p:sp>
      <p:pic>
        <p:nvPicPr>
          <p:cNvPr id="5" name="Image 0" descr="preencoded.png">    </p:cNvPr>
          <p:cNvPicPr>
            <a:picLocks noChangeAspect="1"/>
          </p:cNvPicPr>
          <p:nvPr/>
        </p:nvPicPr>
        <p:blipFill>
          <a:blip r:embed="rId1"/>
          <a:stretch>
            <a:fillRect/>
          </a:stretch>
        </p:blipFill>
        <p:spPr>
          <a:xfrm>
            <a:off x="834390" y="1931670"/>
            <a:ext cx="297180" cy="297180"/>
          </a:xfrm>
          <a:prstGeom prst="rect">
            <a:avLst/>
          </a:prstGeom>
        </p:spPr>
      </p:pic>
      <p:sp>
        <p:nvSpPr>
          <p:cNvPr id="6" name="Text 3"/>
          <p:cNvSpPr txBox="1"/>
          <p:nvPr/>
        </p:nvSpPr>
        <p:spPr>
          <a:xfrm>
            <a:off x="1463040" y="1755648"/>
            <a:ext cx="2788920" cy="365760"/>
          </a:xfrm>
          <a:prstGeom prst="rect">
            <a:avLst/>
          </a:prstGeom>
          <a:noFill/>
          <a:ln/>
        </p:spPr>
        <p:txBody>
          <a:bodyPr wrap="square" lIns="0" tIns="0" rIns="0" bIns="0" rtlCol="0" anchor="ctr"/>
          <a:lstStyle/>
          <a:p>
            <a:pPr indent="0" marL="0">
              <a:buNone/>
            </a:pPr>
            <a:r>
              <a:rPr lang="en-US" sz="1600" b="1" dirty="0">
                <a:solidFill>
                  <a:schemeClr val="tx1"/>
                </a:solidFill>
              </a:rPr>
              <a:t>Accountability</a:t>
            </a:r>
            <a:endParaRPr lang="en-US" sz="1600" dirty="0"/>
          </a:p>
        </p:txBody>
      </p:sp>
      <p:sp>
        <p:nvSpPr>
          <p:cNvPr id="7" name="Text 4"/>
          <p:cNvSpPr txBox="1"/>
          <p:nvPr/>
        </p:nvSpPr>
        <p:spPr>
          <a:xfrm>
            <a:off x="1463040" y="2148840"/>
            <a:ext cx="2788920" cy="1005840"/>
          </a:xfrm>
          <a:prstGeom prst="rect">
            <a:avLst/>
          </a:prstGeom>
          <a:noFill/>
          <a:ln/>
        </p:spPr>
        <p:txBody>
          <a:bodyPr wrap="square" lIns="0" tIns="0" rIns="0" bIns="0" rtlCol="0" anchor="t"/>
          <a:lstStyle/>
          <a:p>
            <a:pPr indent="0" marL="0">
              <a:buNone/>
            </a:pPr>
            <a:r>
              <a:rPr lang="en-US" sz="1400" dirty="0">
                <a:solidFill>
                  <a:schemeClr val="accent3"/>
                </a:solidFill>
              </a:rPr>
              <a:t>Every change is logged with who made it and when. No one, not even an administrator, can edit the log.</a:t>
            </a:r>
            <a:endParaRPr lang="en-US" sz="1400" dirty="0"/>
          </a:p>
        </p:txBody>
      </p:sp>
      <p:sp>
        <p:nvSpPr>
          <p:cNvPr id="8" name="Shape 5"/>
          <p:cNvSpPr/>
          <p:nvPr/>
        </p:nvSpPr>
        <p:spPr>
          <a:xfrm>
            <a:off x="4663440" y="1554480"/>
            <a:ext cx="4023360" cy="1737360"/>
          </a:xfrm>
          <a:prstGeom prst="roundRect">
            <a:avLst>
              <a:gd name="adj" fmla="val 4211"/>
            </a:avLst>
          </a:prstGeom>
          <a:solidFill>
            <a:srgbClr val="F1F5F2"/>
          </a:solidFill>
          <a:ln/>
        </p:spPr>
      </p:sp>
      <p:sp>
        <p:nvSpPr>
          <p:cNvPr id="9" name="Shape 6"/>
          <p:cNvSpPr/>
          <p:nvPr/>
        </p:nvSpPr>
        <p:spPr>
          <a:xfrm>
            <a:off x="4892040" y="1783080"/>
            <a:ext cx="594360" cy="594360"/>
          </a:xfrm>
          <a:prstGeom prst="ellipse">
            <a:avLst/>
          </a:prstGeom>
          <a:solidFill>
            <a:srgbClr val="0F6B4C"/>
          </a:solidFill>
          <a:ln/>
        </p:spPr>
      </p:sp>
      <p:pic>
        <p:nvPicPr>
          <p:cNvPr id="10" name="Image 1" descr="preencoded.png">    </p:cNvPr>
          <p:cNvPicPr>
            <a:picLocks noChangeAspect="1"/>
          </p:cNvPicPr>
          <p:nvPr/>
        </p:nvPicPr>
        <p:blipFill>
          <a:blip r:embed="rId2"/>
          <a:stretch>
            <a:fillRect/>
          </a:stretch>
        </p:blipFill>
        <p:spPr>
          <a:xfrm>
            <a:off x="5040630" y="1931670"/>
            <a:ext cx="297180" cy="297180"/>
          </a:xfrm>
          <a:prstGeom prst="rect">
            <a:avLst/>
          </a:prstGeom>
        </p:spPr>
      </p:pic>
      <p:sp>
        <p:nvSpPr>
          <p:cNvPr id="11" name="Text 7"/>
          <p:cNvSpPr txBox="1"/>
          <p:nvPr/>
        </p:nvSpPr>
        <p:spPr>
          <a:xfrm>
            <a:off x="5669280" y="1755648"/>
            <a:ext cx="2788920" cy="365760"/>
          </a:xfrm>
          <a:prstGeom prst="rect">
            <a:avLst/>
          </a:prstGeom>
          <a:noFill/>
          <a:ln/>
        </p:spPr>
        <p:txBody>
          <a:bodyPr wrap="square" lIns="0" tIns="0" rIns="0" bIns="0" rtlCol="0" anchor="ctr"/>
          <a:lstStyle/>
          <a:p>
            <a:pPr indent="0" marL="0">
              <a:buNone/>
            </a:pPr>
            <a:r>
              <a:rPr lang="en-US" sz="1600" b="1" dirty="0">
                <a:solidFill>
                  <a:schemeClr val="tx1"/>
                </a:solidFill>
              </a:rPr>
              <a:t>Privacy by design</a:t>
            </a:r>
            <a:endParaRPr lang="en-US" sz="1600" dirty="0"/>
          </a:p>
        </p:txBody>
      </p:sp>
      <p:sp>
        <p:nvSpPr>
          <p:cNvPr id="12" name="Text 8"/>
          <p:cNvSpPr txBox="1"/>
          <p:nvPr/>
        </p:nvSpPr>
        <p:spPr>
          <a:xfrm>
            <a:off x="5669280" y="2148840"/>
            <a:ext cx="2788920" cy="1005840"/>
          </a:xfrm>
          <a:prstGeom prst="rect">
            <a:avLst/>
          </a:prstGeom>
          <a:noFill/>
          <a:ln/>
        </p:spPr>
        <p:txBody>
          <a:bodyPr wrap="square" lIns="0" tIns="0" rIns="0" bIns="0" rtlCol="0" anchor="t"/>
          <a:lstStyle/>
          <a:p>
            <a:pPr indent="0" marL="0">
              <a:buNone/>
            </a:pPr>
            <a:r>
              <a:rPr lang="en-US" sz="1400" dirty="0">
                <a:solidFill>
                  <a:schemeClr val="accent3"/>
                </a:solidFill>
              </a:rPr>
              <a:t>Built for the Data Privacy Act (RA 10173): government IDs are encrypted, and the system runs on the City's own server.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
        <p:nvSpPr>
          <p:cNvPr id="26" name="Oval 25"/>
          <p:cNvSpPr/>
          <p:nvPr/>
        </p:nvSpPr>
        <p:spPr>
          <a:xfrm>
            <a:off x="457200" y="3611880"/>
            <a:ext cx="411480" cy="411480"/>
          </a:xfrm>
          <a:prstGeom prst="ellipse">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_lock_0F6B4C.png"/>
          <p:cNvPicPr>
            <a:picLocks noChangeAspect="1"/>
          </p:cNvPicPr>
          <p:nvPr/>
        </p:nvPicPr>
        <p:blipFill>
          <a:blip r:embed="rId5"/>
          <a:stretch>
            <a:fillRect/>
          </a:stretch>
        </p:blipFill>
        <p:spPr>
          <a:xfrm>
            <a:off x="560070" y="3714750"/>
            <a:ext cx="205740" cy="205740"/>
          </a:xfrm>
          <a:prstGeom prst="rect">
            <a:avLst/>
          </a:prstGeom>
        </p:spPr>
      </p:pic>
      <p:sp>
        <p:nvSpPr>
          <p:cNvPr id="28" name="TextBox 27"/>
          <p:cNvSpPr txBox="1"/>
          <p:nvPr/>
        </p:nvSpPr>
        <p:spPr>
          <a:xfrm>
            <a:off x="978407" y="3584448"/>
            <a:ext cx="2103120" cy="274320"/>
          </a:xfrm>
          <a:prstGeom prst="rect">
            <a:avLst/>
          </a:prstGeom>
          <a:noFill/>
        </p:spPr>
        <p:txBody>
          <a:bodyPr wrap="square" lIns="0" rIns="0" tIns="0" bIns="0" anchor="t">
            <a:spAutoFit/>
          </a:bodyPr>
          <a:lstStyle/>
          <a:p>
            <a:pPr algn="l"/>
            <a:r>
              <a:rPr sz="1200" b="1">
                <a:solidFill>
                  <a:srgbClr val="1C2420"/>
                </a:solidFill>
              </a:rPr>
              <a:t>View-only accounts for officials</a:t>
            </a:r>
          </a:p>
        </p:txBody>
      </p:sp>
      <p:sp>
        <p:nvSpPr>
          <p:cNvPr id="29" name="TextBox 28"/>
          <p:cNvSpPr txBox="1"/>
          <p:nvPr/>
        </p:nvSpPr>
        <p:spPr>
          <a:xfrm>
            <a:off x="978407" y="3858768"/>
            <a:ext cx="2103120" cy="548640"/>
          </a:xfrm>
          <a:prstGeom prst="rect">
            <a:avLst/>
          </a:prstGeom>
          <a:noFill/>
        </p:spPr>
        <p:txBody>
          <a:bodyPr wrap="square" lIns="0" rIns="0" tIns="0" bIns="0" anchor="t">
            <a:spAutoFit/>
          </a:bodyPr>
          <a:lstStyle/>
          <a:p>
            <a:pPr algn="l"/>
            <a:r>
              <a:rPr sz="1050" b="0">
                <a:solidFill>
                  <a:srgbClr val="5B655F"/>
                </a:solidFill>
              </a:rPr>
              <a:t>Counts and charts only. No names, no exports.</a:t>
            </a:r>
          </a:p>
        </p:txBody>
      </p:sp>
      <p:sp>
        <p:nvSpPr>
          <p:cNvPr id="30" name="Oval 29"/>
          <p:cNvSpPr/>
          <p:nvPr/>
        </p:nvSpPr>
        <p:spPr>
          <a:xfrm>
            <a:off x="3264408" y="3611880"/>
            <a:ext cx="411480" cy="411480"/>
          </a:xfrm>
          <a:prstGeom prst="ellipse">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_export_0F6B4C.png"/>
          <p:cNvPicPr>
            <a:picLocks noChangeAspect="1"/>
          </p:cNvPicPr>
          <p:nvPr/>
        </p:nvPicPr>
        <p:blipFill>
          <a:blip r:embed="rId6"/>
          <a:stretch>
            <a:fillRect/>
          </a:stretch>
        </p:blipFill>
        <p:spPr>
          <a:xfrm>
            <a:off x="3367277" y="3714750"/>
            <a:ext cx="205740" cy="205740"/>
          </a:xfrm>
          <a:prstGeom prst="rect">
            <a:avLst/>
          </a:prstGeom>
        </p:spPr>
      </p:pic>
      <p:sp>
        <p:nvSpPr>
          <p:cNvPr id="32" name="TextBox 31"/>
          <p:cNvSpPr txBox="1"/>
          <p:nvPr/>
        </p:nvSpPr>
        <p:spPr>
          <a:xfrm>
            <a:off x="3785615" y="3584448"/>
            <a:ext cx="2103120" cy="274320"/>
          </a:xfrm>
          <a:prstGeom prst="rect">
            <a:avLst/>
          </a:prstGeom>
          <a:noFill/>
        </p:spPr>
        <p:txBody>
          <a:bodyPr wrap="square" lIns="0" rIns="0" tIns="0" bIns="0" anchor="t">
            <a:spAutoFit/>
          </a:bodyPr>
          <a:lstStyle/>
          <a:p>
            <a:pPr algn="l"/>
            <a:r>
              <a:rPr sz="1200" b="1">
                <a:solidFill>
                  <a:srgbClr val="1C2420"/>
                </a:solidFill>
              </a:rPr>
              <a:t>Views and exports are logged</a:t>
            </a:r>
          </a:p>
        </p:txBody>
      </p:sp>
      <p:sp>
        <p:nvSpPr>
          <p:cNvPr id="33" name="TextBox 32"/>
          <p:cNvSpPr txBox="1"/>
          <p:nvPr/>
        </p:nvSpPr>
        <p:spPr>
          <a:xfrm>
            <a:off x="3785615" y="3858768"/>
            <a:ext cx="2103120" cy="548640"/>
          </a:xfrm>
          <a:prstGeom prst="rect">
            <a:avLst/>
          </a:prstGeom>
          <a:noFill/>
        </p:spPr>
        <p:txBody>
          <a:bodyPr wrap="square" lIns="0" rIns="0" tIns="0" bIns="0" anchor="t">
            <a:spAutoFit/>
          </a:bodyPr>
          <a:lstStyle/>
          <a:p>
            <a:pPr algn="l"/>
            <a:r>
              <a:rPr sz="1050" b="0">
                <a:solidFill>
                  <a:srgbClr val="5B655F"/>
                </a:solidFill>
              </a:rPr>
              <a:t>Opening, exporting or printing a list is recorded, not only changes.</a:t>
            </a:r>
          </a:p>
        </p:txBody>
      </p:sp>
      <p:sp>
        <p:nvSpPr>
          <p:cNvPr id="34" name="Oval 33"/>
          <p:cNvSpPr/>
          <p:nvPr/>
        </p:nvSpPr>
        <p:spPr>
          <a:xfrm>
            <a:off x="6071616" y="3611880"/>
            <a:ext cx="411480" cy="411480"/>
          </a:xfrm>
          <a:prstGeom prst="ellipse">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_idcard_0F6B4C.png"/>
          <p:cNvPicPr>
            <a:picLocks noChangeAspect="1"/>
          </p:cNvPicPr>
          <p:nvPr/>
        </p:nvPicPr>
        <p:blipFill>
          <a:blip r:embed="rId7"/>
          <a:stretch>
            <a:fillRect/>
          </a:stretch>
        </p:blipFill>
        <p:spPr>
          <a:xfrm>
            <a:off x="6174486" y="3714750"/>
            <a:ext cx="205740" cy="205740"/>
          </a:xfrm>
          <a:prstGeom prst="rect">
            <a:avLst/>
          </a:prstGeom>
        </p:spPr>
      </p:pic>
      <p:sp>
        <p:nvSpPr>
          <p:cNvPr id="36" name="TextBox 35"/>
          <p:cNvSpPr txBox="1"/>
          <p:nvPr/>
        </p:nvSpPr>
        <p:spPr>
          <a:xfrm>
            <a:off x="6592824" y="3584448"/>
            <a:ext cx="2103120" cy="274320"/>
          </a:xfrm>
          <a:prstGeom prst="rect">
            <a:avLst/>
          </a:prstGeom>
          <a:noFill/>
        </p:spPr>
        <p:txBody>
          <a:bodyPr wrap="square" lIns="0" rIns="0" tIns="0" bIns="0" anchor="t">
            <a:spAutoFit/>
          </a:bodyPr>
          <a:lstStyle/>
          <a:p>
            <a:pPr algn="l"/>
            <a:r>
              <a:rPr sz="1200" b="1">
                <a:solidFill>
                  <a:srgbClr val="1C2420"/>
                </a:solidFill>
              </a:rPr>
              <a:t>Residents’ requests answered</a:t>
            </a:r>
          </a:p>
        </p:txBody>
      </p:sp>
      <p:sp>
        <p:nvSpPr>
          <p:cNvPr id="37" name="TextBox 36"/>
          <p:cNvSpPr txBox="1"/>
          <p:nvPr/>
        </p:nvSpPr>
        <p:spPr>
          <a:xfrm>
            <a:off x="6592824" y="3858768"/>
            <a:ext cx="2103120" cy="548640"/>
          </a:xfrm>
          <a:prstGeom prst="rect">
            <a:avLst/>
          </a:prstGeom>
          <a:noFill/>
        </p:spPr>
        <p:txBody>
          <a:bodyPr wrap="square" lIns="0" rIns="0" tIns="0" bIns="0" anchor="t">
            <a:spAutoFit/>
          </a:bodyPr>
          <a:lstStyle/>
          <a:p>
            <a:pPr algn="l"/>
            <a:r>
              <a:rPr sz="1050" b="0">
                <a:solidFill>
                  <a:srgbClr val="5B655F"/>
                </a:solidFill>
              </a:rPr>
              <a:t>To see, correct or delete their data, tracked for the Data Protection Officer.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8046720" cy="365760"/>
          </a:xfrm>
          <a:prstGeom prst="rect">
            <a:avLst/>
          </a:prstGeom>
          <a:noFill/>
          <a:ln/>
        </p:spPr>
        <p:txBody>
          <a:bodyPr wrap="square" lIns="0" tIns="0" rIns="0" bIns="0" rtlCol="0"/>
          <a:lstStyle/>
          <a:p>
            <a:pPr indent="0" marL="0">
              <a:buNone/>
            </a:pPr>
            <a:r>
              <a:rPr lang="en-US" sz="1400" b="1" spc="200" kern="0" dirty="0">
                <a:solidFill>
                  <a:schemeClr val="accent4"/>
                </a:solidFill>
              </a:rPr>
              <a:t>NEXT STEPS</a:t>
            </a:r>
            <a:endParaRPr lang="en-US" sz="1400" dirty="0"/>
          </a:p>
        </p:txBody>
      </p:sp>
      <p:sp>
        <p:nvSpPr>
          <p:cNvPr id="3" name="Text 0"/>
          <p:cNvSpPr/>
          <p:nvPr>
            <p:ph idx="101" type="title" hasCustomPrompt="1"/>
          </p:nvPr>
        </p:nvSpPr>
        <p:spPr>
          <a:xfrm>
            <a:off x="548640" y="1508760"/>
            <a:ext cx="8046720" cy="1463040"/>
          </a:xfrm>
          <a:prstGeom prst="rect">
            <a:avLst/>
          </a:prstGeom>
          <a:noFill/>
          <a:ln/>
        </p:spPr>
        <p:txBody>
          <a:bodyPr wrap="square" lIns="0" tIns="0" rIns="0" bIns="0" rtlCol="0" anchor="t"/>
          <a:lstStyle/>
          <a:p>
            <a:pPr algn="l" indent="0" marL="0">
              <a:buNone/>
            </a:pPr>
            <a:r>
              <a:rPr lang="en-US" sz="3800" b="1" dirty="0">
                <a:solidFill>
                  <a:schemeClr val="bg1"/>
                </a:solidFill>
              </a:rPr>
              <a:t>Built around the records offices already keep</a:t>
            </a:r>
            <a:endParaRPr lang="en-US" sz="3800" dirty="0"/>
          </a:p>
        </p:txBody>
      </p:sp>
      <p:sp>
        <p:nvSpPr>
          <p:cNvPr id="4" name="Shape 2"/>
          <p:cNvSpPr/>
          <p:nvPr/>
        </p:nvSpPr>
        <p:spPr>
          <a:xfrm>
            <a:off x="548640" y="3063240"/>
            <a:ext cx="457200" cy="457200"/>
          </a:xfrm>
          <a:prstGeom prst="ellipse">
            <a:avLst/>
          </a:prstGeom>
          <a:solidFill>
            <a:srgbClr val="B85042"/>
          </a:solidFill>
          <a:ln/>
        </p:spPr>
      </p:sp>
      <p:sp>
        <p:nvSpPr>
          <p:cNvPr id="5" name="Text 3"/>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430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Share a sample</a:t>
            </a:r>
            <a:endParaRPr lang="en-US" sz="1500" dirty="0"/>
          </a:p>
        </p:txBody>
      </p:sp>
      <p:sp>
        <p:nvSpPr>
          <p:cNvPr id="7" name="Text 5"/>
          <p:cNvSpPr txBox="1"/>
          <p:nvPr/>
        </p:nvSpPr>
        <p:spPr>
          <a:xfrm>
            <a:off x="11430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Each office sends the records it keeps today: spreadsheet, form or paper list.</a:t>
            </a:r>
            <a:endParaRPr lang="en-US" sz="1200" dirty="0"/>
          </a:p>
        </p:txBody>
      </p:sp>
      <p:sp>
        <p:nvSpPr>
          <p:cNvPr id="8" name="Shape 6"/>
          <p:cNvSpPr/>
          <p:nvPr/>
        </p:nvSpPr>
        <p:spPr>
          <a:xfrm>
            <a:off x="3291840" y="3063240"/>
            <a:ext cx="457200" cy="457200"/>
          </a:xfrm>
          <a:prstGeom prst="ellipse">
            <a:avLst/>
          </a:prstGeom>
          <a:solidFill>
            <a:srgbClr val="B85042"/>
          </a:solidFill>
          <a:ln/>
        </p:spPr>
      </p:sp>
      <p:sp>
        <p:nvSpPr>
          <p:cNvPr id="9" name="Text 7"/>
          <p:cNvSpPr txBox="1"/>
          <p:nvPr/>
        </p:nvSpPr>
        <p:spPr>
          <a:xfrm>
            <a:off x="32918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38862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Set up each office</a:t>
            </a:r>
            <a:endParaRPr lang="en-US" sz="1500" dirty="0"/>
          </a:p>
        </p:txBody>
      </p:sp>
      <p:sp>
        <p:nvSpPr>
          <p:cNvPr id="11" name="Text 9"/>
          <p:cNvSpPr txBox="1"/>
          <p:nvPr/>
        </p:nvSpPr>
        <p:spPr>
          <a:xfrm>
            <a:off x="38862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Its space in VUCRMS is configured to match those records.</a:t>
            </a:r>
            <a:endParaRPr lang="en-US" sz="1200" dirty="0"/>
          </a:p>
        </p:txBody>
      </p:sp>
      <p:sp>
        <p:nvSpPr>
          <p:cNvPr id="12" name="Shape 10"/>
          <p:cNvSpPr/>
          <p:nvPr/>
        </p:nvSpPr>
        <p:spPr>
          <a:xfrm>
            <a:off x="6035040" y="3063240"/>
            <a:ext cx="457200" cy="457200"/>
          </a:xfrm>
          <a:prstGeom prst="ellipse">
            <a:avLst/>
          </a:prstGeom>
          <a:solidFill>
            <a:srgbClr val="B85042"/>
          </a:solidFill>
          <a:ln/>
        </p:spPr>
      </p:sp>
      <p:sp>
        <p:nvSpPr>
          <p:cNvPr id="13" name="Text 11"/>
          <p:cNvSpPr txBox="1"/>
          <p:nvPr/>
        </p:nvSpPr>
        <p:spPr>
          <a:xfrm>
            <a:off x="603504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6629400" y="3063240"/>
            <a:ext cx="1965960" cy="457200"/>
          </a:xfrm>
          <a:prstGeom prst="rect">
            <a:avLst/>
          </a:prstGeom>
          <a:noFill/>
          <a:ln/>
        </p:spPr>
        <p:txBody>
          <a:bodyPr wrap="square" lIns="0" tIns="0" rIns="0" bIns="0" rtlCol="0" anchor="ctr"/>
          <a:lstStyle/>
          <a:p>
            <a:pPr indent="0" marL="0">
              <a:buNone/>
            </a:pPr>
            <a:r>
              <a:rPr lang="en-US" sz="1500" b="1" dirty="0">
                <a:solidFill>
                  <a:schemeClr val="bg1"/>
                </a:solidFill>
              </a:rPr>
              <a:t>Go live</a:t>
            </a:r>
            <a:endParaRPr lang="en-US" sz="1500" dirty="0"/>
          </a:p>
        </p:txBody>
      </p:sp>
      <p:sp>
        <p:nvSpPr>
          <p:cNvPr id="15" name="Text 13"/>
          <p:cNvSpPr txBox="1"/>
          <p:nvPr/>
        </p:nvSpPr>
        <p:spPr>
          <a:xfrm>
            <a:off x="6629400" y="3566160"/>
            <a:ext cx="1965960" cy="914400"/>
          </a:xfrm>
          <a:prstGeom prst="rect">
            <a:avLst/>
          </a:prstGeom>
          <a:noFill/>
          <a:ln/>
        </p:spPr>
        <p:txBody>
          <a:bodyPr wrap="square" lIns="0" tIns="0" rIns="0" bIns="0" rtlCol="0" anchor="t"/>
          <a:lstStyle/>
          <a:p>
            <a:pPr indent="0" marL="0">
              <a:buNone/>
            </a:pPr>
            <a:r>
              <a:rPr lang="en-US" sz="1200" dirty="0">
                <a:solidFill>
                  <a:schemeClr val="accent4"/>
                </a:solidFill>
              </a:rPr>
              <a:t>Offices start recording in VUCRMS.</a:t>
            </a:r>
            <a:endParaRPr lang="en-US" sz="1200" dirty="0"/>
          </a:p>
        </p:txBody>
      </p:sp>
      <p:sp>
        <p:nvSpPr>
          <p:cNvPr id="17" name="Text 0"/>
          <p:cNvSpPr/>
          <p:nvPr>
            <p:ph idx="102" type="body" hasCustomPrompt="1"/>
          </p:nvPr>
        </p:nvSpPr>
        <p:spPr>
          <a:xfrm>
            <a:off x="548640" y="3063240"/>
            <a:ext cx="7315200" cy="1097280"/>
          </a:xfrm>
          <a:prstGeom prst="rect">
            <a:avLst/>
          </a:prstGeom>
          <a:noFill/>
          <a:ln/>
        </p:spPr>
        <p:txBody>
          <a:bodyPr wrap="square" lIns="0" tIns="0" rIns="0" bIns="0" rtlCol="0" anchor="t"/>
          <a:lstStyle/>
          <a:p>
            <a:pPr indent="0" marL="0">
              <a:buNone/>
            </a:pPr>
            <a:endParaRPr lang="en-US" sz="16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One resident, four offices, one record</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
        <p:nvSpPr>
          <p:cNvPr id="26" name="TextBox 25"/>
          <p:cNvSpPr txBox="1"/>
          <p:nvPr/>
        </p:nvSpPr>
        <p:spPr>
          <a:xfrm>
            <a:off x="457200" y="1170432"/>
            <a:ext cx="8229600" cy="228600"/>
          </a:xfrm>
          <a:prstGeom prst="rect">
            <a:avLst/>
          </a:prstGeom>
          <a:noFill/>
        </p:spPr>
        <p:txBody>
          <a:bodyPr wrap="square" lIns="0" rIns="0" tIns="0" bIns="0" anchor="t">
            <a:spAutoFit/>
          </a:bodyPr>
          <a:lstStyle/>
          <a:p>
            <a:pPr algn="l"/>
            <a:r>
              <a:rPr sz="1100" b="1">
                <a:solidFill>
                  <a:srgbClr val="B85042"/>
                </a:solidFill>
              </a:rPr>
              <a:t>EXAMPLE: A SENIOR CITIZEN, LOLA MARIA</a:t>
            </a:r>
          </a:p>
        </p:txBody>
      </p:sp>
      <p:cxnSp>
        <p:nvCxnSpPr>
          <p:cNvPr id="27" name="Connector 26"/>
          <p:cNvCxnSpPr/>
          <p:nvPr/>
        </p:nvCxnSpPr>
        <p:spPr>
          <a:xfrm>
            <a:off x="685800" y="1810512"/>
            <a:ext cx="6309360" cy="0"/>
          </a:xfrm>
          <a:prstGeom prst="line">
            <a:avLst/>
          </a:prstGeom>
          <a:ln w="19050">
            <a:solidFill>
              <a:srgbClr val="0F6B4C"/>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57200" y="1581912"/>
            <a:ext cx="457200" cy="45720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1581912"/>
            <a:ext cx="457200" cy="457200"/>
          </a:xfrm>
          <a:prstGeom prst="rect">
            <a:avLst/>
          </a:prstGeom>
          <a:noFill/>
        </p:spPr>
        <p:txBody>
          <a:bodyPr wrap="square" lIns="0" rIns="0" tIns="0" bIns="0" anchor="ctr">
            <a:spAutoFit/>
          </a:bodyPr>
          <a:lstStyle/>
          <a:p>
            <a:pPr algn="ctr"/>
            <a:r>
              <a:rPr sz="1600" b="1">
                <a:solidFill>
                  <a:srgbClr val="FFFFFF"/>
                </a:solidFill>
              </a:rPr>
              <a:t>1</a:t>
            </a:r>
          </a:p>
        </p:txBody>
      </p:sp>
      <p:sp>
        <p:nvSpPr>
          <p:cNvPr id="30" name="TextBox 29"/>
          <p:cNvSpPr txBox="1"/>
          <p:nvPr/>
        </p:nvSpPr>
        <p:spPr>
          <a:xfrm>
            <a:off x="457200" y="2212848"/>
            <a:ext cx="1874519" cy="201168"/>
          </a:xfrm>
          <a:prstGeom prst="rect">
            <a:avLst/>
          </a:prstGeom>
          <a:noFill/>
        </p:spPr>
        <p:txBody>
          <a:bodyPr wrap="square" lIns="0" rIns="0" tIns="0" bIns="0" anchor="t">
            <a:spAutoFit/>
          </a:bodyPr>
          <a:lstStyle/>
          <a:p>
            <a:pPr algn="l"/>
            <a:r>
              <a:rPr sz="1100" b="1">
                <a:solidFill>
                  <a:srgbClr val="0F6B4C"/>
                </a:solidFill>
              </a:rPr>
              <a:t>CSWD</a:t>
            </a:r>
          </a:p>
        </p:txBody>
      </p:sp>
      <p:sp>
        <p:nvSpPr>
          <p:cNvPr id="31" name="TextBox 30"/>
          <p:cNvSpPr txBox="1"/>
          <p:nvPr/>
        </p:nvSpPr>
        <p:spPr>
          <a:xfrm>
            <a:off x="457200" y="2450592"/>
            <a:ext cx="1874519" cy="502920"/>
          </a:xfrm>
          <a:prstGeom prst="rect">
            <a:avLst/>
          </a:prstGeom>
          <a:noFill/>
        </p:spPr>
        <p:txBody>
          <a:bodyPr wrap="square" lIns="0" rIns="0" tIns="0" bIns="0" anchor="t">
            <a:spAutoFit/>
          </a:bodyPr>
          <a:lstStyle/>
          <a:p>
            <a:pPr algn="l"/>
            <a:r>
              <a:rPr sz="1400" b="1">
                <a:solidFill>
                  <a:srgbClr val="1C2420"/>
                </a:solidFill>
              </a:rPr>
              <a:t>Registered as a senior citizen</a:t>
            </a:r>
          </a:p>
        </p:txBody>
      </p:sp>
      <p:sp>
        <p:nvSpPr>
          <p:cNvPr id="32" name="TextBox 31"/>
          <p:cNvSpPr txBox="1"/>
          <p:nvPr/>
        </p:nvSpPr>
        <p:spPr>
          <a:xfrm>
            <a:off x="457200" y="2990088"/>
            <a:ext cx="1874519" cy="777240"/>
          </a:xfrm>
          <a:prstGeom prst="rect">
            <a:avLst/>
          </a:prstGeom>
          <a:noFill/>
        </p:spPr>
        <p:txBody>
          <a:bodyPr wrap="square" lIns="0" rIns="0" tIns="0" bIns="0" anchor="t">
            <a:spAutoFit/>
          </a:bodyPr>
          <a:lstStyle/>
          <a:p>
            <a:pPr algn="l"/>
            <a:r>
              <a:rPr sz="1200" b="0">
                <a:solidFill>
                  <a:srgbClr val="5B655F"/>
                </a:solidFill>
              </a:rPr>
              <a:t>Her record is created once in the city registry.</a:t>
            </a:r>
          </a:p>
        </p:txBody>
      </p:sp>
      <p:sp>
        <p:nvSpPr>
          <p:cNvPr id="33" name="Oval 32"/>
          <p:cNvSpPr/>
          <p:nvPr/>
        </p:nvSpPr>
        <p:spPr>
          <a:xfrm>
            <a:off x="2560320" y="1581912"/>
            <a:ext cx="457200" cy="45720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60320" y="1581912"/>
            <a:ext cx="457200" cy="457200"/>
          </a:xfrm>
          <a:prstGeom prst="rect">
            <a:avLst/>
          </a:prstGeom>
          <a:noFill/>
        </p:spPr>
        <p:txBody>
          <a:bodyPr wrap="square" lIns="0" rIns="0" tIns="0" bIns="0" anchor="ctr">
            <a:spAutoFit/>
          </a:bodyPr>
          <a:lstStyle/>
          <a:p>
            <a:pPr algn="ctr"/>
            <a:r>
              <a:rPr sz="1600" b="1">
                <a:solidFill>
                  <a:srgbClr val="FFFFFF"/>
                </a:solidFill>
              </a:rPr>
              <a:t>2</a:t>
            </a:r>
          </a:p>
        </p:txBody>
      </p:sp>
      <p:sp>
        <p:nvSpPr>
          <p:cNvPr id="35" name="TextBox 34"/>
          <p:cNvSpPr txBox="1"/>
          <p:nvPr/>
        </p:nvSpPr>
        <p:spPr>
          <a:xfrm>
            <a:off x="2560320" y="2212848"/>
            <a:ext cx="1874519" cy="201168"/>
          </a:xfrm>
          <a:prstGeom prst="rect">
            <a:avLst/>
          </a:prstGeom>
          <a:noFill/>
        </p:spPr>
        <p:txBody>
          <a:bodyPr wrap="square" lIns="0" rIns="0" tIns="0" bIns="0" anchor="t">
            <a:spAutoFit/>
          </a:bodyPr>
          <a:lstStyle/>
          <a:p>
            <a:pPr algn="l"/>
            <a:r>
              <a:rPr sz="1100" b="1">
                <a:solidFill>
                  <a:srgbClr val="0F6B4C"/>
                </a:solidFill>
              </a:rPr>
              <a:t>AGRICULTURE</a:t>
            </a:r>
          </a:p>
        </p:txBody>
      </p:sp>
      <p:sp>
        <p:nvSpPr>
          <p:cNvPr id="36" name="TextBox 35"/>
          <p:cNvSpPr txBox="1"/>
          <p:nvPr/>
        </p:nvSpPr>
        <p:spPr>
          <a:xfrm>
            <a:off x="2560320" y="2450592"/>
            <a:ext cx="1874519" cy="502920"/>
          </a:xfrm>
          <a:prstGeom prst="rect">
            <a:avLst/>
          </a:prstGeom>
          <a:noFill/>
        </p:spPr>
        <p:txBody>
          <a:bodyPr wrap="square" lIns="0" rIns="0" tIns="0" bIns="0" anchor="t">
            <a:spAutoFit/>
          </a:bodyPr>
          <a:lstStyle/>
          <a:p>
            <a:pPr algn="l"/>
            <a:r>
              <a:rPr sz="1400" b="1">
                <a:solidFill>
                  <a:srgbClr val="1C2420"/>
                </a:solidFill>
              </a:rPr>
              <a:t>Recognized when she returns</a:t>
            </a:r>
          </a:p>
        </p:txBody>
      </p:sp>
      <p:sp>
        <p:nvSpPr>
          <p:cNvPr id="37" name="TextBox 36"/>
          <p:cNvSpPr txBox="1"/>
          <p:nvPr/>
        </p:nvSpPr>
        <p:spPr>
          <a:xfrm>
            <a:off x="2560320" y="2990088"/>
            <a:ext cx="1874519" cy="777240"/>
          </a:xfrm>
          <a:prstGeom prst="rect">
            <a:avLst/>
          </a:prstGeom>
          <a:noFill/>
        </p:spPr>
        <p:txBody>
          <a:bodyPr wrap="square" lIns="0" rIns="0" tIns="0" bIns="0" anchor="t">
            <a:spAutoFit/>
          </a:bodyPr>
          <a:lstStyle/>
          <a:p>
            <a:pPr algn="l"/>
            <a:r>
              <a:rPr sz="1200" b="0">
                <a:solidFill>
                  <a:srgbClr val="5B655F"/>
                </a:solidFill>
              </a:rPr>
              <a:t>Her farm registration links to the same record. No second copy is made.</a:t>
            </a:r>
          </a:p>
        </p:txBody>
      </p:sp>
      <p:sp>
        <p:nvSpPr>
          <p:cNvPr id="38" name="Oval 37"/>
          <p:cNvSpPr/>
          <p:nvPr/>
        </p:nvSpPr>
        <p:spPr>
          <a:xfrm>
            <a:off x="4663440" y="1581912"/>
            <a:ext cx="457200" cy="45720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1581912"/>
            <a:ext cx="457200" cy="457200"/>
          </a:xfrm>
          <a:prstGeom prst="rect">
            <a:avLst/>
          </a:prstGeom>
          <a:noFill/>
        </p:spPr>
        <p:txBody>
          <a:bodyPr wrap="square" lIns="0" rIns="0" tIns="0" bIns="0" anchor="ctr">
            <a:spAutoFit/>
          </a:bodyPr>
          <a:lstStyle/>
          <a:p>
            <a:pPr algn="ctr"/>
            <a:r>
              <a:rPr sz="1600" b="1">
                <a:solidFill>
                  <a:srgbClr val="FFFFFF"/>
                </a:solidFill>
              </a:rPr>
              <a:t>3</a:t>
            </a:r>
          </a:p>
        </p:txBody>
      </p:sp>
      <p:sp>
        <p:nvSpPr>
          <p:cNvPr id="40" name="TextBox 39"/>
          <p:cNvSpPr txBox="1"/>
          <p:nvPr/>
        </p:nvSpPr>
        <p:spPr>
          <a:xfrm>
            <a:off x="4663440" y="2212848"/>
            <a:ext cx="1874519" cy="201168"/>
          </a:xfrm>
          <a:prstGeom prst="rect">
            <a:avLst/>
          </a:prstGeom>
          <a:noFill/>
        </p:spPr>
        <p:txBody>
          <a:bodyPr wrap="square" lIns="0" rIns="0" tIns="0" bIns="0" anchor="t">
            <a:spAutoFit/>
          </a:bodyPr>
          <a:lstStyle/>
          <a:p>
            <a:pPr algn="l"/>
            <a:r>
              <a:rPr sz="1100" b="1">
                <a:solidFill>
                  <a:srgbClr val="0F6B4C"/>
                </a:solidFill>
              </a:rPr>
              <a:t>ANY OFFICE</a:t>
            </a:r>
          </a:p>
        </p:txBody>
      </p:sp>
      <p:sp>
        <p:nvSpPr>
          <p:cNvPr id="41" name="TextBox 40"/>
          <p:cNvSpPr txBox="1"/>
          <p:nvPr/>
        </p:nvSpPr>
        <p:spPr>
          <a:xfrm>
            <a:off x="4663440" y="2450592"/>
            <a:ext cx="1874519" cy="502920"/>
          </a:xfrm>
          <a:prstGeom prst="rect">
            <a:avLst/>
          </a:prstGeom>
          <a:noFill/>
        </p:spPr>
        <p:txBody>
          <a:bodyPr wrap="square" lIns="0" rIns="0" tIns="0" bIns="0" anchor="t">
            <a:spAutoFit/>
          </a:bodyPr>
          <a:lstStyle/>
          <a:p>
            <a:pPr algn="l"/>
            <a:r>
              <a:rPr sz="1400" b="1">
                <a:solidFill>
                  <a:srgbClr val="1C2420"/>
                </a:solidFill>
              </a:rPr>
              <a:t>A misspelled name is caught</a:t>
            </a:r>
          </a:p>
        </p:txBody>
      </p:sp>
      <p:sp>
        <p:nvSpPr>
          <p:cNvPr id="42" name="TextBox 41"/>
          <p:cNvSpPr txBox="1"/>
          <p:nvPr/>
        </p:nvSpPr>
        <p:spPr>
          <a:xfrm>
            <a:off x="4663440" y="2990088"/>
            <a:ext cx="1874519" cy="777240"/>
          </a:xfrm>
          <a:prstGeom prst="rect">
            <a:avLst/>
          </a:prstGeom>
          <a:noFill/>
        </p:spPr>
        <p:txBody>
          <a:bodyPr wrap="square" lIns="0" rIns="0" tIns="0" bIns="0" anchor="t">
            <a:spAutoFit/>
          </a:bodyPr>
          <a:lstStyle/>
          <a:p>
            <a:pPr algn="l"/>
            <a:r>
              <a:rPr sz="1200" b="0">
                <a:solidFill>
                  <a:srgbClr val="5B655F"/>
                </a:solidFill>
              </a:rPr>
              <a:t>A near-match is held until an administrator confirms it is the same person.</a:t>
            </a:r>
          </a:p>
        </p:txBody>
      </p:sp>
      <p:sp>
        <p:nvSpPr>
          <p:cNvPr id="43" name="Oval 42"/>
          <p:cNvSpPr/>
          <p:nvPr/>
        </p:nvSpPr>
        <p:spPr>
          <a:xfrm>
            <a:off x="6766559" y="1581912"/>
            <a:ext cx="457200" cy="45720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59" y="1581912"/>
            <a:ext cx="457200" cy="457200"/>
          </a:xfrm>
          <a:prstGeom prst="rect">
            <a:avLst/>
          </a:prstGeom>
          <a:noFill/>
        </p:spPr>
        <p:txBody>
          <a:bodyPr wrap="square" lIns="0" rIns="0" tIns="0" bIns="0" anchor="ctr">
            <a:spAutoFit/>
          </a:bodyPr>
          <a:lstStyle/>
          <a:p>
            <a:pPr algn="ctr"/>
            <a:r>
              <a:rPr sz="1600" b="1">
                <a:solidFill>
                  <a:srgbClr val="FFFFFF"/>
                </a:solidFill>
              </a:rPr>
              <a:t>4</a:t>
            </a:r>
          </a:p>
        </p:txBody>
      </p:sp>
      <p:sp>
        <p:nvSpPr>
          <p:cNvPr id="45" name="TextBox 44"/>
          <p:cNvSpPr txBox="1"/>
          <p:nvPr/>
        </p:nvSpPr>
        <p:spPr>
          <a:xfrm>
            <a:off x="6766559" y="2212848"/>
            <a:ext cx="1874519" cy="201168"/>
          </a:xfrm>
          <a:prstGeom prst="rect">
            <a:avLst/>
          </a:prstGeom>
          <a:noFill/>
        </p:spPr>
        <p:txBody>
          <a:bodyPr wrap="square" lIns="0" rIns="0" tIns="0" bIns="0" anchor="t">
            <a:spAutoFit/>
          </a:bodyPr>
          <a:lstStyle/>
          <a:p>
            <a:pPr algn="l"/>
            <a:r>
              <a:rPr sz="1100" b="1">
                <a:solidFill>
                  <a:srgbClr val="0F6B4C"/>
                </a:solidFill>
              </a:rPr>
              <a:t>CIVIL REGISTRY</a:t>
            </a:r>
          </a:p>
        </p:txBody>
      </p:sp>
      <p:sp>
        <p:nvSpPr>
          <p:cNvPr id="46" name="TextBox 45"/>
          <p:cNvSpPr txBox="1"/>
          <p:nvPr/>
        </p:nvSpPr>
        <p:spPr>
          <a:xfrm>
            <a:off x="6766559" y="2450592"/>
            <a:ext cx="1874519" cy="502920"/>
          </a:xfrm>
          <a:prstGeom prst="rect">
            <a:avLst/>
          </a:prstGeom>
          <a:noFill/>
        </p:spPr>
        <p:txBody>
          <a:bodyPr wrap="square" lIns="0" rIns="0" tIns="0" bIns="0" anchor="t">
            <a:spAutoFit/>
          </a:bodyPr>
          <a:lstStyle/>
          <a:p>
            <a:pPr algn="l"/>
            <a:r>
              <a:rPr sz="1400" b="1">
                <a:solidFill>
                  <a:srgbClr val="1C2420"/>
                </a:solidFill>
              </a:rPr>
              <a:t>Her death is recorded</a:t>
            </a:r>
          </a:p>
        </p:txBody>
      </p:sp>
      <p:sp>
        <p:nvSpPr>
          <p:cNvPr id="47" name="TextBox 46"/>
          <p:cNvSpPr txBox="1"/>
          <p:nvPr/>
        </p:nvSpPr>
        <p:spPr>
          <a:xfrm>
            <a:off x="6766559" y="2990088"/>
            <a:ext cx="1874519" cy="777240"/>
          </a:xfrm>
          <a:prstGeom prst="rect">
            <a:avLst/>
          </a:prstGeom>
          <a:noFill/>
        </p:spPr>
        <p:txBody>
          <a:bodyPr wrap="square" lIns="0" rIns="0" tIns="0" bIns="0" anchor="t">
            <a:spAutoFit/>
          </a:bodyPr>
          <a:lstStyle/>
          <a:p>
            <a:pPr algn="l"/>
            <a:r>
              <a:rPr sz="1200" b="0">
                <a:solidFill>
                  <a:srgbClr val="5B655F"/>
                </a:solidFill>
              </a:rPr>
              <a:t>She leaves her household and is taken off the program lists.</a:t>
            </a:r>
          </a:p>
        </p:txBody>
      </p:sp>
      <p:sp>
        <p:nvSpPr>
          <p:cNvPr id="48" name="Rounded Rectangle 47"/>
          <p:cNvSpPr/>
          <p:nvPr/>
        </p:nvSpPr>
        <p:spPr>
          <a:xfrm>
            <a:off x="457200" y="3886200"/>
            <a:ext cx="8229600" cy="548640"/>
          </a:xfrm>
          <a:prstGeom prst="roundRect">
            <a:avLst>
              <a:gd name="adj" fmla="val 13333"/>
            </a:avLst>
          </a:prstGeom>
          <a:solidFill>
            <a:srgbClr val="F7E9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3886200"/>
            <a:ext cx="7772400" cy="548640"/>
          </a:xfrm>
          <a:prstGeom prst="rect">
            <a:avLst/>
          </a:prstGeom>
          <a:noFill/>
        </p:spPr>
        <p:txBody>
          <a:bodyPr wrap="square" lIns="0" rIns="0" tIns="0" bIns="0" anchor="ctr">
            <a:spAutoFit/>
          </a:bodyPr>
          <a:lstStyle/>
          <a:p>
            <a:pPr algn="l"/>
            <a:r>
              <a:rPr sz="1300" b="1">
                <a:solidFill>
                  <a:srgbClr val="B85042"/>
                </a:solidFill>
              </a:rPr>
              <a:t>Without a shared record: </a:t>
            </a:r>
            <a:r>
              <a:rPr sz="1300" b="0">
                <a:solidFill>
                  <a:srgbClr val="1C2420"/>
                </a:solidFill>
              </a:rPr>
              <a:t>four separate entries, and her name stays on the senior citizen list.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Ready before the storm, fair after it</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
        <p:nvSpPr>
          <p:cNvPr id="26" name="Rounded Rectangle 25"/>
          <p:cNvSpPr/>
          <p:nvPr/>
        </p:nvSpPr>
        <p:spPr>
          <a:xfrm>
            <a:off x="457200" y="1234440"/>
            <a:ext cx="4023360" cy="3200400"/>
          </a:xfrm>
          <a:prstGeom prst="roundRect">
            <a:avLst>
              <a:gd name="adj" fmla="val 2285"/>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5800" y="1463040"/>
            <a:ext cx="594360" cy="594360"/>
          </a:xfrm>
          <a:prstGeom prst="ellipse">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_ring_0F6B4C.png"/>
          <p:cNvPicPr>
            <a:picLocks noChangeAspect="1"/>
          </p:cNvPicPr>
          <p:nvPr/>
        </p:nvPicPr>
        <p:blipFill>
          <a:blip r:embed="rId3"/>
          <a:stretch>
            <a:fillRect/>
          </a:stretch>
        </p:blipFill>
        <p:spPr>
          <a:xfrm>
            <a:off x="834390" y="1611630"/>
            <a:ext cx="297180" cy="297180"/>
          </a:xfrm>
          <a:prstGeom prst="rect">
            <a:avLst/>
          </a:prstGeom>
        </p:spPr>
      </p:pic>
      <p:sp>
        <p:nvSpPr>
          <p:cNvPr id="29" name="TextBox 28"/>
          <p:cNvSpPr txBox="1"/>
          <p:nvPr/>
        </p:nvSpPr>
        <p:spPr>
          <a:xfrm>
            <a:off x="1463040" y="1463040"/>
            <a:ext cx="2788920" cy="594360"/>
          </a:xfrm>
          <a:prstGeom prst="rect">
            <a:avLst/>
          </a:prstGeom>
          <a:noFill/>
        </p:spPr>
        <p:txBody>
          <a:bodyPr wrap="square" lIns="0" rIns="0" tIns="0" bIns="0" anchor="ctr">
            <a:spAutoFit/>
          </a:bodyPr>
          <a:lstStyle/>
          <a:p>
            <a:pPr algn="l"/>
            <a:r>
              <a:rPr sz="1600" b="1">
                <a:solidFill>
                  <a:srgbClr val="1C2420"/>
                </a:solidFill>
              </a:rPr>
              <a:t>Before: who may need help to evacuate</a:t>
            </a:r>
          </a:p>
        </p:txBody>
      </p:sp>
      <p:sp>
        <p:nvSpPr>
          <p:cNvPr id="30" name="Rounded Rectangle 29"/>
          <p:cNvSpPr/>
          <p:nvPr/>
        </p:nvSpPr>
        <p:spPr>
          <a:xfrm>
            <a:off x="685800" y="2286000"/>
            <a:ext cx="777240" cy="292608"/>
          </a:xfrm>
          <a:prstGeom prst="roundRect">
            <a:avLst>
              <a:gd name="adj" fmla="val 1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2286000"/>
            <a:ext cx="777240" cy="292608"/>
          </a:xfrm>
          <a:prstGeom prst="rect">
            <a:avLst/>
          </a:prstGeom>
          <a:noFill/>
        </p:spPr>
        <p:txBody>
          <a:bodyPr wrap="square" lIns="0" rIns="0" tIns="0" bIns="0" anchor="ctr">
            <a:spAutoFit/>
          </a:bodyPr>
          <a:lstStyle/>
          <a:p>
            <a:pPr algn="ctr"/>
            <a:r>
              <a:rPr sz="1100" b="0">
                <a:solidFill>
                  <a:srgbClr val="1C2420"/>
                </a:solidFill>
              </a:rPr>
              <a:t>Seniors</a:t>
            </a:r>
          </a:p>
        </p:txBody>
      </p:sp>
      <p:sp>
        <p:nvSpPr>
          <p:cNvPr id="32" name="Rounded Rectangle 31"/>
          <p:cNvSpPr/>
          <p:nvPr/>
        </p:nvSpPr>
        <p:spPr>
          <a:xfrm>
            <a:off x="1572768" y="2286000"/>
            <a:ext cx="1371600" cy="292608"/>
          </a:xfrm>
          <a:prstGeom prst="roundRect">
            <a:avLst>
              <a:gd name="adj" fmla="val 1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72768" y="2286000"/>
            <a:ext cx="1371600" cy="292608"/>
          </a:xfrm>
          <a:prstGeom prst="rect">
            <a:avLst/>
          </a:prstGeom>
          <a:noFill/>
        </p:spPr>
        <p:txBody>
          <a:bodyPr wrap="square" lIns="0" rIns="0" tIns="0" bIns="0" anchor="ctr">
            <a:spAutoFit/>
          </a:bodyPr>
          <a:lstStyle/>
          <a:p>
            <a:pPr algn="ctr"/>
            <a:r>
              <a:rPr sz="1100" b="0">
                <a:solidFill>
                  <a:srgbClr val="1C2420"/>
                </a:solidFill>
              </a:rPr>
              <a:t>Children under 5</a:t>
            </a:r>
          </a:p>
        </p:txBody>
      </p:sp>
      <p:sp>
        <p:nvSpPr>
          <p:cNvPr id="34" name="Rounded Rectangle 33"/>
          <p:cNvSpPr/>
          <p:nvPr/>
        </p:nvSpPr>
        <p:spPr>
          <a:xfrm>
            <a:off x="3054096" y="2286000"/>
            <a:ext cx="640080" cy="292608"/>
          </a:xfrm>
          <a:prstGeom prst="roundRect">
            <a:avLst>
              <a:gd name="adj" fmla="val 1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54096" y="2286000"/>
            <a:ext cx="640080" cy="292608"/>
          </a:xfrm>
          <a:prstGeom prst="rect">
            <a:avLst/>
          </a:prstGeom>
          <a:noFill/>
        </p:spPr>
        <p:txBody>
          <a:bodyPr wrap="square" lIns="0" rIns="0" tIns="0" bIns="0" anchor="ctr">
            <a:spAutoFit/>
          </a:bodyPr>
          <a:lstStyle/>
          <a:p>
            <a:pPr algn="ctr"/>
            <a:r>
              <a:rPr sz="1100" b="0">
                <a:solidFill>
                  <a:srgbClr val="1C2420"/>
                </a:solidFill>
              </a:rPr>
              <a:t>PWD</a:t>
            </a:r>
          </a:p>
        </p:txBody>
      </p:sp>
      <p:sp>
        <p:nvSpPr>
          <p:cNvPr id="36" name="Rounded Rectangle 35"/>
          <p:cNvSpPr/>
          <p:nvPr/>
        </p:nvSpPr>
        <p:spPr>
          <a:xfrm>
            <a:off x="685800" y="2670048"/>
            <a:ext cx="1325880" cy="292608"/>
          </a:xfrm>
          <a:prstGeom prst="roundRect">
            <a:avLst>
              <a:gd name="adj" fmla="val 1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2670048"/>
            <a:ext cx="1325880" cy="292608"/>
          </a:xfrm>
          <a:prstGeom prst="rect">
            <a:avLst/>
          </a:prstGeom>
          <a:noFill/>
        </p:spPr>
        <p:txBody>
          <a:bodyPr wrap="square" lIns="0" rIns="0" tIns="0" bIns="0" anchor="ctr">
            <a:spAutoFit/>
          </a:bodyPr>
          <a:lstStyle/>
          <a:p>
            <a:pPr algn="ctr"/>
            <a:r>
              <a:rPr sz="1100" b="0">
                <a:solidFill>
                  <a:srgbClr val="1C2420"/>
                </a:solidFill>
              </a:rPr>
              <a:t>Pregnant women</a:t>
            </a:r>
          </a:p>
        </p:txBody>
      </p:sp>
      <p:sp>
        <p:nvSpPr>
          <p:cNvPr id="38" name="Rounded Rectangle 37"/>
          <p:cNvSpPr/>
          <p:nvPr/>
        </p:nvSpPr>
        <p:spPr>
          <a:xfrm>
            <a:off x="2121408" y="2670048"/>
            <a:ext cx="1097280" cy="292608"/>
          </a:xfrm>
          <a:prstGeom prst="roundRect">
            <a:avLst>
              <a:gd name="adj" fmla="val 187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21408" y="2670048"/>
            <a:ext cx="1097280" cy="292608"/>
          </a:xfrm>
          <a:prstGeom prst="rect">
            <a:avLst/>
          </a:prstGeom>
          <a:noFill/>
        </p:spPr>
        <p:txBody>
          <a:bodyPr wrap="square" lIns="0" rIns="0" tIns="0" bIns="0" anchor="ctr">
            <a:spAutoFit/>
          </a:bodyPr>
          <a:lstStyle/>
          <a:p>
            <a:pPr algn="ctr"/>
            <a:r>
              <a:rPr sz="1100" b="0">
                <a:solidFill>
                  <a:srgbClr val="1C2420"/>
                </a:solidFill>
              </a:rPr>
              <a:t>Solo parents</a:t>
            </a:r>
          </a:p>
        </p:txBody>
      </p:sp>
      <p:sp>
        <p:nvSpPr>
          <p:cNvPr id="40" name="TextBox 39"/>
          <p:cNvSpPr txBox="1"/>
          <p:nvPr/>
        </p:nvSpPr>
        <p:spPr>
          <a:xfrm>
            <a:off x="685800" y="3200400"/>
            <a:ext cx="3566160" cy="237744"/>
          </a:xfrm>
          <a:prstGeom prst="rect">
            <a:avLst/>
          </a:prstGeom>
          <a:noFill/>
        </p:spPr>
        <p:txBody>
          <a:bodyPr wrap="square" lIns="0" rIns="0" tIns="0" bIns="0" anchor="t">
            <a:spAutoFit/>
          </a:bodyPr>
          <a:lstStyle/>
          <a:p>
            <a:pPr algn="l"/>
            <a:r>
              <a:rPr sz="1300" b="1">
                <a:solidFill>
                  <a:srgbClr val="1C2420"/>
                </a:solidFill>
              </a:rPr>
              <a:t>Listed by barangay and household</a:t>
            </a:r>
          </a:p>
        </p:txBody>
      </p:sp>
      <p:sp>
        <p:nvSpPr>
          <p:cNvPr id="41" name="TextBox 40"/>
          <p:cNvSpPr txBox="1"/>
          <p:nvPr/>
        </p:nvSpPr>
        <p:spPr>
          <a:xfrm>
            <a:off x="685800" y="3447288"/>
            <a:ext cx="3566160" cy="274320"/>
          </a:xfrm>
          <a:prstGeom prst="rect">
            <a:avLst/>
          </a:prstGeom>
          <a:noFill/>
        </p:spPr>
        <p:txBody>
          <a:bodyPr wrap="square" lIns="0" rIns="0" tIns="0" bIns="0" anchor="t">
            <a:spAutoFit/>
          </a:bodyPr>
          <a:lstStyle/>
          <a:p>
            <a:pPr algn="l"/>
            <a:r>
              <a:rPr sz="1150" b="0">
                <a:solidFill>
                  <a:srgbClr val="5B655F"/>
                </a:solidFill>
              </a:rPr>
              <a:t>Members of a household stay together on the list.</a:t>
            </a:r>
          </a:p>
        </p:txBody>
      </p:sp>
      <p:sp>
        <p:nvSpPr>
          <p:cNvPr id="42" name="TextBox 41"/>
          <p:cNvSpPr txBox="1"/>
          <p:nvPr/>
        </p:nvSpPr>
        <p:spPr>
          <a:xfrm>
            <a:off x="685800" y="3840480"/>
            <a:ext cx="3566160" cy="237744"/>
          </a:xfrm>
          <a:prstGeom prst="rect">
            <a:avLst/>
          </a:prstGeom>
          <a:noFill/>
        </p:spPr>
        <p:txBody>
          <a:bodyPr wrap="square" lIns="0" rIns="0" tIns="0" bIns="0" anchor="t">
            <a:spAutoFit/>
          </a:bodyPr>
          <a:lstStyle/>
          <a:p>
            <a:pPr algn="l"/>
            <a:r>
              <a:rPr sz="1300" b="1">
                <a:solidFill>
                  <a:srgbClr val="1C2420"/>
                </a:solidFill>
              </a:rPr>
              <a:t>Printed for rescue teams</a:t>
            </a:r>
          </a:p>
        </p:txBody>
      </p:sp>
      <p:sp>
        <p:nvSpPr>
          <p:cNvPr id="43" name="TextBox 42"/>
          <p:cNvSpPr txBox="1"/>
          <p:nvPr/>
        </p:nvSpPr>
        <p:spPr>
          <a:xfrm>
            <a:off x="685800" y="4087368"/>
            <a:ext cx="3566160" cy="274320"/>
          </a:xfrm>
          <a:prstGeom prst="rect">
            <a:avLst/>
          </a:prstGeom>
          <a:noFill/>
        </p:spPr>
        <p:txBody>
          <a:bodyPr wrap="square" lIns="0" rIns="0" tIns="0" bIns="0" anchor="t">
            <a:spAutoFit/>
          </a:bodyPr>
          <a:lstStyle/>
          <a:p>
            <a:pPr algn="l"/>
            <a:r>
              <a:rPr sz="1150" b="0">
                <a:solidFill>
                  <a:srgbClr val="5B655F"/>
                </a:solidFill>
              </a:rPr>
              <a:t>One barangay's list on paper, ready to carry.</a:t>
            </a:r>
          </a:p>
        </p:txBody>
      </p:sp>
      <p:sp>
        <p:nvSpPr>
          <p:cNvPr id="44" name="Rounded Rectangle 43"/>
          <p:cNvSpPr/>
          <p:nvPr/>
        </p:nvSpPr>
        <p:spPr>
          <a:xfrm>
            <a:off x="4663440" y="1234440"/>
            <a:ext cx="4023360" cy="3200400"/>
          </a:xfrm>
          <a:prstGeom prst="roundRect">
            <a:avLst>
              <a:gd name="adj" fmla="val 2285"/>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892040" y="1463040"/>
            <a:ext cx="594360" cy="594360"/>
          </a:xfrm>
          <a:prstGeom prst="ellipse">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c_check_0F6B4C.png"/>
          <p:cNvPicPr>
            <a:picLocks noChangeAspect="1"/>
          </p:cNvPicPr>
          <p:nvPr/>
        </p:nvPicPr>
        <p:blipFill>
          <a:blip r:embed="rId4"/>
          <a:stretch>
            <a:fillRect/>
          </a:stretch>
        </p:blipFill>
        <p:spPr>
          <a:xfrm>
            <a:off x="5040629" y="1611630"/>
            <a:ext cx="297180" cy="297180"/>
          </a:xfrm>
          <a:prstGeom prst="rect">
            <a:avLst/>
          </a:prstGeom>
        </p:spPr>
      </p:pic>
      <p:sp>
        <p:nvSpPr>
          <p:cNvPr id="47" name="TextBox 46"/>
          <p:cNvSpPr txBox="1"/>
          <p:nvPr/>
        </p:nvSpPr>
        <p:spPr>
          <a:xfrm>
            <a:off x="5669280" y="1463040"/>
            <a:ext cx="2788920" cy="594360"/>
          </a:xfrm>
          <a:prstGeom prst="rect">
            <a:avLst/>
          </a:prstGeom>
          <a:noFill/>
        </p:spPr>
        <p:txBody>
          <a:bodyPr wrap="square" lIns="0" rIns="0" tIns="0" bIns="0" anchor="ctr">
            <a:spAutoFit/>
          </a:bodyPr>
          <a:lstStyle/>
          <a:p>
            <a:pPr algn="l"/>
            <a:r>
              <a:rPr sz="1600" b="1">
                <a:solidFill>
                  <a:srgbClr val="1C2420"/>
                </a:solidFill>
              </a:rPr>
              <a:t>After: who has received relief</a:t>
            </a:r>
          </a:p>
        </p:txBody>
      </p:sp>
      <p:sp>
        <p:nvSpPr>
          <p:cNvPr id="48" name="TextBox 47"/>
          <p:cNvSpPr txBox="1"/>
          <p:nvPr/>
        </p:nvSpPr>
        <p:spPr>
          <a:xfrm>
            <a:off x="4892040" y="2286000"/>
            <a:ext cx="3566160" cy="237744"/>
          </a:xfrm>
          <a:prstGeom prst="rect">
            <a:avLst/>
          </a:prstGeom>
          <a:noFill/>
        </p:spPr>
        <p:txBody>
          <a:bodyPr wrap="square" lIns="0" rIns="0" tIns="0" bIns="0" anchor="t">
            <a:spAutoFit/>
          </a:bodyPr>
          <a:lstStyle/>
          <a:p>
            <a:pPr algn="l"/>
            <a:r>
              <a:rPr sz="1300" b="1">
                <a:solidFill>
                  <a:srgbClr val="1C2420"/>
                </a:solidFill>
              </a:rPr>
              <a:t>One claim per household, per event</a:t>
            </a:r>
          </a:p>
        </p:txBody>
      </p:sp>
      <p:sp>
        <p:nvSpPr>
          <p:cNvPr id="49" name="TextBox 48"/>
          <p:cNvSpPr txBox="1"/>
          <p:nvPr/>
        </p:nvSpPr>
        <p:spPr>
          <a:xfrm>
            <a:off x="4892040" y="2532888"/>
            <a:ext cx="3566160" cy="365760"/>
          </a:xfrm>
          <a:prstGeom prst="rect">
            <a:avLst/>
          </a:prstGeom>
          <a:noFill/>
        </p:spPr>
        <p:txBody>
          <a:bodyPr wrap="square" lIns="0" rIns="0" tIns="0" bIns="0" anchor="t">
            <a:spAutoFit/>
          </a:bodyPr>
          <a:lstStyle/>
          <a:p>
            <a:pPr algn="l"/>
            <a:r>
              <a:rPr sz="1150" b="0">
                <a:solidFill>
                  <a:srgbClr val="5B655F"/>
                </a:solidFill>
              </a:rPr>
              <a:t>Staff mark relief as received when each household gets it.</a:t>
            </a:r>
          </a:p>
        </p:txBody>
      </p:sp>
      <p:sp>
        <p:nvSpPr>
          <p:cNvPr id="50" name="TextBox 49"/>
          <p:cNvSpPr txBox="1"/>
          <p:nvPr/>
        </p:nvSpPr>
        <p:spPr>
          <a:xfrm>
            <a:off x="4892040" y="2926080"/>
            <a:ext cx="3566160" cy="237744"/>
          </a:xfrm>
          <a:prstGeom prst="rect">
            <a:avLst/>
          </a:prstGeom>
          <a:noFill/>
        </p:spPr>
        <p:txBody>
          <a:bodyPr wrap="square" lIns="0" rIns="0" tIns="0" bIns="0" anchor="t">
            <a:spAutoFit/>
          </a:bodyPr>
          <a:lstStyle/>
          <a:p>
            <a:pPr algn="l"/>
            <a:r>
              <a:rPr sz="1300" b="1">
                <a:solidFill>
                  <a:srgbClr val="1C2420"/>
                </a:solidFill>
              </a:rPr>
              <a:t>Who is still waiting</a:t>
            </a:r>
          </a:p>
        </p:txBody>
      </p:sp>
      <p:sp>
        <p:nvSpPr>
          <p:cNvPr id="51" name="TextBox 50"/>
          <p:cNvSpPr txBox="1"/>
          <p:nvPr/>
        </p:nvSpPr>
        <p:spPr>
          <a:xfrm>
            <a:off x="4892040" y="3172968"/>
            <a:ext cx="3566160" cy="365760"/>
          </a:xfrm>
          <a:prstGeom prst="rect">
            <a:avLst/>
          </a:prstGeom>
          <a:noFill/>
        </p:spPr>
        <p:txBody>
          <a:bodyPr wrap="square" lIns="0" rIns="0" tIns="0" bIns="0" anchor="t">
            <a:spAutoFit/>
          </a:bodyPr>
          <a:lstStyle/>
          <a:p>
            <a:pPr algn="l"/>
            <a:r>
              <a:rPr sz="1150" b="0">
                <a:solidFill>
                  <a:srgbClr val="5B655F"/>
                </a:solidFill>
              </a:rPr>
              <a:t>Choose a relief event to list households not yet reached.</a:t>
            </a:r>
          </a:p>
        </p:txBody>
      </p:sp>
      <p:sp>
        <p:nvSpPr>
          <p:cNvPr id="52" name="TextBox 51"/>
          <p:cNvSpPr txBox="1"/>
          <p:nvPr/>
        </p:nvSpPr>
        <p:spPr>
          <a:xfrm>
            <a:off x="4892040" y="3566160"/>
            <a:ext cx="3566160" cy="237744"/>
          </a:xfrm>
          <a:prstGeom prst="rect">
            <a:avLst/>
          </a:prstGeom>
          <a:noFill/>
        </p:spPr>
        <p:txBody>
          <a:bodyPr wrap="square" lIns="0" rIns="0" tIns="0" bIns="0" anchor="t">
            <a:spAutoFit/>
          </a:bodyPr>
          <a:lstStyle/>
          <a:p>
            <a:pPr algn="l"/>
            <a:r>
              <a:rPr sz="1300" b="1">
                <a:solidFill>
                  <a:srgbClr val="1C2420"/>
                </a:solidFill>
              </a:rPr>
              <a:t>Kept by the disaster office</a:t>
            </a:r>
          </a:p>
        </p:txBody>
      </p:sp>
      <p:sp>
        <p:nvSpPr>
          <p:cNvPr id="53" name="TextBox 52"/>
          <p:cNvSpPr txBox="1"/>
          <p:nvPr/>
        </p:nvSpPr>
        <p:spPr>
          <a:xfrm>
            <a:off x="4892040" y="3813048"/>
            <a:ext cx="3566160" cy="365760"/>
          </a:xfrm>
          <a:prstGeom prst="rect">
            <a:avLst/>
          </a:prstGeom>
          <a:noFill/>
        </p:spPr>
        <p:txBody>
          <a:bodyPr wrap="square" lIns="0" rIns="0" tIns="0" bIns="0" anchor="t">
            <a:spAutoFit/>
          </a:bodyPr>
          <a:lstStyle/>
          <a:p>
            <a:pPr algn="l"/>
            <a:r>
              <a:rPr sz="1150" b="0">
                <a:solidFill>
                  <a:srgbClr val="5B655F"/>
                </a:solidFill>
              </a:rPr>
              <a:t>CDRRMO records relief; the City sees the totals.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each person gets from it</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
        <p:nvSpPr>
          <p:cNvPr id="26" name="Rounded Rectangle 25"/>
          <p:cNvSpPr/>
          <p:nvPr/>
        </p:nvSpPr>
        <p:spPr>
          <a:xfrm>
            <a:off x="457200" y="1234440"/>
            <a:ext cx="1828800" cy="3200400"/>
          </a:xfrm>
          <a:prstGeom prst="roundRect">
            <a:avLst>
              <a:gd name="adj" fmla="val 4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1463040"/>
            <a:ext cx="548640" cy="54864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_chart_FFFFFF.png"/>
          <p:cNvPicPr>
            <a:picLocks noChangeAspect="1"/>
          </p:cNvPicPr>
          <p:nvPr/>
        </p:nvPicPr>
        <p:blipFill>
          <a:blip r:embed="rId3"/>
          <a:stretch>
            <a:fillRect/>
          </a:stretch>
        </p:blipFill>
        <p:spPr>
          <a:xfrm>
            <a:off x="777240" y="1600200"/>
            <a:ext cx="274320" cy="274320"/>
          </a:xfrm>
          <a:prstGeom prst="rect">
            <a:avLst/>
          </a:prstGeom>
        </p:spPr>
      </p:pic>
      <p:sp>
        <p:nvSpPr>
          <p:cNvPr id="29" name="TextBox 28"/>
          <p:cNvSpPr txBox="1"/>
          <p:nvPr/>
        </p:nvSpPr>
        <p:spPr>
          <a:xfrm>
            <a:off x="640080" y="2212848"/>
            <a:ext cx="1463040" cy="502920"/>
          </a:xfrm>
          <a:prstGeom prst="rect">
            <a:avLst/>
          </a:prstGeom>
          <a:noFill/>
        </p:spPr>
        <p:txBody>
          <a:bodyPr wrap="square" lIns="0" rIns="0" tIns="0" bIns="0" anchor="t">
            <a:spAutoFit/>
          </a:bodyPr>
          <a:lstStyle/>
          <a:p>
            <a:pPr algn="l"/>
            <a:r>
              <a:rPr sz="1500" b="1">
                <a:solidFill>
                  <a:srgbClr val="1C2420"/>
                </a:solidFill>
              </a:rPr>
              <a:t>City officials</a:t>
            </a:r>
          </a:p>
        </p:txBody>
      </p:sp>
      <p:sp>
        <p:nvSpPr>
          <p:cNvPr id="30" name="TextBox 29"/>
          <p:cNvSpPr txBox="1"/>
          <p:nvPr/>
        </p:nvSpPr>
        <p:spPr>
          <a:xfrm>
            <a:off x="640080" y="2743200"/>
            <a:ext cx="1463040" cy="1554480"/>
          </a:xfrm>
          <a:prstGeom prst="rect">
            <a:avLst/>
          </a:prstGeom>
          <a:noFill/>
        </p:spPr>
        <p:txBody>
          <a:bodyPr wrap="square" lIns="0" rIns="0" tIns="0" bIns="0" anchor="t">
            <a:spAutoFit/>
          </a:bodyPr>
          <a:lstStyle/>
          <a:p>
            <a:pPr algn="l"/>
            <a:r>
              <a:rPr sz="1200" b="0">
                <a:solidFill>
                  <a:srgbClr val="5B655F"/>
                </a:solidFill>
              </a:rPr>
              <a:t>The city in counts and charts: which barangays are reached and which are not. View only, with no names shown.</a:t>
            </a:r>
          </a:p>
        </p:txBody>
      </p:sp>
      <p:sp>
        <p:nvSpPr>
          <p:cNvPr id="31" name="Rounded Rectangle 30"/>
          <p:cNvSpPr/>
          <p:nvPr/>
        </p:nvSpPr>
        <p:spPr>
          <a:xfrm>
            <a:off x="2587752" y="1234440"/>
            <a:ext cx="1828800" cy="3200400"/>
          </a:xfrm>
          <a:prstGeom prst="roundRect">
            <a:avLst>
              <a:gd name="adj" fmla="val 4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770632" y="1463040"/>
            <a:ext cx="548640" cy="54864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c_check_FFFFFF.png"/>
          <p:cNvPicPr>
            <a:picLocks noChangeAspect="1"/>
          </p:cNvPicPr>
          <p:nvPr/>
        </p:nvPicPr>
        <p:blipFill>
          <a:blip r:embed="rId4"/>
          <a:stretch>
            <a:fillRect/>
          </a:stretch>
        </p:blipFill>
        <p:spPr>
          <a:xfrm>
            <a:off x="2907792" y="1600200"/>
            <a:ext cx="274320" cy="274320"/>
          </a:xfrm>
          <a:prstGeom prst="rect">
            <a:avLst/>
          </a:prstGeom>
        </p:spPr>
      </p:pic>
      <p:sp>
        <p:nvSpPr>
          <p:cNvPr id="34" name="TextBox 33"/>
          <p:cNvSpPr txBox="1"/>
          <p:nvPr/>
        </p:nvSpPr>
        <p:spPr>
          <a:xfrm>
            <a:off x="2770632" y="2212848"/>
            <a:ext cx="1463040" cy="502920"/>
          </a:xfrm>
          <a:prstGeom prst="rect">
            <a:avLst/>
          </a:prstGeom>
          <a:noFill/>
        </p:spPr>
        <p:txBody>
          <a:bodyPr wrap="square" lIns="0" rIns="0" tIns="0" bIns="0" anchor="t">
            <a:spAutoFit/>
          </a:bodyPr>
          <a:lstStyle/>
          <a:p>
            <a:pPr algn="l"/>
            <a:r>
              <a:rPr sz="1500" b="1">
                <a:solidFill>
                  <a:srgbClr val="1C2420"/>
                </a:solidFill>
              </a:rPr>
              <a:t>Office heads</a:t>
            </a:r>
          </a:p>
        </p:txBody>
      </p:sp>
      <p:sp>
        <p:nvSpPr>
          <p:cNvPr id="35" name="TextBox 34"/>
          <p:cNvSpPr txBox="1"/>
          <p:nvPr/>
        </p:nvSpPr>
        <p:spPr>
          <a:xfrm>
            <a:off x="2770632" y="2743200"/>
            <a:ext cx="1463040" cy="1554480"/>
          </a:xfrm>
          <a:prstGeom prst="rect">
            <a:avLst/>
          </a:prstGeom>
          <a:noFill/>
        </p:spPr>
        <p:txBody>
          <a:bodyPr wrap="square" lIns="0" rIns="0" tIns="0" bIns="0" anchor="t">
            <a:spAutoFit/>
          </a:bodyPr>
          <a:lstStyle/>
          <a:p>
            <a:pPr algn="l"/>
            <a:r>
              <a:rPr sz="1200" b="0">
                <a:solidFill>
                  <a:srgbClr val="5B655F"/>
                </a:solidFill>
              </a:rPr>
              <a:t>A list of what needs attention, and reports by sex, age group, barangay and month for any period.</a:t>
            </a:r>
          </a:p>
        </p:txBody>
      </p:sp>
      <p:sp>
        <p:nvSpPr>
          <p:cNvPr id="36" name="Rounded Rectangle 35"/>
          <p:cNvSpPr/>
          <p:nvPr/>
        </p:nvSpPr>
        <p:spPr>
          <a:xfrm>
            <a:off x="4718304" y="1234440"/>
            <a:ext cx="1828800" cy="3200400"/>
          </a:xfrm>
          <a:prstGeom prst="roundRect">
            <a:avLst>
              <a:gd name="adj" fmla="val 4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01184" y="1463040"/>
            <a:ext cx="548640" cy="54864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idcard_FFFFFF.png"/>
          <p:cNvPicPr>
            <a:picLocks noChangeAspect="1"/>
          </p:cNvPicPr>
          <p:nvPr/>
        </p:nvPicPr>
        <p:blipFill>
          <a:blip r:embed="rId5"/>
          <a:stretch>
            <a:fillRect/>
          </a:stretch>
        </p:blipFill>
        <p:spPr>
          <a:xfrm>
            <a:off x="5038344" y="1600200"/>
            <a:ext cx="274320" cy="274320"/>
          </a:xfrm>
          <a:prstGeom prst="rect">
            <a:avLst/>
          </a:prstGeom>
        </p:spPr>
      </p:pic>
      <p:sp>
        <p:nvSpPr>
          <p:cNvPr id="39" name="TextBox 38"/>
          <p:cNvSpPr txBox="1"/>
          <p:nvPr/>
        </p:nvSpPr>
        <p:spPr>
          <a:xfrm>
            <a:off x="4901184" y="2212848"/>
            <a:ext cx="1463040" cy="502920"/>
          </a:xfrm>
          <a:prstGeom prst="rect">
            <a:avLst/>
          </a:prstGeom>
          <a:noFill/>
        </p:spPr>
        <p:txBody>
          <a:bodyPr wrap="square" lIns="0" rIns="0" tIns="0" bIns="0" anchor="t">
            <a:spAutoFit/>
          </a:bodyPr>
          <a:lstStyle/>
          <a:p>
            <a:pPr algn="l"/>
            <a:r>
              <a:rPr sz="1500" b="1">
                <a:solidFill>
                  <a:srgbClr val="1C2420"/>
                </a:solidFill>
              </a:rPr>
              <a:t>Front-line staff</a:t>
            </a:r>
          </a:p>
        </p:txBody>
      </p:sp>
      <p:sp>
        <p:nvSpPr>
          <p:cNvPr id="40" name="TextBox 39"/>
          <p:cNvSpPr txBox="1"/>
          <p:nvPr/>
        </p:nvSpPr>
        <p:spPr>
          <a:xfrm>
            <a:off x="4901184" y="2743200"/>
            <a:ext cx="1463040" cy="1554480"/>
          </a:xfrm>
          <a:prstGeom prst="rect">
            <a:avLst/>
          </a:prstGeom>
          <a:noFill/>
        </p:spPr>
        <p:txBody>
          <a:bodyPr wrap="square" lIns="0" rIns="0" tIns="0" bIns="0" anchor="t">
            <a:spAutoFit/>
          </a:bodyPr>
          <a:lstStyle/>
          <a:p>
            <a:pPr algn="l"/>
            <a:r>
              <a:rPr sz="1200" b="0">
                <a:solidFill>
                  <a:srgbClr val="5B655F"/>
                </a:solidFill>
              </a:rPr>
              <a:t>Register a person once, import existing spreadsheets, and print a certificate or ID from the record.</a:t>
            </a:r>
          </a:p>
        </p:txBody>
      </p:sp>
      <p:sp>
        <p:nvSpPr>
          <p:cNvPr id="41" name="Rounded Rectangle 40"/>
          <p:cNvSpPr/>
          <p:nvPr/>
        </p:nvSpPr>
        <p:spPr>
          <a:xfrm>
            <a:off x="6848856" y="1234440"/>
            <a:ext cx="1828800" cy="3200400"/>
          </a:xfrm>
          <a:prstGeom prst="roundRect">
            <a:avLst>
              <a:gd name="adj" fmla="val 4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031736" y="1463040"/>
            <a:ext cx="548640" cy="548640"/>
          </a:xfrm>
          <a:prstGeom prst="ellipse">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c_users_FFFFFF.png"/>
          <p:cNvPicPr>
            <a:picLocks noChangeAspect="1"/>
          </p:cNvPicPr>
          <p:nvPr/>
        </p:nvPicPr>
        <p:blipFill>
          <a:blip r:embed="rId6"/>
          <a:stretch>
            <a:fillRect/>
          </a:stretch>
        </p:blipFill>
        <p:spPr>
          <a:xfrm>
            <a:off x="7168896" y="1600200"/>
            <a:ext cx="274320" cy="274320"/>
          </a:xfrm>
          <a:prstGeom prst="rect">
            <a:avLst/>
          </a:prstGeom>
        </p:spPr>
      </p:pic>
      <p:sp>
        <p:nvSpPr>
          <p:cNvPr id="44" name="TextBox 43"/>
          <p:cNvSpPr txBox="1"/>
          <p:nvPr/>
        </p:nvSpPr>
        <p:spPr>
          <a:xfrm>
            <a:off x="7031736" y="2212848"/>
            <a:ext cx="1463040" cy="502920"/>
          </a:xfrm>
          <a:prstGeom prst="rect">
            <a:avLst/>
          </a:prstGeom>
          <a:noFill/>
        </p:spPr>
        <p:txBody>
          <a:bodyPr wrap="square" lIns="0" rIns="0" tIns="0" bIns="0" anchor="t">
            <a:spAutoFit/>
          </a:bodyPr>
          <a:lstStyle/>
          <a:p>
            <a:pPr algn="l"/>
            <a:r>
              <a:rPr sz="1500" b="1">
                <a:solidFill>
                  <a:srgbClr val="1C2420"/>
                </a:solidFill>
              </a:rPr>
              <a:t>Residents</a:t>
            </a:r>
          </a:p>
        </p:txBody>
      </p:sp>
      <p:sp>
        <p:nvSpPr>
          <p:cNvPr id="45" name="TextBox 44"/>
          <p:cNvSpPr txBox="1"/>
          <p:nvPr/>
        </p:nvSpPr>
        <p:spPr>
          <a:xfrm>
            <a:off x="7031736" y="2743200"/>
            <a:ext cx="1463040" cy="1554480"/>
          </a:xfrm>
          <a:prstGeom prst="rect">
            <a:avLst/>
          </a:prstGeom>
          <a:noFill/>
        </p:spPr>
        <p:txBody>
          <a:bodyPr wrap="square" lIns="0" rIns="0" tIns="0" bIns="0" anchor="t">
            <a:spAutoFit/>
          </a:bodyPr>
          <a:lstStyle/>
          <a:p>
            <a:pPr algn="l"/>
            <a:r>
              <a:rPr sz="1200" b="0">
                <a:solidFill>
                  <a:srgbClr val="5B655F"/>
                </a:solidFill>
              </a:rPr>
              <a:t>Recorded once and recognized in every office, with their personal data protected.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Works alongside CBMS, not instead of it</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
        <p:nvSpPr>
          <p:cNvPr id="26" name="Rounded Rectangle 25"/>
          <p:cNvSpPr/>
          <p:nvPr/>
        </p:nvSpPr>
        <p:spPr>
          <a:xfrm>
            <a:off x="2377440" y="1234440"/>
            <a:ext cx="3017520" cy="457200"/>
          </a:xfrm>
          <a:prstGeom prst="roundRect">
            <a:avLst>
              <a:gd name="adj" fmla="val 16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0" y="1234440"/>
            <a:ext cx="2651760" cy="457200"/>
          </a:xfrm>
          <a:prstGeom prst="rect">
            <a:avLst/>
          </a:prstGeom>
          <a:noFill/>
        </p:spPr>
        <p:txBody>
          <a:bodyPr wrap="square" lIns="0" rIns="0" tIns="0" bIns="0" anchor="ctr">
            <a:spAutoFit/>
          </a:bodyPr>
          <a:lstStyle/>
          <a:p>
            <a:pPr algn="l"/>
            <a:r>
              <a:rPr sz="1500" b="1">
                <a:solidFill>
                  <a:srgbClr val="1C2420"/>
                </a:solidFill>
              </a:rPr>
              <a:t>CBMS</a:t>
            </a:r>
          </a:p>
        </p:txBody>
      </p:sp>
      <p:sp>
        <p:nvSpPr>
          <p:cNvPr id="28" name="Rounded Rectangle 27"/>
          <p:cNvSpPr/>
          <p:nvPr/>
        </p:nvSpPr>
        <p:spPr>
          <a:xfrm>
            <a:off x="5669280" y="1234440"/>
            <a:ext cx="3017520" cy="457200"/>
          </a:xfrm>
          <a:prstGeom prst="roundRect">
            <a:avLst>
              <a:gd name="adj" fmla="val 16000"/>
            </a:avLst>
          </a:prstGeom>
          <a:solidFill>
            <a:srgbClr val="0F6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1234440"/>
            <a:ext cx="2651760" cy="457200"/>
          </a:xfrm>
          <a:prstGeom prst="rect">
            <a:avLst/>
          </a:prstGeom>
          <a:noFill/>
        </p:spPr>
        <p:txBody>
          <a:bodyPr wrap="square" lIns="0" rIns="0" tIns="0" bIns="0" anchor="ctr">
            <a:spAutoFit/>
          </a:bodyPr>
          <a:lstStyle/>
          <a:p>
            <a:pPr algn="l"/>
            <a:r>
              <a:rPr sz="1500" b="1">
                <a:solidFill>
                  <a:srgbClr val="FFFFFF"/>
                </a:solidFill>
              </a:rPr>
              <a:t>VUCRMS</a:t>
            </a:r>
          </a:p>
        </p:txBody>
      </p:sp>
      <p:sp>
        <p:nvSpPr>
          <p:cNvPr id="30" name="TextBox 29"/>
          <p:cNvSpPr txBox="1"/>
          <p:nvPr/>
        </p:nvSpPr>
        <p:spPr>
          <a:xfrm>
            <a:off x="457200" y="1810512"/>
            <a:ext cx="1737360" cy="420624"/>
          </a:xfrm>
          <a:prstGeom prst="rect">
            <a:avLst/>
          </a:prstGeom>
          <a:noFill/>
        </p:spPr>
        <p:txBody>
          <a:bodyPr wrap="square" lIns="0" rIns="0" tIns="0" bIns="0" anchor="ctr">
            <a:spAutoFit/>
          </a:bodyPr>
          <a:lstStyle/>
          <a:p>
            <a:pPr algn="l"/>
            <a:r>
              <a:rPr sz="1250" b="1">
                <a:solidFill>
                  <a:srgbClr val="5B655F"/>
                </a:solidFill>
              </a:rPr>
              <a:t>What it is</a:t>
            </a:r>
          </a:p>
        </p:txBody>
      </p:sp>
      <p:sp>
        <p:nvSpPr>
          <p:cNvPr id="31" name="Rounded Rectangle 30"/>
          <p:cNvSpPr/>
          <p:nvPr/>
        </p:nvSpPr>
        <p:spPr>
          <a:xfrm>
            <a:off x="2377440" y="1810512"/>
            <a:ext cx="3017520" cy="420624"/>
          </a:xfrm>
          <a:prstGeom prst="roundRect">
            <a:avLst>
              <a:gd name="adj" fmla="val 17391"/>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0" y="1810512"/>
            <a:ext cx="2697480" cy="420624"/>
          </a:xfrm>
          <a:prstGeom prst="rect">
            <a:avLst/>
          </a:prstGeom>
          <a:noFill/>
        </p:spPr>
        <p:txBody>
          <a:bodyPr wrap="square" lIns="0" rIns="0" tIns="0" bIns="0" anchor="ctr">
            <a:spAutoFit/>
          </a:bodyPr>
          <a:lstStyle/>
          <a:p>
            <a:pPr algn="l"/>
            <a:r>
              <a:rPr sz="1250" b="0">
                <a:solidFill>
                  <a:srgbClr val="1C2420"/>
                </a:solidFill>
              </a:rPr>
              <a:t>A household census of the whole city</a:t>
            </a:r>
          </a:p>
        </p:txBody>
      </p:sp>
      <p:sp>
        <p:nvSpPr>
          <p:cNvPr id="33" name="Rounded Rectangle 32"/>
          <p:cNvSpPr/>
          <p:nvPr/>
        </p:nvSpPr>
        <p:spPr>
          <a:xfrm>
            <a:off x="5669280" y="1810512"/>
            <a:ext cx="3017520" cy="420624"/>
          </a:xfrm>
          <a:prstGeom prst="roundRect">
            <a:avLst>
              <a:gd name="adj" fmla="val 17391"/>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0" y="1810512"/>
            <a:ext cx="2697480" cy="420624"/>
          </a:xfrm>
          <a:prstGeom prst="rect">
            <a:avLst/>
          </a:prstGeom>
          <a:noFill/>
        </p:spPr>
        <p:txBody>
          <a:bodyPr wrap="square" lIns="0" rIns="0" tIns="0" bIns="0" anchor="ctr">
            <a:spAutoFit/>
          </a:bodyPr>
          <a:lstStyle/>
          <a:p>
            <a:pPr algn="l"/>
            <a:r>
              <a:rPr sz="1250" b="0">
                <a:solidFill>
                  <a:srgbClr val="1C2420"/>
                </a:solidFill>
              </a:rPr>
              <a:t>The records offices create every day</a:t>
            </a:r>
          </a:p>
        </p:txBody>
      </p:sp>
      <p:sp>
        <p:nvSpPr>
          <p:cNvPr id="35" name="TextBox 34"/>
          <p:cNvSpPr txBox="1"/>
          <p:nvPr/>
        </p:nvSpPr>
        <p:spPr>
          <a:xfrm>
            <a:off x="457200" y="2340864"/>
            <a:ext cx="1737360" cy="420624"/>
          </a:xfrm>
          <a:prstGeom prst="rect">
            <a:avLst/>
          </a:prstGeom>
          <a:noFill/>
        </p:spPr>
        <p:txBody>
          <a:bodyPr wrap="square" lIns="0" rIns="0" tIns="0" bIns="0" anchor="ctr">
            <a:spAutoFit/>
          </a:bodyPr>
          <a:lstStyle/>
          <a:p>
            <a:pPr algn="l"/>
            <a:r>
              <a:rPr sz="1250" b="1">
                <a:solidFill>
                  <a:srgbClr val="5B655F"/>
                </a:solidFill>
              </a:rPr>
              <a:t>How often</a:t>
            </a:r>
          </a:p>
        </p:txBody>
      </p:sp>
      <p:sp>
        <p:nvSpPr>
          <p:cNvPr id="36" name="Rounded Rectangle 35"/>
          <p:cNvSpPr/>
          <p:nvPr/>
        </p:nvSpPr>
        <p:spPr>
          <a:xfrm>
            <a:off x="2377440" y="2340864"/>
            <a:ext cx="3017520" cy="420624"/>
          </a:xfrm>
          <a:prstGeom prst="roundRect">
            <a:avLst>
              <a:gd name="adj" fmla="val 17391"/>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60320" y="2340864"/>
            <a:ext cx="2697480" cy="420624"/>
          </a:xfrm>
          <a:prstGeom prst="rect">
            <a:avLst/>
          </a:prstGeom>
          <a:noFill/>
        </p:spPr>
        <p:txBody>
          <a:bodyPr wrap="square" lIns="0" rIns="0" tIns="0" bIns="0" anchor="ctr">
            <a:spAutoFit/>
          </a:bodyPr>
          <a:lstStyle/>
          <a:p>
            <a:pPr algn="l"/>
            <a:r>
              <a:rPr sz="1250" b="0">
                <a:solidFill>
                  <a:srgbClr val="1C2420"/>
                </a:solidFill>
              </a:rPr>
              <a:t>About every three years</a:t>
            </a:r>
          </a:p>
        </p:txBody>
      </p:sp>
      <p:sp>
        <p:nvSpPr>
          <p:cNvPr id="38" name="Rounded Rectangle 37"/>
          <p:cNvSpPr/>
          <p:nvPr/>
        </p:nvSpPr>
        <p:spPr>
          <a:xfrm>
            <a:off x="5669280" y="2340864"/>
            <a:ext cx="3017520" cy="420624"/>
          </a:xfrm>
          <a:prstGeom prst="roundRect">
            <a:avLst>
              <a:gd name="adj" fmla="val 17391"/>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52160" y="2340864"/>
            <a:ext cx="2697480" cy="420624"/>
          </a:xfrm>
          <a:prstGeom prst="rect">
            <a:avLst/>
          </a:prstGeom>
          <a:noFill/>
        </p:spPr>
        <p:txBody>
          <a:bodyPr wrap="square" lIns="0" rIns="0" tIns="0" bIns="0" anchor="ctr">
            <a:spAutoFit/>
          </a:bodyPr>
          <a:lstStyle/>
          <a:p>
            <a:pPr algn="l"/>
            <a:r>
              <a:rPr sz="1250" b="0">
                <a:solidFill>
                  <a:srgbClr val="1C2420"/>
                </a:solidFill>
              </a:rPr>
              <a:t>Updated with every transaction</a:t>
            </a:r>
          </a:p>
        </p:txBody>
      </p:sp>
      <p:sp>
        <p:nvSpPr>
          <p:cNvPr id="40" name="TextBox 39"/>
          <p:cNvSpPr txBox="1"/>
          <p:nvPr/>
        </p:nvSpPr>
        <p:spPr>
          <a:xfrm>
            <a:off x="457200" y="2871215"/>
            <a:ext cx="1737360" cy="420624"/>
          </a:xfrm>
          <a:prstGeom prst="rect">
            <a:avLst/>
          </a:prstGeom>
          <a:noFill/>
        </p:spPr>
        <p:txBody>
          <a:bodyPr wrap="square" lIns="0" rIns="0" tIns="0" bIns="0" anchor="ctr">
            <a:spAutoFit/>
          </a:bodyPr>
          <a:lstStyle/>
          <a:p>
            <a:pPr algn="l"/>
            <a:r>
              <a:rPr sz="1250" b="1">
                <a:solidFill>
                  <a:srgbClr val="5B655F"/>
                </a:solidFill>
              </a:rPr>
              <a:t>Used for</a:t>
            </a:r>
          </a:p>
        </p:txBody>
      </p:sp>
      <p:sp>
        <p:nvSpPr>
          <p:cNvPr id="41" name="Rounded Rectangle 40"/>
          <p:cNvSpPr/>
          <p:nvPr/>
        </p:nvSpPr>
        <p:spPr>
          <a:xfrm>
            <a:off x="2377440" y="2871215"/>
            <a:ext cx="3017520" cy="420624"/>
          </a:xfrm>
          <a:prstGeom prst="roundRect">
            <a:avLst>
              <a:gd name="adj" fmla="val 17391"/>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0" y="2871215"/>
            <a:ext cx="2697480" cy="420624"/>
          </a:xfrm>
          <a:prstGeom prst="rect">
            <a:avLst/>
          </a:prstGeom>
          <a:noFill/>
        </p:spPr>
        <p:txBody>
          <a:bodyPr wrap="square" lIns="0" rIns="0" tIns="0" bIns="0" anchor="ctr">
            <a:spAutoFit/>
          </a:bodyPr>
          <a:lstStyle/>
          <a:p>
            <a:pPr algn="l"/>
            <a:r>
              <a:rPr sz="1250" b="0">
                <a:solidFill>
                  <a:srgbClr val="1C2420"/>
                </a:solidFill>
              </a:rPr>
              <a:t>Poverty indicators and planning</a:t>
            </a:r>
          </a:p>
        </p:txBody>
      </p:sp>
      <p:sp>
        <p:nvSpPr>
          <p:cNvPr id="43" name="Rounded Rectangle 42"/>
          <p:cNvSpPr/>
          <p:nvPr/>
        </p:nvSpPr>
        <p:spPr>
          <a:xfrm>
            <a:off x="5669280" y="2871215"/>
            <a:ext cx="3017520" cy="420624"/>
          </a:xfrm>
          <a:prstGeom prst="roundRect">
            <a:avLst>
              <a:gd name="adj" fmla="val 17391"/>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52160" y="2871215"/>
            <a:ext cx="2697480" cy="420624"/>
          </a:xfrm>
          <a:prstGeom prst="rect">
            <a:avLst/>
          </a:prstGeom>
          <a:noFill/>
        </p:spPr>
        <p:txBody>
          <a:bodyPr wrap="square" lIns="0" rIns="0" tIns="0" bIns="0" anchor="ctr">
            <a:spAutoFit/>
          </a:bodyPr>
          <a:lstStyle/>
          <a:p>
            <a:pPr algn="l"/>
            <a:r>
              <a:rPr sz="1250" b="0">
                <a:solidFill>
                  <a:srgbClr val="1C2420"/>
                </a:solidFill>
              </a:rPr>
              <a:t>Serving residents and following up</a:t>
            </a:r>
          </a:p>
        </p:txBody>
      </p:sp>
      <p:sp>
        <p:nvSpPr>
          <p:cNvPr id="45" name="TextBox 44"/>
          <p:cNvSpPr txBox="1"/>
          <p:nvPr/>
        </p:nvSpPr>
        <p:spPr>
          <a:xfrm>
            <a:off x="457200" y="3401568"/>
            <a:ext cx="1737360" cy="420624"/>
          </a:xfrm>
          <a:prstGeom prst="rect">
            <a:avLst/>
          </a:prstGeom>
          <a:noFill/>
        </p:spPr>
        <p:txBody>
          <a:bodyPr wrap="square" lIns="0" rIns="0" tIns="0" bIns="0" anchor="ctr">
            <a:spAutoFit/>
          </a:bodyPr>
          <a:lstStyle/>
          <a:p>
            <a:pPr algn="l"/>
            <a:r>
              <a:rPr sz="1250" b="1">
                <a:solidFill>
                  <a:srgbClr val="5B655F"/>
                </a:solidFill>
              </a:rPr>
              <a:t>Basis</a:t>
            </a:r>
          </a:p>
        </p:txBody>
      </p:sp>
      <p:sp>
        <p:nvSpPr>
          <p:cNvPr id="46" name="Rounded Rectangle 45"/>
          <p:cNvSpPr/>
          <p:nvPr/>
        </p:nvSpPr>
        <p:spPr>
          <a:xfrm>
            <a:off x="2377440" y="3401568"/>
            <a:ext cx="3017520" cy="420624"/>
          </a:xfrm>
          <a:prstGeom prst="roundRect">
            <a:avLst>
              <a:gd name="adj" fmla="val 17391"/>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60320" y="3401568"/>
            <a:ext cx="2697480" cy="420624"/>
          </a:xfrm>
          <a:prstGeom prst="rect">
            <a:avLst/>
          </a:prstGeom>
          <a:noFill/>
        </p:spPr>
        <p:txBody>
          <a:bodyPr wrap="square" lIns="0" rIns="0" tIns="0" bIns="0" anchor="ctr">
            <a:spAutoFit/>
          </a:bodyPr>
          <a:lstStyle/>
          <a:p>
            <a:pPr algn="l"/>
            <a:r>
              <a:rPr sz="1250" b="0">
                <a:solidFill>
                  <a:srgbClr val="1C2420"/>
                </a:solidFill>
              </a:rPr>
              <a:t>Required by RA 11315</a:t>
            </a:r>
          </a:p>
        </p:txBody>
      </p:sp>
      <p:sp>
        <p:nvSpPr>
          <p:cNvPr id="48" name="Rounded Rectangle 47"/>
          <p:cNvSpPr/>
          <p:nvPr/>
        </p:nvSpPr>
        <p:spPr>
          <a:xfrm>
            <a:off x="5669280" y="3401568"/>
            <a:ext cx="3017520" cy="420624"/>
          </a:xfrm>
          <a:prstGeom prst="roundRect">
            <a:avLst>
              <a:gd name="adj" fmla="val 17391"/>
            </a:avLst>
          </a:prstGeom>
          <a:solidFill>
            <a:srgbClr val="E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52160" y="3401568"/>
            <a:ext cx="2697480" cy="420624"/>
          </a:xfrm>
          <a:prstGeom prst="rect">
            <a:avLst/>
          </a:prstGeom>
          <a:noFill/>
        </p:spPr>
        <p:txBody>
          <a:bodyPr wrap="square" lIns="0" rIns="0" tIns="0" bIns="0" anchor="ctr">
            <a:spAutoFit/>
          </a:bodyPr>
          <a:lstStyle/>
          <a:p>
            <a:pPr algn="l"/>
            <a:r>
              <a:rPr sz="1250" b="0">
                <a:solidFill>
                  <a:srgbClr val="1C2420"/>
                </a:solidFill>
              </a:rPr>
              <a:t>Proposed for adoption by the City</a:t>
            </a:r>
          </a:p>
        </p:txBody>
      </p:sp>
      <p:sp>
        <p:nvSpPr>
          <p:cNvPr id="50" name="TextBox 49"/>
          <p:cNvSpPr txBox="1"/>
          <p:nvPr/>
        </p:nvSpPr>
        <p:spPr>
          <a:xfrm>
            <a:off x="457200" y="4087368"/>
            <a:ext cx="8229600" cy="320040"/>
          </a:xfrm>
          <a:prstGeom prst="rect">
            <a:avLst/>
          </a:prstGeom>
          <a:noFill/>
        </p:spPr>
        <p:txBody>
          <a:bodyPr wrap="square" lIns="0" rIns="0" tIns="0" bIns="0" anchor="t">
            <a:spAutoFit/>
          </a:bodyPr>
          <a:lstStyle/>
          <a:p>
            <a:pPr algn="l"/>
            <a:r>
              <a:rPr sz="1400" b="1">
                <a:solidFill>
                  <a:srgbClr val="0F6B4C"/>
                </a:solidFill>
              </a:rPr>
              <a:t>CBMS shows where the City stood at the last census. VUCRMS shows where it stands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See it working: four things to watch</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
        <p:nvSpPr>
          <p:cNvPr id="26" name="Rounded Rectangle 25"/>
          <p:cNvSpPr/>
          <p:nvPr/>
        </p:nvSpPr>
        <p:spPr>
          <a:xfrm>
            <a:off x="457200" y="1234440"/>
            <a:ext cx="4023360" cy="1463040"/>
          </a:xfrm>
          <a:prstGeom prst="roundRect">
            <a:avLst>
              <a:gd name="adj" fmla="val 5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508760"/>
            <a:ext cx="548640" cy="914400"/>
          </a:xfrm>
          <a:prstGeom prst="rect">
            <a:avLst/>
          </a:prstGeom>
          <a:noFill/>
        </p:spPr>
        <p:txBody>
          <a:bodyPr wrap="square" lIns="0" rIns="0" tIns="0" bIns="0" anchor="t">
            <a:spAutoFit/>
          </a:bodyPr>
          <a:lstStyle/>
          <a:p>
            <a:pPr algn="l"/>
            <a:r>
              <a:rPr sz="4000" b="1">
                <a:solidFill>
                  <a:srgbClr val="B85042"/>
                </a:solidFill>
                <a:latin typeface="Cambria"/>
              </a:rPr>
              <a:t>1</a:t>
            </a:r>
          </a:p>
        </p:txBody>
      </p:sp>
      <p:sp>
        <p:nvSpPr>
          <p:cNvPr id="28" name="TextBox 27"/>
          <p:cNvSpPr txBox="1"/>
          <p:nvPr/>
        </p:nvSpPr>
        <p:spPr>
          <a:xfrm>
            <a:off x="1371600" y="1581912"/>
            <a:ext cx="2880360" cy="274320"/>
          </a:xfrm>
          <a:prstGeom prst="rect">
            <a:avLst/>
          </a:prstGeom>
          <a:noFill/>
        </p:spPr>
        <p:txBody>
          <a:bodyPr wrap="square" lIns="0" rIns="0" tIns="0" bIns="0" anchor="t">
            <a:spAutoFit/>
          </a:bodyPr>
          <a:lstStyle/>
          <a:p>
            <a:pPr algn="l"/>
            <a:r>
              <a:rPr sz="1500" b="1">
                <a:solidFill>
                  <a:srgbClr val="1C2420"/>
                </a:solidFill>
              </a:rPr>
              <a:t>Register a returning resident</a:t>
            </a:r>
          </a:p>
        </p:txBody>
      </p:sp>
      <p:sp>
        <p:nvSpPr>
          <p:cNvPr id="29" name="TextBox 28"/>
          <p:cNvSpPr txBox="1"/>
          <p:nvPr/>
        </p:nvSpPr>
        <p:spPr>
          <a:xfrm>
            <a:off x="1371600" y="1911095"/>
            <a:ext cx="2880360" cy="548640"/>
          </a:xfrm>
          <a:prstGeom prst="rect">
            <a:avLst/>
          </a:prstGeom>
          <a:noFill/>
        </p:spPr>
        <p:txBody>
          <a:bodyPr wrap="square" lIns="0" rIns="0" tIns="0" bIns="0" anchor="t">
            <a:spAutoFit/>
          </a:bodyPr>
          <a:lstStyle/>
          <a:p>
            <a:pPr algn="l"/>
            <a:r>
              <a:rPr sz="1200" b="0">
                <a:solidFill>
                  <a:srgbClr val="5B655F"/>
                </a:solidFill>
              </a:rPr>
              <a:t>The system finds them before a second copy is made.</a:t>
            </a:r>
          </a:p>
        </p:txBody>
      </p:sp>
      <p:sp>
        <p:nvSpPr>
          <p:cNvPr id="30" name="Rounded Rectangle 29"/>
          <p:cNvSpPr/>
          <p:nvPr/>
        </p:nvSpPr>
        <p:spPr>
          <a:xfrm>
            <a:off x="4663440" y="1234440"/>
            <a:ext cx="4023360" cy="1463040"/>
          </a:xfrm>
          <a:prstGeom prst="roundRect">
            <a:avLst>
              <a:gd name="adj" fmla="val 5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59" y="1508760"/>
            <a:ext cx="548640" cy="914400"/>
          </a:xfrm>
          <a:prstGeom prst="rect">
            <a:avLst/>
          </a:prstGeom>
          <a:noFill/>
        </p:spPr>
        <p:txBody>
          <a:bodyPr wrap="square" lIns="0" rIns="0" tIns="0" bIns="0" anchor="t">
            <a:spAutoFit/>
          </a:bodyPr>
          <a:lstStyle/>
          <a:p>
            <a:pPr algn="l"/>
            <a:r>
              <a:rPr sz="4000" b="1">
                <a:solidFill>
                  <a:srgbClr val="B85042"/>
                </a:solidFill>
                <a:latin typeface="Cambria"/>
              </a:rPr>
              <a:t>2</a:t>
            </a:r>
          </a:p>
        </p:txBody>
      </p:sp>
      <p:sp>
        <p:nvSpPr>
          <p:cNvPr id="32" name="TextBox 31"/>
          <p:cNvSpPr txBox="1"/>
          <p:nvPr/>
        </p:nvSpPr>
        <p:spPr>
          <a:xfrm>
            <a:off x="5577840" y="1581912"/>
            <a:ext cx="2880360" cy="274320"/>
          </a:xfrm>
          <a:prstGeom prst="rect">
            <a:avLst/>
          </a:prstGeom>
          <a:noFill/>
        </p:spPr>
        <p:txBody>
          <a:bodyPr wrap="square" lIns="0" rIns="0" tIns="0" bIns="0" anchor="t">
            <a:spAutoFit/>
          </a:bodyPr>
          <a:lstStyle/>
          <a:p>
            <a:pPr algn="l"/>
            <a:r>
              <a:rPr sz="1500" b="1">
                <a:solidFill>
                  <a:srgbClr val="1C2420"/>
                </a:solidFill>
              </a:rPr>
              <a:t>Click a bar on a chart</a:t>
            </a:r>
          </a:p>
        </p:txBody>
      </p:sp>
      <p:sp>
        <p:nvSpPr>
          <p:cNvPr id="33" name="TextBox 32"/>
          <p:cNvSpPr txBox="1"/>
          <p:nvPr/>
        </p:nvSpPr>
        <p:spPr>
          <a:xfrm>
            <a:off x="5577840" y="1911095"/>
            <a:ext cx="2880360" cy="548640"/>
          </a:xfrm>
          <a:prstGeom prst="rect">
            <a:avLst/>
          </a:prstGeom>
          <a:noFill/>
        </p:spPr>
        <p:txBody>
          <a:bodyPr wrap="square" lIns="0" rIns="0" tIns="0" bIns="0" anchor="t">
            <a:spAutoFit/>
          </a:bodyPr>
          <a:lstStyle/>
          <a:p>
            <a:pPr algn="l"/>
            <a:r>
              <a:rPr sz="1200" b="0">
                <a:solidFill>
                  <a:srgbClr val="5B655F"/>
                </a:solidFill>
              </a:rPr>
              <a:t>The records that the number counts are listed.</a:t>
            </a:r>
          </a:p>
        </p:txBody>
      </p:sp>
      <p:sp>
        <p:nvSpPr>
          <p:cNvPr id="34" name="Rounded Rectangle 33"/>
          <p:cNvSpPr/>
          <p:nvPr/>
        </p:nvSpPr>
        <p:spPr>
          <a:xfrm>
            <a:off x="457200" y="2880360"/>
            <a:ext cx="4023360" cy="1463040"/>
          </a:xfrm>
          <a:prstGeom prst="roundRect">
            <a:avLst>
              <a:gd name="adj" fmla="val 5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3154680"/>
            <a:ext cx="548640" cy="914400"/>
          </a:xfrm>
          <a:prstGeom prst="rect">
            <a:avLst/>
          </a:prstGeom>
          <a:noFill/>
        </p:spPr>
        <p:txBody>
          <a:bodyPr wrap="square" lIns="0" rIns="0" tIns="0" bIns="0" anchor="t">
            <a:spAutoFit/>
          </a:bodyPr>
          <a:lstStyle/>
          <a:p>
            <a:pPr algn="l"/>
            <a:r>
              <a:rPr sz="4000" b="1">
                <a:solidFill>
                  <a:srgbClr val="B85042"/>
                </a:solidFill>
                <a:latin typeface="Cambria"/>
              </a:rPr>
              <a:t>3</a:t>
            </a:r>
          </a:p>
        </p:txBody>
      </p:sp>
      <p:sp>
        <p:nvSpPr>
          <p:cNvPr id="36" name="TextBox 35"/>
          <p:cNvSpPr txBox="1"/>
          <p:nvPr/>
        </p:nvSpPr>
        <p:spPr>
          <a:xfrm>
            <a:off x="1371600" y="3227832"/>
            <a:ext cx="2880360" cy="274320"/>
          </a:xfrm>
          <a:prstGeom prst="rect">
            <a:avLst/>
          </a:prstGeom>
          <a:noFill/>
        </p:spPr>
        <p:txBody>
          <a:bodyPr wrap="square" lIns="0" rIns="0" tIns="0" bIns="0" anchor="t">
            <a:spAutoFit/>
          </a:bodyPr>
          <a:lstStyle/>
          <a:p>
            <a:pPr algn="l"/>
            <a:r>
              <a:rPr sz="1500" b="1">
                <a:solidFill>
                  <a:srgbClr val="1C2420"/>
                </a:solidFill>
              </a:rPr>
              <a:t>Open a “not yet served” list</a:t>
            </a:r>
          </a:p>
        </p:txBody>
      </p:sp>
      <p:sp>
        <p:nvSpPr>
          <p:cNvPr id="37" name="TextBox 36"/>
          <p:cNvSpPr txBox="1"/>
          <p:nvPr/>
        </p:nvSpPr>
        <p:spPr>
          <a:xfrm>
            <a:off x="1371600" y="3557016"/>
            <a:ext cx="2880360" cy="548640"/>
          </a:xfrm>
          <a:prstGeom prst="rect">
            <a:avLst/>
          </a:prstGeom>
          <a:noFill/>
        </p:spPr>
        <p:txBody>
          <a:bodyPr wrap="square" lIns="0" rIns="0" tIns="0" bIns="0" anchor="t">
            <a:spAutoFit/>
          </a:bodyPr>
          <a:lstStyle/>
          <a:p>
            <a:pPr algn="l"/>
            <a:r>
              <a:rPr sz="1200" b="0">
                <a:solidFill>
                  <a:srgbClr val="5B655F"/>
                </a:solidFill>
              </a:rPr>
              <a:t>Pick a barangay and mark who has been contacted.</a:t>
            </a:r>
          </a:p>
        </p:txBody>
      </p:sp>
      <p:sp>
        <p:nvSpPr>
          <p:cNvPr id="38" name="Rounded Rectangle 37"/>
          <p:cNvSpPr/>
          <p:nvPr/>
        </p:nvSpPr>
        <p:spPr>
          <a:xfrm>
            <a:off x="4663440" y="2880360"/>
            <a:ext cx="4023360" cy="1463040"/>
          </a:xfrm>
          <a:prstGeom prst="roundRect">
            <a:avLst>
              <a:gd name="adj" fmla="val 5000"/>
            </a:avLst>
          </a:prstGeom>
          <a:solidFill>
            <a:srgbClr val="F1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59" y="3154680"/>
            <a:ext cx="548640" cy="914400"/>
          </a:xfrm>
          <a:prstGeom prst="rect">
            <a:avLst/>
          </a:prstGeom>
          <a:noFill/>
        </p:spPr>
        <p:txBody>
          <a:bodyPr wrap="square" lIns="0" rIns="0" tIns="0" bIns="0" anchor="t">
            <a:spAutoFit/>
          </a:bodyPr>
          <a:lstStyle/>
          <a:p>
            <a:pPr algn="l"/>
            <a:r>
              <a:rPr sz="4000" b="1">
                <a:solidFill>
                  <a:srgbClr val="B85042"/>
                </a:solidFill>
                <a:latin typeface="Cambria"/>
              </a:rPr>
              <a:t>4</a:t>
            </a:r>
          </a:p>
        </p:txBody>
      </p:sp>
      <p:sp>
        <p:nvSpPr>
          <p:cNvPr id="40" name="TextBox 39"/>
          <p:cNvSpPr txBox="1"/>
          <p:nvPr/>
        </p:nvSpPr>
        <p:spPr>
          <a:xfrm>
            <a:off x="5577840" y="3227832"/>
            <a:ext cx="2880360" cy="274320"/>
          </a:xfrm>
          <a:prstGeom prst="rect">
            <a:avLst/>
          </a:prstGeom>
          <a:noFill/>
        </p:spPr>
        <p:txBody>
          <a:bodyPr wrap="square" lIns="0" rIns="0" tIns="0" bIns="0" anchor="t">
            <a:spAutoFit/>
          </a:bodyPr>
          <a:lstStyle/>
          <a:p>
            <a:pPr algn="l"/>
            <a:r>
              <a:rPr sz="1500" b="1">
                <a:solidFill>
                  <a:srgbClr val="1C2420"/>
                </a:solidFill>
              </a:rPr>
              <a:t>Print a barangay’s evacuation list</a:t>
            </a:r>
          </a:p>
        </p:txBody>
      </p:sp>
      <p:sp>
        <p:nvSpPr>
          <p:cNvPr id="41" name="TextBox 40"/>
          <p:cNvSpPr txBox="1"/>
          <p:nvPr/>
        </p:nvSpPr>
        <p:spPr>
          <a:xfrm>
            <a:off x="5577840" y="3557016"/>
            <a:ext cx="2880360" cy="548640"/>
          </a:xfrm>
          <a:prstGeom prst="rect">
            <a:avLst/>
          </a:prstGeom>
          <a:noFill/>
        </p:spPr>
        <p:txBody>
          <a:bodyPr wrap="square" lIns="0" rIns="0" tIns="0" bIns="0" anchor="t">
            <a:spAutoFit/>
          </a:bodyPr>
          <a:lstStyle/>
          <a:p>
            <a:pPr algn="l"/>
            <a:r>
              <a:rPr sz="1200" b="0">
                <a:solidFill>
                  <a:srgbClr val="5B655F"/>
                </a:solidFill>
              </a:rPr>
              <a:t>The list a rescue team would carry.</a:t>
            </a:r>
          </a:p>
        </p:txBody>
      </p:sp>
    </p:spTree>
  </p:cSld>
  <p:clrMapOvr>
    <a:masterClrMapping/>
  </p:clrMapOvr>
</p:sld>
</file>

<file path=ppt/theme/theme1.xml><?xml version="1.0" encoding="utf-8"?>
<a:theme xmlns:a="http://schemas.openxmlformats.org/drawingml/2006/main" name="Vigan Records">
  <a:themeElements>
    <a:clrScheme name="Vigan Records">
      <a:dk1>
        <a:srgbClr val="1C2420"/>
      </a:dk1>
      <a:lt1>
        <a:srgbClr val="FFFFFF"/>
      </a:lt1>
      <a:dk2>
        <a:srgbClr val="0F6B4C"/>
      </a:dk2>
      <a:lt2>
        <a:srgbClr val="F1F5F2"/>
      </a:lt2>
      <a:accent1>
        <a:srgbClr val="0F6B4C"/>
      </a:accent1>
      <a:accent2>
        <a:srgbClr val="B85042"/>
      </a:accent2>
      <a:accent3>
        <a:srgbClr val="5B655F"/>
      </a:accent3>
      <a:accent4>
        <a:srgbClr val="E3EFE8"/>
      </a:accent4>
      <a:accent5>
        <a:srgbClr val="F7E9E4"/>
      </a:accent5>
      <a:accent6>
        <a:srgbClr val="8B948D"/>
      </a:accent6>
      <a:hlink>
        <a:srgbClr val="0F6B4C"/>
      </a:hlink>
      <a:folHlink>
        <a:srgbClr val="5B655F"/>
      </a:folHlink>
    </a:clrScheme>
    <a:fontScheme name="Vigan Recor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VUCRMS: Why Vigan Needs It</dc:title>
  <dc:subject>PptxGenJS Presentation</dc:subject>
  <dc:creator>City Government of Vigan</dc:creator>
  <cp:lastModifiedBy>City Government of Vigan</cp:lastModifiedBy>
  <cp:revision>1</cp:revision>
  <dcterms:created xsi:type="dcterms:W3CDTF">2026-10-09T01:01:52Z</dcterms:created>
  <dcterms:modified xsi:type="dcterms:W3CDTF">2026-10-09T01:01:52Z</dcterms:modified>
</cp:coreProperties>
</file>