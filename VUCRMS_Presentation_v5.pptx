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2be8358-ada0-11ce-d290-ac2c3380c2b7}">
          <p14:sldIdLst>
            <p14:sldId id="256"/>
            <p14:sldId id="257"/>
          </p14:sldIdLst>
        </p14:section>
        <p14:section name="The problem" id="{3f9705c7-c06c-0cd6-024e-6ce8380101ef}">
          <p14:sldIdLst>
            <p14:sldId id="258"/>
          </p14:sldIdLst>
        </p14:section>
        <p14:section name="The solution" id="{f59f389a-788a-30cd-6190-63b78cc35900}">
          <p14:sldIdLst>
            <p14:sldId id="259"/>
          </p14:sldIdLst>
        </p14:section>
        <p14:section name="Highlights" id="{78797283-8199-9465-4e07-ea8e4d3a5e3f}">
          <p14:sldIdLst>
            <p14:sldId id="260"/>
            <p14:sldId id="261"/>
            <p14:sldId id="262"/>
          </p14:sldIdLst>
        </p14:section>
        <p14:section name="Why it matters" id="{ad29ef7a-3ad4-15d6-dc04-595a08225d7c}">
          <p14:sldIdLst>
            <p14:sldId id="263"/>
          </p14:sldIdLst>
        </p14:section>
        <p14:section name="Next steps" id="{a47d7c33-9bc2-6b61-988f-72faa2d0a27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VUCRMS is a shared records platform for every office of the City government. This short talk covers what goes wrong with records today, what the system changes, and why that matters for Vigan.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question. Each office already keeps good records, but separately: logbooks, spreadsheets, registry books, forms, each checked by hand. What if all of that became one record per person that every office shares? The same information could then show who qualifies for a program but is not in it yet, turn into charts for planning, and produce disaster response lists in minutes. That is what VUCRMS does, and the rest of this presentation shows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office works on its own. A senior citizen registered with CSWD may also appear in Civil Registry and Agriculture records under a slightly different name. Nobody can easily tell it is the same person, and the City has no single, reliable view of its own records for planning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office keeps working in its own space, but the resident underneath is the same record. When CSWD, Civil Registry or Agriculture register someone, VUCRMS checks whether that person already exists, including near-matches in spelling, and lets staff confirm before anything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main highlights. The City administrator can build a chart from any office's records in a few clicks: pick the data, choose what to count, group it, and pick a chart. It is not limited to residents. The Business Permits, Building Permits and Zoning offices get the same charts, and the Heritage Zone page already shows businesses, building permits and zoning clearances inside the heritage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gaps answer a question no single office can answer on its own: who qualifies for help but is not getting it, and who is still on a list they no longer belong on. Because every office shares one record per person, the system can compare across programs. The list can be filtered by barangay and exported, so the office can follow up. The check runs fresh each time the page opens and never changes a record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office approves its own beneficiaries, and no office has the full list, so it is hard to see when one household is in several programs while another household has none. VUCRMS shows how many programs each household is in, flags households with a senior or a young child that get no help at all. The goal is not to cut anyone's benefits automatically; it is to give officials the information to spread limited funds across more of the people who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every office's records in one place only works if people can trust it. Every change can be traced to the person who made it, and residents' personal data is protected the way the Data Privacy Act requires, on infrastructure the City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small: a sample of the records each office already maintains, in whatever form it is kept. Those samples are used to set up each office's space correctly before rollout, so the system fits the work offices already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rtlCol="0"/>
          <a:lstStyle>
            <a:lvl1pPr indent="0" marL="0">
              <a:buNone/>
              <a:defRPr lang="en-US" sz="1400" b="1" spc="200" kern="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1508760"/>
            <a:ext cx="804672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548640" y="3063240"/>
            <a:ext cx="731520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ok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046720" cy="274320"/>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713232"/>
            <a:ext cx="804672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1325880"/>
            <a:ext cx="804672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VUCRMS  ·  City Government of Vigan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4.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400" b="1" spc="200" kern="0" dirty="0">
                <a:solidFill>
                  <a:schemeClr val="accent4"/>
                </a:solidFill>
              </a:rPr>
              <a:t>CITY GOVERNMENT OF VIGAN</a:t>
            </a:r>
            <a:endParaRPr lang="en-US" sz="1400" dirty="0"/>
          </a:p>
        </p:txBody>
      </p:sp>
      <p:sp>
        <p:nvSpPr>
          <p:cNvPr id="3" name="Text 0"/>
          <p:cNvSpPr/>
          <p:nvPr>
            <p:ph idx="101" type="title" hasCustomPrompt="1"/>
          </p:nvPr>
        </p:nvSpPr>
        <p:spPr>
          <a:xfrm>
            <a:off x="548640" y="1508760"/>
            <a:ext cx="8046720" cy="1463040"/>
          </a:xfrm>
          <a:prstGeom prst="rect">
            <a:avLst/>
          </a:prstGeom>
          <a:noFill/>
          <a:ln/>
        </p:spPr>
        <p:txBody>
          <a:bodyPr wrap="square" lIns="0" tIns="0" rIns="0" bIns="0" rtlCol="0" anchor="t"/>
          <a:lstStyle/>
          <a:p>
            <a:pPr algn="l" indent="0" marL="0">
              <a:buNone/>
            </a:pPr>
            <a:r>
              <a:rPr lang="en-US" sz="3800" b="1" dirty="0">
                <a:solidFill>
                  <a:schemeClr val="bg1"/>
                </a:solidFill>
              </a:rPr>
              <a:t>One record system for the whole City</a:t>
            </a:r>
            <a:endParaRPr lang="en-US" sz="3800" dirty="0"/>
          </a:p>
        </p:txBody>
      </p:sp>
      <p:sp>
        <p:nvSpPr>
          <p:cNvPr id="4" name="Text 0"/>
          <p:cNvSpPr/>
          <p:nvPr>
            <p:ph idx="102" type="body" hasCustomPrompt="1"/>
          </p:nvPr>
        </p:nvSpPr>
        <p:spPr>
          <a:xfrm>
            <a:off x="548640" y="3063240"/>
            <a:ext cx="7315200" cy="1097280"/>
          </a:xfrm>
          <a:prstGeom prst="rect">
            <a:avLst/>
          </a:prstGeom>
          <a:noFill/>
          <a:ln/>
        </p:spPr>
        <p:txBody>
          <a:bodyPr wrap="square" lIns="0" tIns="0" rIns="0" bIns="0" rtlCol="0" anchor="t"/>
          <a:lstStyle/>
          <a:p>
            <a:pPr indent="0" marL="0">
              <a:buNone/>
            </a:pPr>
            <a:r>
              <a:rPr lang="en-US" sz="1600" dirty="0">
                <a:solidFill>
                  <a:schemeClr val="bg1"/>
                </a:solidFill>
              </a:rPr>
              <a:t>Vigan Unified Central Record Management System (VUCRMS): why the City needs 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046720" cy="274320"/>
          </a:xfrm>
          <a:prstGeom prst="rect">
            <a:avLst/>
          </a:prstGeom>
          <a:noFill/>
          <a:ln/>
        </p:spPr>
        <p:txBody>
          <a:bodyPr wrap="square" lIns="0" tIns="0" rIns="0" bIns="0" rtlCol="0"/>
          <a:lstStyle/>
          <a:p>
            <a:pPr indent="0" marL="0">
              <a:buNone/>
            </a:pPr>
            <a:r>
              <a:rPr lang="en-US" sz="1200" b="1" spc="200" kern="0" dirty="0">
                <a:solidFill>
                  <a:schemeClr val="accent4"/>
                </a:solidFill>
              </a:rPr>
              <a:t>A QUESTION TO START</a:t>
            </a:r>
            <a:endParaRPr lang="en-US" sz="1200" dirty="0"/>
          </a:p>
        </p:txBody>
      </p:sp>
      <p:sp>
        <p:nvSpPr>
          <p:cNvPr id="3" name="Text 0"/>
          <p:cNvSpPr/>
          <p:nvPr>
            <p:ph idx="101" type="title" hasCustomPrompt="1"/>
          </p:nvPr>
        </p:nvSpPr>
        <p:spPr>
          <a:xfrm>
            <a:off x="548640" y="713232"/>
            <a:ext cx="8046720" cy="594360"/>
          </a:xfrm>
          <a:prstGeom prst="rect">
            <a:avLst/>
          </a:prstGeom>
          <a:noFill/>
          <a:ln/>
        </p:spPr>
        <p:txBody>
          <a:bodyPr wrap="square" lIns="0" tIns="0" rIns="0" bIns="0" rtlCol="0" anchor="t"/>
          <a:lstStyle/>
          <a:p>
            <a:pPr algn="l" indent="0" marL="0">
              <a:buNone/>
            </a:pPr>
            <a:r>
              <a:rPr lang="en-US" sz="3000" b="1" dirty="0">
                <a:solidFill>
                  <a:schemeClr val="bg1"/>
                </a:solidFill>
              </a:rPr>
              <a:t>What if every office's records worked as one?</a:t>
            </a:r>
            <a:endParaRPr lang="en-US" sz="3000" dirty="0"/>
          </a:p>
        </p:txBody>
      </p:sp>
      <p:sp>
        <p:nvSpPr>
          <p:cNvPr id="4" name="Text 0"/>
          <p:cNvSpPr/>
          <p:nvPr>
            <p:ph idx="102" type="body" hasCustomPrompt="1"/>
          </p:nvPr>
        </p:nvSpPr>
        <p:spPr>
          <a:xfrm>
            <a:off x="548640" y="1325880"/>
            <a:ext cx="8046720" cy="320040"/>
          </a:xfrm>
          <a:prstGeom prst="rect">
            <a:avLst/>
          </a:prstGeom>
          <a:noFill/>
          <a:ln/>
        </p:spPr>
        <p:txBody>
          <a:bodyPr wrap="square" lIns="0" tIns="0" rIns="0" bIns="0" rtlCol="0" anchor="t"/>
          <a:lstStyle/>
          <a:p>
            <a:pPr indent="0" marL="0">
              <a:buNone/>
            </a:pPr>
            <a:r>
              <a:rPr lang="en-US" sz="1400" dirty="0">
                <a:solidFill>
                  <a:schemeClr val="accent4"/>
                </a:solidFill>
              </a:rPr>
              <a:t>Records kept separately and checked by hand, brought together into data the City can use.</a:t>
            </a:r>
            <a:endParaRPr lang="en-US" sz="1400" dirty="0"/>
          </a:p>
        </p:txBody>
      </p:sp>
      <p:sp>
        <p:nvSpPr>
          <p:cNvPr id="5" name="Text 3"/>
          <p:cNvSpPr txBox="1"/>
          <p:nvPr/>
        </p:nvSpPr>
        <p:spPr>
          <a:xfrm>
            <a:off x="548640" y="1783080"/>
            <a:ext cx="210312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KEPT SEPARATELY</a:t>
            </a:r>
            <a:endParaRPr lang="en-US" sz="1100" dirty="0"/>
          </a:p>
        </p:txBody>
      </p:sp>
      <p:sp>
        <p:nvSpPr>
          <p:cNvPr id="6" name="Text 4"/>
          <p:cNvSpPr txBox="1"/>
          <p:nvPr/>
        </p:nvSpPr>
        <p:spPr>
          <a:xfrm>
            <a:off x="3108960" y="1783080"/>
            <a:ext cx="17373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BROUGHT TOGETHER</a:t>
            </a:r>
            <a:endParaRPr lang="en-US" sz="1100" dirty="0"/>
          </a:p>
        </p:txBody>
      </p:sp>
      <p:sp>
        <p:nvSpPr>
          <p:cNvPr id="7" name="Text 5"/>
          <p:cNvSpPr txBox="1"/>
          <p:nvPr/>
        </p:nvSpPr>
        <p:spPr>
          <a:xfrm>
            <a:off x="5303520" y="1783080"/>
            <a:ext cx="329184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PUT TO USE</a:t>
            </a:r>
            <a:endParaRPr lang="en-US" sz="1100" dirty="0"/>
          </a:p>
        </p:txBody>
      </p:sp>
      <p:sp>
        <p:nvSpPr>
          <p:cNvPr id="8" name="Shape 6"/>
          <p:cNvSpPr/>
          <p:nvPr/>
        </p:nvSpPr>
        <p:spPr>
          <a:xfrm>
            <a:off x="548640" y="2103120"/>
            <a:ext cx="2103120" cy="411480"/>
          </a:xfrm>
          <a:prstGeom prst="roundRect">
            <a:avLst>
              <a:gd name="adj" fmla="val 13333"/>
            </a:avLst>
          </a:prstGeom>
          <a:solidFill>
            <a:srgbClr val="FFFFFF">
              <a:alpha val="15000"/>
            </a:srgbClr>
          </a:solidFill>
          <a:ln w="9525">
            <a:solidFill>
              <a:srgbClr val="E3EFE8"/>
            </a:solidFill>
            <a:prstDash val="dash"/>
          </a:ln>
        </p:spPr>
      </p:sp>
      <p:sp>
        <p:nvSpPr>
          <p:cNvPr id="9" name="Text 7"/>
          <p:cNvSpPr txBox="1"/>
          <p:nvPr/>
        </p:nvSpPr>
        <p:spPr>
          <a:xfrm>
            <a:off x="640080" y="2103120"/>
            <a:ext cx="1920240" cy="411480"/>
          </a:xfrm>
          <a:prstGeom prst="rect">
            <a:avLst/>
          </a:prstGeom>
          <a:noFill/>
          <a:ln/>
        </p:spPr>
        <p:txBody>
          <a:bodyPr wrap="square" lIns="0" tIns="0" rIns="0" bIns="0" rtlCol="0" anchor="ctr"/>
          <a:lstStyle/>
          <a:p>
            <a:pPr indent="0" marL="0">
              <a:buNone/>
            </a:pPr>
            <a:r>
              <a:rPr lang="en-US" sz="1100" dirty="0">
                <a:solidFill>
                  <a:schemeClr val="bg1"/>
                </a:solidFill>
              </a:rPr>
              <a:t>Social Welfare: logbooks</a:t>
            </a:r>
            <a:endParaRPr lang="en-US" sz="1100" dirty="0"/>
          </a:p>
        </p:txBody>
      </p:sp>
      <p:sp>
        <p:nvSpPr>
          <p:cNvPr id="10" name="Shape 8"/>
          <p:cNvSpPr/>
          <p:nvPr/>
        </p:nvSpPr>
        <p:spPr>
          <a:xfrm>
            <a:off x="2651760" y="2308860"/>
            <a:ext cx="457200" cy="0"/>
          </a:xfrm>
          <a:prstGeom prst="line">
            <a:avLst/>
          </a:prstGeom>
          <a:noFill/>
          <a:ln w="12700">
            <a:solidFill>
              <a:srgbClr val="E3EFE8"/>
            </a:solidFill>
            <a:prstDash val="solid"/>
          </a:ln>
        </p:spPr>
      </p:sp>
      <p:sp>
        <p:nvSpPr>
          <p:cNvPr id="11" name="Shape 9"/>
          <p:cNvSpPr/>
          <p:nvPr/>
        </p:nvSpPr>
        <p:spPr>
          <a:xfrm>
            <a:off x="548640" y="2651760"/>
            <a:ext cx="2103120" cy="411480"/>
          </a:xfrm>
          <a:prstGeom prst="roundRect">
            <a:avLst>
              <a:gd name="adj" fmla="val 13333"/>
            </a:avLst>
          </a:prstGeom>
          <a:solidFill>
            <a:srgbClr val="FFFFFF">
              <a:alpha val="15000"/>
            </a:srgbClr>
          </a:solidFill>
          <a:ln w="9525">
            <a:solidFill>
              <a:srgbClr val="E3EFE8"/>
            </a:solidFill>
            <a:prstDash val="dash"/>
          </a:ln>
        </p:spPr>
      </p:sp>
      <p:sp>
        <p:nvSpPr>
          <p:cNvPr id="12" name="Text 10"/>
          <p:cNvSpPr txBox="1"/>
          <p:nvPr/>
        </p:nvSpPr>
        <p:spPr>
          <a:xfrm>
            <a:off x="640080" y="2651760"/>
            <a:ext cx="1920240" cy="411480"/>
          </a:xfrm>
          <a:prstGeom prst="rect">
            <a:avLst/>
          </a:prstGeom>
          <a:noFill/>
          <a:ln/>
        </p:spPr>
        <p:txBody>
          <a:bodyPr wrap="square" lIns="0" tIns="0" rIns="0" bIns="0" rtlCol="0" anchor="ctr"/>
          <a:lstStyle/>
          <a:p>
            <a:pPr indent="0" marL="0">
              <a:buNone/>
            </a:pPr>
            <a:r>
              <a:rPr lang="en-US" sz="1100" dirty="0">
                <a:solidFill>
                  <a:schemeClr val="bg1"/>
                </a:solidFill>
              </a:rPr>
              <a:t>Agriculture: spreadsheets</a:t>
            </a:r>
            <a:endParaRPr lang="en-US" sz="1100" dirty="0"/>
          </a:p>
        </p:txBody>
      </p:sp>
      <p:sp>
        <p:nvSpPr>
          <p:cNvPr id="13" name="Shape 11"/>
          <p:cNvSpPr/>
          <p:nvPr/>
        </p:nvSpPr>
        <p:spPr>
          <a:xfrm>
            <a:off x="2651760" y="2857500"/>
            <a:ext cx="457200" cy="0"/>
          </a:xfrm>
          <a:prstGeom prst="line">
            <a:avLst/>
          </a:prstGeom>
          <a:noFill/>
          <a:ln w="12700">
            <a:solidFill>
              <a:srgbClr val="E3EFE8"/>
            </a:solidFill>
            <a:prstDash val="solid"/>
          </a:ln>
        </p:spPr>
      </p:sp>
      <p:sp>
        <p:nvSpPr>
          <p:cNvPr id="14" name="Shape 12"/>
          <p:cNvSpPr/>
          <p:nvPr/>
        </p:nvSpPr>
        <p:spPr>
          <a:xfrm>
            <a:off x="548640" y="3200400"/>
            <a:ext cx="2103120" cy="411480"/>
          </a:xfrm>
          <a:prstGeom prst="roundRect">
            <a:avLst>
              <a:gd name="adj" fmla="val 13333"/>
            </a:avLst>
          </a:prstGeom>
          <a:solidFill>
            <a:srgbClr val="FFFFFF">
              <a:alpha val="15000"/>
            </a:srgbClr>
          </a:solidFill>
          <a:ln w="9525">
            <a:solidFill>
              <a:srgbClr val="E3EFE8"/>
            </a:solidFill>
            <a:prstDash val="dash"/>
          </a:ln>
        </p:spPr>
      </p:sp>
      <p:sp>
        <p:nvSpPr>
          <p:cNvPr id="15" name="Text 13"/>
          <p:cNvSpPr txBox="1"/>
          <p:nvPr/>
        </p:nvSpPr>
        <p:spPr>
          <a:xfrm>
            <a:off x="640080" y="3200400"/>
            <a:ext cx="1920240" cy="411480"/>
          </a:xfrm>
          <a:prstGeom prst="rect">
            <a:avLst/>
          </a:prstGeom>
          <a:noFill/>
          <a:ln/>
        </p:spPr>
        <p:txBody>
          <a:bodyPr wrap="square" lIns="0" tIns="0" rIns="0" bIns="0" rtlCol="0" anchor="ctr"/>
          <a:lstStyle/>
          <a:p>
            <a:pPr indent="0" marL="0">
              <a:buNone/>
            </a:pPr>
            <a:r>
              <a:rPr lang="en-US" sz="1100" dirty="0">
                <a:solidFill>
                  <a:schemeClr val="bg1"/>
                </a:solidFill>
              </a:rPr>
              <a:t>Civil Registry: registry books</a:t>
            </a:r>
            <a:endParaRPr lang="en-US" sz="1100" dirty="0"/>
          </a:p>
        </p:txBody>
      </p:sp>
      <p:sp>
        <p:nvSpPr>
          <p:cNvPr id="16" name="Shape 14"/>
          <p:cNvSpPr/>
          <p:nvPr/>
        </p:nvSpPr>
        <p:spPr>
          <a:xfrm>
            <a:off x="2651760" y="3406140"/>
            <a:ext cx="457200" cy="0"/>
          </a:xfrm>
          <a:prstGeom prst="line">
            <a:avLst/>
          </a:prstGeom>
          <a:noFill/>
          <a:ln w="12700">
            <a:solidFill>
              <a:srgbClr val="E3EFE8"/>
            </a:solidFill>
            <a:prstDash val="solid"/>
          </a:ln>
        </p:spPr>
      </p:sp>
      <p:sp>
        <p:nvSpPr>
          <p:cNvPr id="17" name="Shape 15"/>
          <p:cNvSpPr/>
          <p:nvPr/>
        </p:nvSpPr>
        <p:spPr>
          <a:xfrm>
            <a:off x="548640" y="3749040"/>
            <a:ext cx="2103120" cy="411480"/>
          </a:xfrm>
          <a:prstGeom prst="roundRect">
            <a:avLst>
              <a:gd name="adj" fmla="val 13333"/>
            </a:avLst>
          </a:prstGeom>
          <a:solidFill>
            <a:srgbClr val="FFFFFF">
              <a:alpha val="15000"/>
            </a:srgbClr>
          </a:solidFill>
          <a:ln w="9525">
            <a:solidFill>
              <a:srgbClr val="E3EFE8"/>
            </a:solidFill>
            <a:prstDash val="dash"/>
          </a:ln>
        </p:spPr>
      </p:sp>
      <p:sp>
        <p:nvSpPr>
          <p:cNvPr id="18" name="Text 16"/>
          <p:cNvSpPr txBox="1"/>
          <p:nvPr/>
        </p:nvSpPr>
        <p:spPr>
          <a:xfrm>
            <a:off x="640080" y="3749040"/>
            <a:ext cx="1920240" cy="411480"/>
          </a:xfrm>
          <a:prstGeom prst="rect">
            <a:avLst/>
          </a:prstGeom>
          <a:noFill/>
          <a:ln/>
        </p:spPr>
        <p:txBody>
          <a:bodyPr wrap="square" lIns="0" tIns="0" rIns="0" bIns="0" rtlCol="0" anchor="ctr"/>
          <a:lstStyle/>
          <a:p>
            <a:pPr indent="0" marL="0">
              <a:buNone/>
            </a:pPr>
            <a:r>
              <a:rPr lang="en-US" sz="1100" dirty="0">
                <a:solidFill>
                  <a:schemeClr val="bg1"/>
                </a:solidFill>
              </a:rPr>
              <a:t>Business Permits: forms</a:t>
            </a:r>
            <a:endParaRPr lang="en-US" sz="1100" dirty="0"/>
          </a:p>
        </p:txBody>
      </p:sp>
      <p:sp>
        <p:nvSpPr>
          <p:cNvPr id="19" name="Shape 17"/>
          <p:cNvSpPr/>
          <p:nvPr/>
        </p:nvSpPr>
        <p:spPr>
          <a:xfrm>
            <a:off x="2651760" y="3954780"/>
            <a:ext cx="457200" cy="0"/>
          </a:xfrm>
          <a:prstGeom prst="line">
            <a:avLst/>
          </a:prstGeom>
          <a:noFill/>
          <a:ln w="12700">
            <a:solidFill>
              <a:srgbClr val="E3EFE8"/>
            </a:solidFill>
            <a:prstDash val="solid"/>
          </a:ln>
        </p:spPr>
      </p:sp>
      <p:sp>
        <p:nvSpPr>
          <p:cNvPr id="20" name="Shape 18"/>
          <p:cNvSpPr/>
          <p:nvPr/>
        </p:nvSpPr>
        <p:spPr>
          <a:xfrm>
            <a:off x="3108960" y="2103120"/>
            <a:ext cx="1737360" cy="2057400"/>
          </a:xfrm>
          <a:prstGeom prst="roundRect">
            <a:avLst>
              <a:gd name="adj" fmla="val 4211"/>
            </a:avLst>
          </a:prstGeom>
          <a:solidFill>
            <a:srgbClr val="FFFFFF"/>
          </a:solidFill>
          <a:ln/>
        </p:spPr>
      </p:sp>
      <p:pic>
        <p:nvPicPr>
          <p:cNvPr id="21" name="Image 0" descr="preencoded.png">    </p:cNvPr>
          <p:cNvPicPr>
            <a:picLocks noChangeAspect="1"/>
          </p:cNvPicPr>
          <p:nvPr/>
        </p:nvPicPr>
        <p:blipFill>
          <a:blip r:embed="rId1"/>
          <a:stretch>
            <a:fillRect/>
          </a:stretch>
        </p:blipFill>
        <p:spPr>
          <a:xfrm>
            <a:off x="3749040" y="2423160"/>
            <a:ext cx="457200" cy="457200"/>
          </a:xfrm>
          <a:prstGeom prst="rect">
            <a:avLst/>
          </a:prstGeom>
        </p:spPr>
      </p:pic>
      <p:sp>
        <p:nvSpPr>
          <p:cNvPr id="22" name="Text 19"/>
          <p:cNvSpPr txBox="1"/>
          <p:nvPr/>
        </p:nvSpPr>
        <p:spPr>
          <a:xfrm>
            <a:off x="3200400" y="2971800"/>
            <a:ext cx="1554480" cy="1005840"/>
          </a:xfrm>
          <a:prstGeom prst="rect">
            <a:avLst/>
          </a:prstGeom>
          <a:noFill/>
          <a:ln/>
        </p:spPr>
        <p:txBody>
          <a:bodyPr wrap="square" lIns="0" tIns="0" rIns="0" bIns="0" rtlCol="0" anchor="t"/>
          <a:lstStyle/>
          <a:p>
            <a:pPr algn="ctr" indent="0" marL="0">
              <a:buNone/>
            </a:pPr>
            <a:r>
              <a:rPr lang="en-US" sz="1600" b="1" dirty="0">
                <a:solidFill>
                  <a:schemeClr val="tx2"/>
                </a:solidFill>
              </a:rPr>
              <a:t>One record</a:t>
            </a:r>
            <a:endParaRPr lang="en-US" sz="1600" dirty="0"/>
          </a:p>
          <a:p>
            <a:pPr algn="ctr" indent="0" marL="0">
              <a:buNone/>
            </a:pPr>
            <a:r>
              <a:rPr lang="en-US" sz="1100" dirty="0">
                <a:solidFill>
                  <a:schemeClr val="tx2"/>
                </a:solidFill>
              </a:rPr>
              <a:t>shared by every office</a:t>
            </a:r>
            <a:endParaRPr lang="en-US" sz="1600" dirty="0"/>
          </a:p>
        </p:txBody>
      </p:sp>
      <p:sp>
        <p:nvSpPr>
          <p:cNvPr id="23" name="Shape 20"/>
          <p:cNvSpPr/>
          <p:nvPr/>
        </p:nvSpPr>
        <p:spPr>
          <a:xfrm>
            <a:off x="4846320" y="3131820"/>
            <a:ext cx="457200" cy="0"/>
          </a:xfrm>
          <a:prstGeom prst="line">
            <a:avLst/>
          </a:prstGeom>
          <a:noFill/>
          <a:ln w="19050">
            <a:solidFill>
              <a:srgbClr val="E3EFE8"/>
            </a:solidFill>
            <a:prstDash val="solid"/>
            <a:tailEnd type="triangle"/>
          </a:ln>
        </p:spPr>
      </p:sp>
      <p:sp>
        <p:nvSpPr>
          <p:cNvPr id="24" name="Shape 21"/>
          <p:cNvSpPr/>
          <p:nvPr/>
        </p:nvSpPr>
        <p:spPr>
          <a:xfrm>
            <a:off x="5303520" y="2103120"/>
            <a:ext cx="3291840" cy="594360"/>
          </a:xfrm>
          <a:prstGeom prst="roundRect">
            <a:avLst>
              <a:gd name="adj" fmla="val 12308"/>
            </a:avLst>
          </a:prstGeom>
          <a:solidFill>
            <a:srgbClr val="E3EFE8"/>
          </a:solidFill>
          <a:ln/>
        </p:spPr>
      </p:sp>
      <p:pic>
        <p:nvPicPr>
          <p:cNvPr id="25" name="Image 1" descr="preencoded.png">    </p:cNvPr>
          <p:cNvPicPr>
            <a:picLocks noChangeAspect="1"/>
          </p:cNvPicPr>
          <p:nvPr/>
        </p:nvPicPr>
        <p:blipFill>
          <a:blip r:embed="rId2"/>
          <a:stretch>
            <a:fillRect/>
          </a:stretch>
        </p:blipFill>
        <p:spPr>
          <a:xfrm>
            <a:off x="5440680" y="2258568"/>
            <a:ext cx="274320" cy="274320"/>
          </a:xfrm>
          <a:prstGeom prst="rect">
            <a:avLst/>
          </a:prstGeom>
        </p:spPr>
      </p:pic>
      <p:sp>
        <p:nvSpPr>
          <p:cNvPr id="26" name="Text 22"/>
          <p:cNvSpPr txBox="1"/>
          <p:nvPr/>
        </p:nvSpPr>
        <p:spPr>
          <a:xfrm>
            <a:off x="5852160" y="2157984"/>
            <a:ext cx="2651760" cy="228600"/>
          </a:xfrm>
          <a:prstGeom prst="rect">
            <a:avLst/>
          </a:prstGeom>
          <a:noFill/>
          <a:ln/>
        </p:spPr>
        <p:txBody>
          <a:bodyPr wrap="square" lIns="0" tIns="0" rIns="0" bIns="0" rtlCol="0" anchor="ctr"/>
          <a:lstStyle/>
          <a:p>
            <a:pPr indent="0" marL="0">
              <a:buNone/>
            </a:pPr>
            <a:r>
              <a:rPr lang="en-US" sz="1250" b="1" dirty="0">
                <a:solidFill>
                  <a:schemeClr val="tx1"/>
                </a:solidFill>
              </a:rPr>
              <a:t>Program gaps</a:t>
            </a:r>
            <a:endParaRPr lang="en-US" sz="1250" dirty="0"/>
          </a:p>
        </p:txBody>
      </p:sp>
      <p:sp>
        <p:nvSpPr>
          <p:cNvPr id="27" name="Text 23"/>
          <p:cNvSpPr txBox="1"/>
          <p:nvPr/>
        </p:nvSpPr>
        <p:spPr>
          <a:xfrm>
            <a:off x="5852160" y="2395728"/>
            <a:ext cx="2651760" cy="256032"/>
          </a:xfrm>
          <a:prstGeom prst="rect">
            <a:avLst/>
          </a:prstGeom>
          <a:noFill/>
          <a:ln/>
        </p:spPr>
        <p:txBody>
          <a:bodyPr wrap="square" lIns="0" tIns="0" rIns="0" bIns="0" rtlCol="0" anchor="ctr"/>
          <a:lstStyle/>
          <a:p>
            <a:pPr indent="0" marL="0">
              <a:buNone/>
            </a:pPr>
            <a:r>
              <a:rPr lang="en-US" sz="1050" dirty="0">
                <a:solidFill>
                  <a:schemeClr val="accent3"/>
                </a:solidFill>
              </a:rPr>
              <a:t>Who qualifies for help but is not served yet</a:t>
            </a:r>
            <a:endParaRPr lang="en-US" sz="1050" dirty="0"/>
          </a:p>
        </p:txBody>
      </p:sp>
      <p:sp>
        <p:nvSpPr>
          <p:cNvPr id="28" name="Shape 24"/>
          <p:cNvSpPr/>
          <p:nvPr/>
        </p:nvSpPr>
        <p:spPr>
          <a:xfrm>
            <a:off x="5303520" y="2834640"/>
            <a:ext cx="3291840" cy="594360"/>
          </a:xfrm>
          <a:prstGeom prst="roundRect">
            <a:avLst>
              <a:gd name="adj" fmla="val 12308"/>
            </a:avLst>
          </a:prstGeom>
          <a:solidFill>
            <a:srgbClr val="E3EFE8"/>
          </a:solidFill>
          <a:ln/>
        </p:spPr>
      </p:sp>
      <p:pic>
        <p:nvPicPr>
          <p:cNvPr id="29" name="Image 2" descr="preencoded.png">    </p:cNvPr>
          <p:cNvPicPr>
            <a:picLocks noChangeAspect="1"/>
          </p:cNvPicPr>
          <p:nvPr/>
        </p:nvPicPr>
        <p:blipFill>
          <a:blip r:embed="rId3"/>
          <a:stretch>
            <a:fillRect/>
          </a:stretch>
        </p:blipFill>
        <p:spPr>
          <a:xfrm>
            <a:off x="5440680" y="2990088"/>
            <a:ext cx="274320" cy="274320"/>
          </a:xfrm>
          <a:prstGeom prst="rect">
            <a:avLst/>
          </a:prstGeom>
        </p:spPr>
      </p:pic>
      <p:sp>
        <p:nvSpPr>
          <p:cNvPr id="30" name="Text 25"/>
          <p:cNvSpPr txBox="1"/>
          <p:nvPr/>
        </p:nvSpPr>
        <p:spPr>
          <a:xfrm>
            <a:off x="5852160" y="2889504"/>
            <a:ext cx="2651760" cy="228600"/>
          </a:xfrm>
          <a:prstGeom prst="rect">
            <a:avLst/>
          </a:prstGeom>
          <a:noFill/>
          <a:ln/>
        </p:spPr>
        <p:txBody>
          <a:bodyPr wrap="square" lIns="0" tIns="0" rIns="0" bIns="0" rtlCol="0" anchor="ctr"/>
          <a:lstStyle/>
          <a:p>
            <a:pPr indent="0" marL="0">
              <a:buNone/>
            </a:pPr>
            <a:r>
              <a:rPr lang="en-US" sz="1250" b="1" dirty="0">
                <a:solidFill>
                  <a:schemeClr val="tx1"/>
                </a:solidFill>
              </a:rPr>
              <a:t>Data visualizations</a:t>
            </a:r>
            <a:endParaRPr lang="en-US" sz="1250" dirty="0"/>
          </a:p>
        </p:txBody>
      </p:sp>
      <p:sp>
        <p:nvSpPr>
          <p:cNvPr id="31" name="Text 26"/>
          <p:cNvSpPr txBox="1"/>
          <p:nvPr/>
        </p:nvSpPr>
        <p:spPr>
          <a:xfrm>
            <a:off x="5852160" y="3127248"/>
            <a:ext cx="2651760" cy="256032"/>
          </a:xfrm>
          <a:prstGeom prst="rect">
            <a:avLst/>
          </a:prstGeom>
          <a:noFill/>
          <a:ln/>
        </p:spPr>
        <p:txBody>
          <a:bodyPr wrap="square" lIns="0" tIns="0" rIns="0" bIns="0" rtlCol="0" anchor="ctr"/>
          <a:lstStyle/>
          <a:p>
            <a:pPr indent="0" marL="0">
              <a:buNone/>
            </a:pPr>
            <a:r>
              <a:rPr lang="en-US" sz="1050" dirty="0">
                <a:solidFill>
                  <a:schemeClr val="accent3"/>
                </a:solidFill>
              </a:rPr>
              <a:t>Charts from any office's records</a:t>
            </a:r>
            <a:endParaRPr lang="en-US" sz="1050" dirty="0"/>
          </a:p>
        </p:txBody>
      </p:sp>
      <p:sp>
        <p:nvSpPr>
          <p:cNvPr id="32" name="Shape 27"/>
          <p:cNvSpPr/>
          <p:nvPr/>
        </p:nvSpPr>
        <p:spPr>
          <a:xfrm>
            <a:off x="5303520" y="3566160"/>
            <a:ext cx="3291840" cy="594360"/>
          </a:xfrm>
          <a:prstGeom prst="roundRect">
            <a:avLst>
              <a:gd name="adj" fmla="val 12308"/>
            </a:avLst>
          </a:prstGeom>
          <a:solidFill>
            <a:srgbClr val="E3EFE8"/>
          </a:solidFill>
          <a:ln/>
        </p:spPr>
      </p:sp>
      <p:pic>
        <p:nvPicPr>
          <p:cNvPr id="33" name="Image 3" descr="preencoded.png">    </p:cNvPr>
          <p:cNvPicPr>
            <a:picLocks noChangeAspect="1"/>
          </p:cNvPicPr>
          <p:nvPr/>
        </p:nvPicPr>
        <p:blipFill>
          <a:blip r:embed="rId4"/>
          <a:stretch>
            <a:fillRect/>
          </a:stretch>
        </p:blipFill>
        <p:spPr>
          <a:xfrm>
            <a:off x="5440680" y="3721608"/>
            <a:ext cx="274320" cy="274320"/>
          </a:xfrm>
          <a:prstGeom prst="rect">
            <a:avLst/>
          </a:prstGeom>
        </p:spPr>
      </p:pic>
      <p:sp>
        <p:nvSpPr>
          <p:cNvPr id="34" name="Text 28"/>
          <p:cNvSpPr txBox="1"/>
          <p:nvPr/>
        </p:nvSpPr>
        <p:spPr>
          <a:xfrm>
            <a:off x="5852160" y="3621024"/>
            <a:ext cx="2651760" cy="228600"/>
          </a:xfrm>
          <a:prstGeom prst="rect">
            <a:avLst/>
          </a:prstGeom>
          <a:noFill/>
          <a:ln/>
        </p:spPr>
        <p:txBody>
          <a:bodyPr wrap="square" lIns="0" tIns="0" rIns="0" bIns="0" rtlCol="0" anchor="ctr"/>
          <a:lstStyle/>
          <a:p>
            <a:pPr indent="0" marL="0">
              <a:buNone/>
            </a:pPr>
            <a:r>
              <a:rPr lang="en-US" sz="1250" b="1" dirty="0">
                <a:solidFill>
                  <a:schemeClr val="tx1"/>
                </a:solidFill>
              </a:rPr>
              <a:t>Disaster response lists</a:t>
            </a:r>
            <a:endParaRPr lang="en-US" sz="1250" dirty="0"/>
          </a:p>
        </p:txBody>
      </p:sp>
      <p:sp>
        <p:nvSpPr>
          <p:cNvPr id="35" name="Text 29"/>
          <p:cNvSpPr txBox="1"/>
          <p:nvPr/>
        </p:nvSpPr>
        <p:spPr>
          <a:xfrm>
            <a:off x="5852160" y="3858768"/>
            <a:ext cx="2651760" cy="256032"/>
          </a:xfrm>
          <a:prstGeom prst="rect">
            <a:avLst/>
          </a:prstGeom>
          <a:noFill/>
          <a:ln/>
        </p:spPr>
        <p:txBody>
          <a:bodyPr wrap="square" lIns="0" tIns="0" rIns="0" bIns="0" rtlCol="0" anchor="ctr"/>
          <a:lstStyle/>
          <a:p>
            <a:pPr indent="0" marL="0">
              <a:buNone/>
            </a:pPr>
            <a:r>
              <a:rPr lang="en-US" sz="1050" dirty="0">
                <a:solidFill>
                  <a:schemeClr val="accent3"/>
                </a:solidFill>
              </a:rPr>
              <a:t>Who may need help to evacuate, by barangay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 every office keeps its own records</a:t>
            </a:r>
            <a:endParaRPr lang="en-US" sz="3000" dirty="0"/>
          </a:p>
        </p:txBody>
      </p:sp>
      <p:sp>
        <p:nvSpPr>
          <p:cNvPr id="3" name="Shape 1"/>
          <p:cNvSpPr/>
          <p:nvPr/>
        </p:nvSpPr>
        <p:spPr>
          <a:xfrm>
            <a:off x="457200" y="1325880"/>
            <a:ext cx="2560320" cy="3108960"/>
          </a:xfrm>
          <a:prstGeom prst="roundRect">
            <a:avLst>
              <a:gd name="adj" fmla="val 2857"/>
            </a:avLst>
          </a:prstGeom>
          <a:solidFill>
            <a:srgbClr val="F1F5F2"/>
          </a:solidFill>
          <a:ln/>
        </p:spPr>
      </p:sp>
      <p:sp>
        <p:nvSpPr>
          <p:cNvPr id="4" name="Shape 2"/>
          <p:cNvSpPr/>
          <p:nvPr/>
        </p:nvSpPr>
        <p:spPr>
          <a:xfrm>
            <a:off x="731520" y="1600200"/>
            <a:ext cx="685800" cy="685800"/>
          </a:xfrm>
          <a:prstGeom prst="ellipse">
            <a:avLst/>
          </a:prstGeom>
          <a:solidFill>
            <a:srgbClr val="F7E9E4"/>
          </a:solidFill>
          <a:ln/>
        </p:spPr>
      </p:sp>
      <p:pic>
        <p:nvPicPr>
          <p:cNvPr id="5" name="Image 0" descr="preencoded.png">    </p:cNvPr>
          <p:cNvPicPr>
            <a:picLocks noChangeAspect="1"/>
          </p:cNvPicPr>
          <p:nvPr/>
        </p:nvPicPr>
        <p:blipFill>
          <a:blip r:embed="rId1"/>
          <a:stretch>
            <a:fillRect/>
          </a:stretch>
        </p:blipFill>
        <p:spPr>
          <a:xfrm>
            <a:off x="902970" y="1771650"/>
            <a:ext cx="342900" cy="342900"/>
          </a:xfrm>
          <a:prstGeom prst="rect">
            <a:avLst/>
          </a:prstGeom>
        </p:spPr>
      </p:pic>
      <p:sp>
        <p:nvSpPr>
          <p:cNvPr id="6" name="Text 3"/>
          <p:cNvSpPr txBox="1"/>
          <p:nvPr/>
        </p:nvSpPr>
        <p:spPr>
          <a:xfrm>
            <a:off x="731520" y="2423160"/>
            <a:ext cx="2011680" cy="685800"/>
          </a:xfrm>
          <a:prstGeom prst="rect">
            <a:avLst/>
          </a:prstGeom>
          <a:noFill/>
          <a:ln/>
        </p:spPr>
        <p:txBody>
          <a:bodyPr wrap="square" lIns="0" tIns="0" rIns="0" bIns="0" rtlCol="0" anchor="t"/>
          <a:lstStyle/>
          <a:p>
            <a:pPr indent="0" marL="0">
              <a:buNone/>
            </a:pPr>
            <a:r>
              <a:rPr lang="en-US" sz="1600" b="1" dirty="0">
                <a:solidFill>
                  <a:schemeClr val="tx1"/>
                </a:solidFill>
              </a:rPr>
              <a:t>Records sit in separate offices</a:t>
            </a:r>
            <a:endParaRPr lang="en-US" sz="1600" dirty="0"/>
          </a:p>
        </p:txBody>
      </p:sp>
      <p:sp>
        <p:nvSpPr>
          <p:cNvPr id="7" name="Text 4"/>
          <p:cNvSpPr txBox="1"/>
          <p:nvPr/>
        </p:nvSpPr>
        <p:spPr>
          <a:xfrm>
            <a:off x="731520" y="3108960"/>
            <a:ext cx="2011680" cy="1188720"/>
          </a:xfrm>
          <a:prstGeom prst="rect">
            <a:avLst/>
          </a:prstGeom>
          <a:noFill/>
          <a:ln/>
        </p:spPr>
        <p:txBody>
          <a:bodyPr wrap="square" lIns="0" tIns="0" rIns="0" bIns="0" rtlCol="0" anchor="t"/>
          <a:lstStyle/>
          <a:p>
            <a:pPr indent="0" marL="0">
              <a:buNone/>
            </a:pPr>
            <a:r>
              <a:rPr lang="en-US" sz="1400" dirty="0">
                <a:solidFill>
                  <a:schemeClr val="accent3"/>
                </a:solidFill>
              </a:rPr>
              <a:t>Paper logbooks and separate spreadsheets, with no shared way to check information across offices.</a:t>
            </a:r>
            <a:endParaRPr lang="en-US" sz="1400" dirty="0"/>
          </a:p>
        </p:txBody>
      </p:sp>
      <p:sp>
        <p:nvSpPr>
          <p:cNvPr id="8" name="Shape 5"/>
          <p:cNvSpPr/>
          <p:nvPr/>
        </p:nvSpPr>
        <p:spPr>
          <a:xfrm>
            <a:off x="3291840" y="1325880"/>
            <a:ext cx="2560320" cy="3108960"/>
          </a:xfrm>
          <a:prstGeom prst="roundRect">
            <a:avLst>
              <a:gd name="adj" fmla="val 2857"/>
            </a:avLst>
          </a:prstGeom>
          <a:solidFill>
            <a:srgbClr val="F1F5F2"/>
          </a:solidFill>
          <a:ln/>
        </p:spPr>
      </p:sp>
      <p:sp>
        <p:nvSpPr>
          <p:cNvPr id="9" name="Shape 6"/>
          <p:cNvSpPr/>
          <p:nvPr/>
        </p:nvSpPr>
        <p:spPr>
          <a:xfrm>
            <a:off x="3566160" y="1600200"/>
            <a:ext cx="685800" cy="685800"/>
          </a:xfrm>
          <a:prstGeom prst="ellipse">
            <a:avLst/>
          </a:prstGeom>
          <a:solidFill>
            <a:srgbClr val="F7E9E4"/>
          </a:solidFill>
          <a:ln/>
        </p:spPr>
      </p:sp>
      <p:pic>
        <p:nvPicPr>
          <p:cNvPr id="10" name="Image 1" descr="preencoded.png">    </p:cNvPr>
          <p:cNvPicPr>
            <a:picLocks noChangeAspect="1"/>
          </p:cNvPicPr>
          <p:nvPr/>
        </p:nvPicPr>
        <p:blipFill>
          <a:blip r:embed="rId2"/>
          <a:stretch>
            <a:fillRect/>
          </a:stretch>
        </p:blipFill>
        <p:spPr>
          <a:xfrm>
            <a:off x="3737610" y="1771650"/>
            <a:ext cx="342900" cy="342900"/>
          </a:xfrm>
          <a:prstGeom prst="rect">
            <a:avLst/>
          </a:prstGeom>
        </p:spPr>
      </p:pic>
      <p:sp>
        <p:nvSpPr>
          <p:cNvPr id="11" name="Text 7"/>
          <p:cNvSpPr txBox="1"/>
          <p:nvPr/>
        </p:nvSpPr>
        <p:spPr>
          <a:xfrm>
            <a:off x="3566160" y="2423160"/>
            <a:ext cx="2011680" cy="685800"/>
          </a:xfrm>
          <a:prstGeom prst="rect">
            <a:avLst/>
          </a:prstGeom>
          <a:noFill/>
          <a:ln/>
        </p:spPr>
        <p:txBody>
          <a:bodyPr wrap="square" lIns="0" tIns="0" rIns="0" bIns="0" rtlCol="0" anchor="t"/>
          <a:lstStyle/>
          <a:p>
            <a:pPr indent="0" marL="0">
              <a:buNone/>
            </a:pPr>
            <a:r>
              <a:rPr lang="en-US" sz="1600" b="1" dirty="0">
                <a:solidFill>
                  <a:schemeClr val="tx1"/>
                </a:solidFill>
              </a:rPr>
              <a:t>One resident, many copies</a:t>
            </a:r>
            <a:endParaRPr lang="en-US" sz="1600" dirty="0"/>
          </a:p>
        </p:txBody>
      </p:sp>
      <p:sp>
        <p:nvSpPr>
          <p:cNvPr id="12" name="Text 8"/>
          <p:cNvSpPr txBox="1"/>
          <p:nvPr/>
        </p:nvSpPr>
        <p:spPr>
          <a:xfrm>
            <a:off x="3566160" y="3108960"/>
            <a:ext cx="2011680" cy="1188720"/>
          </a:xfrm>
          <a:prstGeom prst="rect">
            <a:avLst/>
          </a:prstGeom>
          <a:noFill/>
          <a:ln/>
        </p:spPr>
        <p:txBody>
          <a:bodyPr wrap="square" lIns="0" tIns="0" rIns="0" bIns="0" rtlCol="0" anchor="t"/>
          <a:lstStyle/>
          <a:p>
            <a:pPr indent="0" marL="0">
              <a:buNone/>
            </a:pPr>
            <a:r>
              <a:rPr lang="en-US" sz="1400" dirty="0">
                <a:solidFill>
                  <a:schemeClr val="accent3"/>
                </a:solidFill>
              </a:rPr>
              <a:t>Each office makes its own copy of a person, often with slightly different spelling or details.</a:t>
            </a:r>
            <a:endParaRPr lang="en-US" sz="1400" dirty="0"/>
          </a:p>
        </p:txBody>
      </p:sp>
      <p:sp>
        <p:nvSpPr>
          <p:cNvPr id="13" name="Shape 9"/>
          <p:cNvSpPr/>
          <p:nvPr/>
        </p:nvSpPr>
        <p:spPr>
          <a:xfrm>
            <a:off x="6126480" y="1325880"/>
            <a:ext cx="2560320" cy="3108960"/>
          </a:xfrm>
          <a:prstGeom prst="roundRect">
            <a:avLst>
              <a:gd name="adj" fmla="val 2857"/>
            </a:avLst>
          </a:prstGeom>
          <a:solidFill>
            <a:srgbClr val="F1F5F2"/>
          </a:solidFill>
          <a:ln/>
        </p:spPr>
      </p:sp>
      <p:sp>
        <p:nvSpPr>
          <p:cNvPr id="14" name="Shape 10"/>
          <p:cNvSpPr/>
          <p:nvPr/>
        </p:nvSpPr>
        <p:spPr>
          <a:xfrm>
            <a:off x="6400800" y="1600200"/>
            <a:ext cx="685800" cy="685800"/>
          </a:xfrm>
          <a:prstGeom prst="ellipse">
            <a:avLst/>
          </a:prstGeom>
          <a:solidFill>
            <a:srgbClr val="F7E9E4"/>
          </a:solidFill>
          <a:ln/>
        </p:spPr>
      </p:sp>
      <p:pic>
        <p:nvPicPr>
          <p:cNvPr id="15" name="Image 2" descr="preencoded.png">    </p:cNvPr>
          <p:cNvPicPr>
            <a:picLocks noChangeAspect="1"/>
          </p:cNvPicPr>
          <p:nvPr/>
        </p:nvPicPr>
        <p:blipFill>
          <a:blip r:embed="rId3"/>
          <a:stretch>
            <a:fillRect/>
          </a:stretch>
        </p:blipFill>
        <p:spPr>
          <a:xfrm>
            <a:off x="6572250" y="1771650"/>
            <a:ext cx="342900" cy="342900"/>
          </a:xfrm>
          <a:prstGeom prst="rect">
            <a:avLst/>
          </a:prstGeom>
        </p:spPr>
      </p:pic>
      <p:sp>
        <p:nvSpPr>
          <p:cNvPr id="16" name="Text 11"/>
          <p:cNvSpPr txBox="1"/>
          <p:nvPr/>
        </p:nvSpPr>
        <p:spPr>
          <a:xfrm>
            <a:off x="6400800" y="2423160"/>
            <a:ext cx="2011680" cy="685800"/>
          </a:xfrm>
          <a:prstGeom prst="rect">
            <a:avLst/>
          </a:prstGeom>
          <a:noFill/>
          <a:ln/>
        </p:spPr>
        <p:txBody>
          <a:bodyPr wrap="square" lIns="0" tIns="0" rIns="0" bIns="0" rtlCol="0" anchor="t"/>
          <a:lstStyle/>
          <a:p>
            <a:pPr indent="0" marL="0">
              <a:buNone/>
            </a:pPr>
            <a:r>
              <a:rPr lang="en-US" sz="1600" b="1" dirty="0">
                <a:solidFill>
                  <a:schemeClr val="tx1"/>
                </a:solidFill>
              </a:rPr>
              <a:t>No citywide picture</a:t>
            </a:r>
            <a:endParaRPr lang="en-US" sz="1600" dirty="0"/>
          </a:p>
        </p:txBody>
      </p:sp>
      <p:sp>
        <p:nvSpPr>
          <p:cNvPr id="17" name="Text 12"/>
          <p:cNvSpPr txBox="1"/>
          <p:nvPr/>
        </p:nvSpPr>
        <p:spPr>
          <a:xfrm>
            <a:off x="6400800" y="3108960"/>
            <a:ext cx="2011680" cy="1188720"/>
          </a:xfrm>
          <a:prstGeom prst="rect">
            <a:avLst/>
          </a:prstGeom>
          <a:noFill/>
          <a:ln/>
        </p:spPr>
        <p:txBody>
          <a:bodyPr wrap="square" lIns="0" tIns="0" rIns="0" bIns="0" rtlCol="0" anchor="t"/>
          <a:lstStyle/>
          <a:p>
            <a:pPr indent="0" marL="0">
              <a:buNone/>
            </a:pPr>
            <a:r>
              <a:rPr lang="en-US" sz="1400" dirty="0">
                <a:solidFill>
                  <a:schemeClr val="accent3"/>
                </a:solidFill>
              </a:rPr>
              <a:t>Reports are put together by hand, so officials can't easily see who is served, where, and by which program.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Every office, one shared record</a:t>
            </a:r>
            <a:endParaRPr lang="en-US" sz="3000" dirty="0"/>
          </a:p>
        </p:txBody>
      </p:sp>
      <p:sp>
        <p:nvSpPr>
          <p:cNvPr id="3" name="Shape 1"/>
          <p:cNvSpPr/>
          <p:nvPr/>
        </p:nvSpPr>
        <p:spPr>
          <a:xfrm>
            <a:off x="457200" y="1325880"/>
            <a:ext cx="1783080" cy="438912"/>
          </a:xfrm>
          <a:prstGeom prst="roundRect">
            <a:avLst>
              <a:gd name="adj" fmla="val 16667"/>
            </a:avLst>
          </a:prstGeom>
          <a:solidFill>
            <a:srgbClr val="E3EFE8"/>
          </a:solidFill>
          <a:ln/>
        </p:spPr>
      </p:sp>
      <p:sp>
        <p:nvSpPr>
          <p:cNvPr id="4" name="Text 2"/>
          <p:cNvSpPr txBox="1"/>
          <p:nvPr/>
        </p:nvSpPr>
        <p:spPr>
          <a:xfrm>
            <a:off x="457200" y="1325880"/>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Social Welfare (CSWD)</a:t>
            </a:r>
            <a:endParaRPr lang="en-US" sz="1200" dirty="0"/>
          </a:p>
        </p:txBody>
      </p:sp>
      <p:sp>
        <p:nvSpPr>
          <p:cNvPr id="5" name="Shape 3"/>
          <p:cNvSpPr/>
          <p:nvPr/>
        </p:nvSpPr>
        <p:spPr>
          <a:xfrm>
            <a:off x="2240280" y="1545336"/>
            <a:ext cx="320040" cy="0"/>
          </a:xfrm>
          <a:prstGeom prst="line">
            <a:avLst/>
          </a:prstGeom>
          <a:noFill/>
          <a:ln w="15875">
            <a:solidFill>
              <a:srgbClr val="8B948D"/>
            </a:solidFill>
            <a:prstDash val="solid"/>
          </a:ln>
        </p:spPr>
      </p:sp>
      <p:sp>
        <p:nvSpPr>
          <p:cNvPr id="6" name="Shape 4"/>
          <p:cNvSpPr/>
          <p:nvPr/>
        </p:nvSpPr>
        <p:spPr>
          <a:xfrm>
            <a:off x="457200" y="1947672"/>
            <a:ext cx="1783080" cy="438912"/>
          </a:xfrm>
          <a:prstGeom prst="roundRect">
            <a:avLst>
              <a:gd name="adj" fmla="val 16667"/>
            </a:avLst>
          </a:prstGeom>
          <a:solidFill>
            <a:srgbClr val="E3EFE8"/>
          </a:solidFill>
          <a:ln/>
        </p:spPr>
      </p:sp>
      <p:sp>
        <p:nvSpPr>
          <p:cNvPr id="7" name="Text 5"/>
          <p:cNvSpPr txBox="1"/>
          <p:nvPr/>
        </p:nvSpPr>
        <p:spPr>
          <a:xfrm>
            <a:off x="457200" y="1947672"/>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Civil Registry</a:t>
            </a:r>
            <a:endParaRPr lang="en-US" sz="1200" dirty="0"/>
          </a:p>
        </p:txBody>
      </p:sp>
      <p:sp>
        <p:nvSpPr>
          <p:cNvPr id="8" name="Shape 6"/>
          <p:cNvSpPr/>
          <p:nvPr/>
        </p:nvSpPr>
        <p:spPr>
          <a:xfrm>
            <a:off x="2240280" y="2167128"/>
            <a:ext cx="320040" cy="0"/>
          </a:xfrm>
          <a:prstGeom prst="line">
            <a:avLst/>
          </a:prstGeom>
          <a:noFill/>
          <a:ln w="15875">
            <a:solidFill>
              <a:srgbClr val="8B948D"/>
            </a:solidFill>
            <a:prstDash val="solid"/>
          </a:ln>
        </p:spPr>
      </p:sp>
      <p:sp>
        <p:nvSpPr>
          <p:cNvPr id="9" name="Shape 7"/>
          <p:cNvSpPr/>
          <p:nvPr/>
        </p:nvSpPr>
        <p:spPr>
          <a:xfrm>
            <a:off x="457200" y="2569464"/>
            <a:ext cx="1783080" cy="438912"/>
          </a:xfrm>
          <a:prstGeom prst="roundRect">
            <a:avLst>
              <a:gd name="adj" fmla="val 16667"/>
            </a:avLst>
          </a:prstGeom>
          <a:solidFill>
            <a:srgbClr val="E3EFE8"/>
          </a:solidFill>
          <a:ln/>
        </p:spPr>
      </p:sp>
      <p:sp>
        <p:nvSpPr>
          <p:cNvPr id="10" name="Text 8"/>
          <p:cNvSpPr txBox="1"/>
          <p:nvPr/>
        </p:nvSpPr>
        <p:spPr>
          <a:xfrm>
            <a:off x="457200" y="2569464"/>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Agriculture</a:t>
            </a:r>
            <a:endParaRPr lang="en-US" sz="1200" dirty="0"/>
          </a:p>
        </p:txBody>
      </p:sp>
      <p:sp>
        <p:nvSpPr>
          <p:cNvPr id="11" name="Shape 9"/>
          <p:cNvSpPr/>
          <p:nvPr/>
        </p:nvSpPr>
        <p:spPr>
          <a:xfrm>
            <a:off x="2240280" y="2788920"/>
            <a:ext cx="320040" cy="0"/>
          </a:xfrm>
          <a:prstGeom prst="line">
            <a:avLst/>
          </a:prstGeom>
          <a:noFill/>
          <a:ln w="15875">
            <a:solidFill>
              <a:srgbClr val="8B948D"/>
            </a:solidFill>
            <a:prstDash val="solid"/>
          </a:ln>
        </p:spPr>
      </p:sp>
      <p:sp>
        <p:nvSpPr>
          <p:cNvPr id="12" name="Shape 10"/>
          <p:cNvSpPr/>
          <p:nvPr/>
        </p:nvSpPr>
        <p:spPr>
          <a:xfrm>
            <a:off x="457200" y="3191256"/>
            <a:ext cx="1783080" cy="438912"/>
          </a:xfrm>
          <a:prstGeom prst="roundRect">
            <a:avLst>
              <a:gd name="adj" fmla="val 16667"/>
            </a:avLst>
          </a:prstGeom>
          <a:solidFill>
            <a:srgbClr val="E3EFE8"/>
          </a:solidFill>
          <a:ln/>
        </p:spPr>
      </p:sp>
      <p:sp>
        <p:nvSpPr>
          <p:cNvPr id="13" name="Text 11"/>
          <p:cNvSpPr txBox="1"/>
          <p:nvPr/>
        </p:nvSpPr>
        <p:spPr>
          <a:xfrm>
            <a:off x="457200" y="3191256"/>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Business Permits</a:t>
            </a:r>
            <a:endParaRPr lang="en-US" sz="1200" dirty="0"/>
          </a:p>
        </p:txBody>
      </p:sp>
      <p:sp>
        <p:nvSpPr>
          <p:cNvPr id="14" name="Shape 12"/>
          <p:cNvSpPr/>
          <p:nvPr/>
        </p:nvSpPr>
        <p:spPr>
          <a:xfrm>
            <a:off x="2240280" y="3410712"/>
            <a:ext cx="320040" cy="0"/>
          </a:xfrm>
          <a:prstGeom prst="line">
            <a:avLst/>
          </a:prstGeom>
          <a:noFill/>
          <a:ln w="15875">
            <a:solidFill>
              <a:srgbClr val="8B948D"/>
            </a:solidFill>
            <a:prstDash val="solid"/>
          </a:ln>
        </p:spPr>
      </p:sp>
      <p:sp>
        <p:nvSpPr>
          <p:cNvPr id="15" name="Shape 13"/>
          <p:cNvSpPr/>
          <p:nvPr/>
        </p:nvSpPr>
        <p:spPr>
          <a:xfrm>
            <a:off x="457200" y="3813048"/>
            <a:ext cx="1783080" cy="438912"/>
          </a:xfrm>
          <a:prstGeom prst="roundRect">
            <a:avLst>
              <a:gd name="adj" fmla="val 16667"/>
            </a:avLst>
          </a:prstGeom>
          <a:solidFill>
            <a:srgbClr val="E3EFE8"/>
          </a:solidFill>
          <a:ln/>
        </p:spPr>
      </p:sp>
      <p:sp>
        <p:nvSpPr>
          <p:cNvPr id="16" name="Text 14"/>
          <p:cNvSpPr txBox="1"/>
          <p:nvPr/>
        </p:nvSpPr>
        <p:spPr>
          <a:xfrm>
            <a:off x="457200" y="3813048"/>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Assessor's Office</a:t>
            </a:r>
            <a:endParaRPr lang="en-US" sz="1200" dirty="0"/>
          </a:p>
        </p:txBody>
      </p:sp>
      <p:sp>
        <p:nvSpPr>
          <p:cNvPr id="17" name="Shape 15"/>
          <p:cNvSpPr/>
          <p:nvPr/>
        </p:nvSpPr>
        <p:spPr>
          <a:xfrm>
            <a:off x="2240280" y="4032504"/>
            <a:ext cx="320040" cy="0"/>
          </a:xfrm>
          <a:prstGeom prst="line">
            <a:avLst/>
          </a:prstGeom>
          <a:noFill/>
          <a:ln w="15875">
            <a:solidFill>
              <a:srgbClr val="8B948D"/>
            </a:solidFill>
            <a:prstDash val="solid"/>
          </a:ln>
        </p:spPr>
      </p:sp>
      <p:sp>
        <p:nvSpPr>
          <p:cNvPr id="18" name="Shape 16"/>
          <p:cNvSpPr/>
          <p:nvPr/>
        </p:nvSpPr>
        <p:spPr>
          <a:xfrm>
            <a:off x="2560320" y="1325880"/>
            <a:ext cx="1554480" cy="2926080"/>
          </a:xfrm>
          <a:prstGeom prst="roundRect">
            <a:avLst>
              <a:gd name="adj" fmla="val 4706"/>
            </a:avLst>
          </a:prstGeom>
          <a:solidFill>
            <a:srgbClr val="0F6B4C"/>
          </a:solidFill>
          <a:ln/>
        </p:spPr>
      </p:sp>
      <p:sp>
        <p:nvSpPr>
          <p:cNvPr id="19" name="Text 17"/>
          <p:cNvSpPr txBox="1"/>
          <p:nvPr/>
        </p:nvSpPr>
        <p:spPr>
          <a:xfrm>
            <a:off x="2651760" y="1325880"/>
            <a:ext cx="1371600" cy="2926080"/>
          </a:xfrm>
          <a:prstGeom prst="rect">
            <a:avLst/>
          </a:prstGeom>
          <a:noFill/>
          <a:ln/>
        </p:spPr>
        <p:txBody>
          <a:bodyPr wrap="square" lIns="0" tIns="0" rIns="0" bIns="0" rtlCol="0" anchor="ctr"/>
          <a:lstStyle/>
          <a:p>
            <a:pPr algn="ctr" indent="0" marL="0">
              <a:buNone/>
            </a:pPr>
            <a:r>
              <a:rPr lang="en-US" sz="2000" b="1" dirty="0">
                <a:solidFill>
                  <a:schemeClr val="bg1"/>
                </a:solidFill>
              </a:rPr>
              <a:t>VUCRMS</a:t>
            </a:r>
            <a:endParaRPr lang="en-US" sz="2000" dirty="0"/>
          </a:p>
          <a:p>
            <a:pPr algn="ctr" indent="0" marL="0">
              <a:buNone/>
            </a:pPr>
            <a:r>
              <a:rPr lang="en-US" sz="1300" dirty="0">
                <a:solidFill>
                  <a:schemeClr val="bg1"/>
                </a:solidFill>
              </a:rPr>
              <a:t>one shared record system</a:t>
            </a:r>
            <a:endParaRPr lang="en-US" sz="2000" dirty="0"/>
          </a:p>
        </p:txBody>
      </p:sp>
      <p:sp>
        <p:nvSpPr>
          <p:cNvPr id="20" name="Shape 18"/>
          <p:cNvSpPr/>
          <p:nvPr/>
        </p:nvSpPr>
        <p:spPr>
          <a:xfrm>
            <a:off x="4572000" y="1371600"/>
            <a:ext cx="548640" cy="548640"/>
          </a:xfrm>
          <a:prstGeom prst="ellipse">
            <a:avLst/>
          </a:prstGeom>
          <a:solidFill>
            <a:srgbClr val="E3EFE8"/>
          </a:solidFill>
          <a:ln/>
        </p:spPr>
      </p:sp>
      <p:pic>
        <p:nvPicPr>
          <p:cNvPr id="21" name="Image 0" descr="preencoded.png">    </p:cNvPr>
          <p:cNvPicPr>
            <a:picLocks noChangeAspect="1"/>
          </p:cNvPicPr>
          <p:nvPr/>
        </p:nvPicPr>
        <p:blipFill>
          <a:blip r:embed="rId1"/>
          <a:stretch>
            <a:fillRect/>
          </a:stretch>
        </p:blipFill>
        <p:spPr>
          <a:xfrm>
            <a:off x="4709160" y="1508760"/>
            <a:ext cx="274320" cy="274320"/>
          </a:xfrm>
          <a:prstGeom prst="rect">
            <a:avLst/>
          </a:prstGeom>
        </p:spPr>
      </p:pic>
      <p:sp>
        <p:nvSpPr>
          <p:cNvPr id="22" name="Text 19"/>
          <p:cNvSpPr txBox="1"/>
          <p:nvPr/>
        </p:nvSpPr>
        <p:spPr>
          <a:xfrm>
            <a:off x="5303520" y="1353312"/>
            <a:ext cx="3383280" cy="292608"/>
          </a:xfrm>
          <a:prstGeom prst="rect">
            <a:avLst/>
          </a:prstGeom>
          <a:noFill/>
          <a:ln/>
        </p:spPr>
        <p:txBody>
          <a:bodyPr wrap="square" lIns="0" tIns="0" rIns="0" bIns="0" rtlCol="0" anchor="ctr"/>
          <a:lstStyle/>
          <a:p>
            <a:pPr indent="0" marL="0">
              <a:buNone/>
            </a:pPr>
            <a:r>
              <a:rPr lang="en-US" sz="1500" b="1" dirty="0">
                <a:solidFill>
                  <a:schemeClr val="tx1"/>
                </a:solidFill>
              </a:rPr>
              <a:t>A secured space for each office</a:t>
            </a:r>
            <a:endParaRPr lang="en-US" sz="1500" dirty="0"/>
          </a:p>
        </p:txBody>
      </p:sp>
      <p:sp>
        <p:nvSpPr>
          <p:cNvPr id="23" name="Text 20"/>
          <p:cNvSpPr txBox="1"/>
          <p:nvPr/>
        </p:nvSpPr>
        <p:spPr>
          <a:xfrm>
            <a:off x="5303520" y="1645920"/>
            <a:ext cx="3383280" cy="548640"/>
          </a:xfrm>
          <a:prstGeom prst="rect">
            <a:avLst/>
          </a:prstGeom>
          <a:noFill/>
          <a:ln/>
        </p:spPr>
        <p:txBody>
          <a:bodyPr wrap="square" lIns="0" tIns="0" rIns="0" bIns="0" rtlCol="0" anchor="t"/>
          <a:lstStyle/>
          <a:p>
            <a:pPr indent="0" marL="0">
              <a:buNone/>
            </a:pPr>
            <a:r>
              <a:rPr lang="en-US" sz="1200" dirty="0">
                <a:solidFill>
                  <a:schemeClr val="accent3"/>
                </a:solidFill>
              </a:rPr>
              <a:t>Each office defines its own record types and sees only its own data.</a:t>
            </a:r>
            <a:endParaRPr lang="en-US" sz="1200" dirty="0"/>
          </a:p>
        </p:txBody>
      </p:sp>
      <p:sp>
        <p:nvSpPr>
          <p:cNvPr id="24" name="Shape 21"/>
          <p:cNvSpPr/>
          <p:nvPr/>
        </p:nvSpPr>
        <p:spPr>
          <a:xfrm>
            <a:off x="4572000" y="2395728"/>
            <a:ext cx="548640" cy="548640"/>
          </a:xfrm>
          <a:prstGeom prst="ellipse">
            <a:avLst/>
          </a:prstGeom>
          <a:solidFill>
            <a:srgbClr val="E3EFE8"/>
          </a:solidFill>
          <a:ln/>
        </p:spPr>
      </p:sp>
      <p:pic>
        <p:nvPicPr>
          <p:cNvPr id="25" name="Image 1" descr="preencoded.png">    </p:cNvPr>
          <p:cNvPicPr>
            <a:picLocks noChangeAspect="1"/>
          </p:cNvPicPr>
          <p:nvPr/>
        </p:nvPicPr>
        <p:blipFill>
          <a:blip r:embed="rId2"/>
          <a:stretch>
            <a:fillRect/>
          </a:stretch>
        </p:blipFill>
        <p:spPr>
          <a:xfrm>
            <a:off x="4709160" y="2532888"/>
            <a:ext cx="274320" cy="274320"/>
          </a:xfrm>
          <a:prstGeom prst="rect">
            <a:avLst/>
          </a:prstGeom>
        </p:spPr>
      </p:pic>
      <p:sp>
        <p:nvSpPr>
          <p:cNvPr id="26" name="Text 22"/>
          <p:cNvSpPr txBox="1"/>
          <p:nvPr/>
        </p:nvSpPr>
        <p:spPr>
          <a:xfrm>
            <a:off x="5303520" y="2377440"/>
            <a:ext cx="3383280" cy="292608"/>
          </a:xfrm>
          <a:prstGeom prst="rect">
            <a:avLst/>
          </a:prstGeom>
          <a:noFill/>
          <a:ln/>
        </p:spPr>
        <p:txBody>
          <a:bodyPr wrap="square" lIns="0" tIns="0" rIns="0" bIns="0" rtlCol="0" anchor="ctr"/>
          <a:lstStyle/>
          <a:p>
            <a:pPr indent="0" marL="0">
              <a:buNone/>
            </a:pPr>
            <a:r>
              <a:rPr lang="en-US" sz="1500" b="1" dirty="0">
                <a:solidFill>
                  <a:schemeClr val="tx1"/>
                </a:solidFill>
              </a:rPr>
              <a:t>One person, one record</a:t>
            </a:r>
            <a:endParaRPr lang="en-US" sz="1500" dirty="0"/>
          </a:p>
        </p:txBody>
      </p:sp>
      <p:sp>
        <p:nvSpPr>
          <p:cNvPr id="27" name="Text 23"/>
          <p:cNvSpPr txBox="1"/>
          <p:nvPr/>
        </p:nvSpPr>
        <p:spPr>
          <a:xfrm>
            <a:off x="5303520" y="2670048"/>
            <a:ext cx="3383280" cy="548640"/>
          </a:xfrm>
          <a:prstGeom prst="rect">
            <a:avLst/>
          </a:prstGeom>
          <a:noFill/>
          <a:ln/>
        </p:spPr>
        <p:txBody>
          <a:bodyPr wrap="square" lIns="0" tIns="0" rIns="0" bIns="0" rtlCol="0" anchor="t"/>
          <a:lstStyle/>
          <a:p>
            <a:pPr indent="0" marL="0">
              <a:buNone/>
            </a:pPr>
            <a:r>
              <a:rPr lang="en-US" sz="1200" dirty="0">
                <a:solidFill>
                  <a:schemeClr val="accent3"/>
                </a:solidFill>
              </a:rPr>
              <a:t>The system recognizes a returning resident and sends possible duplicates to staff for review before saving.</a:t>
            </a:r>
            <a:endParaRPr lang="en-US" sz="1200" dirty="0"/>
          </a:p>
        </p:txBody>
      </p:sp>
      <p:sp>
        <p:nvSpPr>
          <p:cNvPr id="28" name="Shape 24"/>
          <p:cNvSpPr/>
          <p:nvPr/>
        </p:nvSpPr>
        <p:spPr>
          <a:xfrm>
            <a:off x="4572000" y="3419856"/>
            <a:ext cx="548640" cy="548640"/>
          </a:xfrm>
          <a:prstGeom prst="ellipse">
            <a:avLst/>
          </a:prstGeom>
          <a:solidFill>
            <a:srgbClr val="E3EFE8"/>
          </a:solidFill>
          <a:ln/>
        </p:spPr>
      </p:sp>
      <p:pic>
        <p:nvPicPr>
          <p:cNvPr id="29" name="Image 2" descr="preencoded.png">    </p:cNvPr>
          <p:cNvPicPr>
            <a:picLocks noChangeAspect="1"/>
          </p:cNvPicPr>
          <p:nvPr/>
        </p:nvPicPr>
        <p:blipFill>
          <a:blip r:embed="rId3"/>
          <a:stretch>
            <a:fillRect/>
          </a:stretch>
        </p:blipFill>
        <p:spPr>
          <a:xfrm>
            <a:off x="4709160" y="3557016"/>
            <a:ext cx="274320" cy="274320"/>
          </a:xfrm>
          <a:prstGeom prst="rect">
            <a:avLst/>
          </a:prstGeom>
        </p:spPr>
      </p:pic>
      <p:sp>
        <p:nvSpPr>
          <p:cNvPr id="30" name="Text 25"/>
          <p:cNvSpPr txBox="1"/>
          <p:nvPr/>
        </p:nvSpPr>
        <p:spPr>
          <a:xfrm>
            <a:off x="5303520" y="3401568"/>
            <a:ext cx="3383280" cy="292608"/>
          </a:xfrm>
          <a:prstGeom prst="rect">
            <a:avLst/>
          </a:prstGeom>
          <a:noFill/>
          <a:ln/>
        </p:spPr>
        <p:txBody>
          <a:bodyPr wrap="square" lIns="0" tIns="0" rIns="0" bIns="0" rtlCol="0" anchor="ctr"/>
          <a:lstStyle/>
          <a:p>
            <a:pPr indent="0" marL="0">
              <a:buNone/>
            </a:pPr>
            <a:r>
              <a:rPr lang="en-US" sz="1500" b="1" dirty="0">
                <a:solidFill>
                  <a:schemeClr val="tx1"/>
                </a:solidFill>
              </a:rPr>
              <a:t>Households, not just individuals</a:t>
            </a:r>
            <a:endParaRPr lang="en-US" sz="1500" dirty="0"/>
          </a:p>
        </p:txBody>
      </p:sp>
      <p:sp>
        <p:nvSpPr>
          <p:cNvPr id="31" name="Text 26"/>
          <p:cNvSpPr txBox="1"/>
          <p:nvPr/>
        </p:nvSpPr>
        <p:spPr>
          <a:xfrm>
            <a:off x="5303520" y="3694176"/>
            <a:ext cx="3383280" cy="548640"/>
          </a:xfrm>
          <a:prstGeom prst="rect">
            <a:avLst/>
          </a:prstGeom>
          <a:noFill/>
          <a:ln/>
        </p:spPr>
        <p:txBody>
          <a:bodyPr wrap="square" lIns="0" tIns="0" rIns="0" bIns="0" rtlCol="0" anchor="t"/>
          <a:lstStyle/>
          <a:p>
            <a:pPr indent="0" marL="0">
              <a:buNone/>
            </a:pPr>
            <a:r>
              <a:rPr lang="en-US" sz="1200" dirty="0">
                <a:solidFill>
                  <a:schemeClr val="accent3"/>
                </a:solidFill>
              </a:rPr>
              <a:t>Family links support programs such as those under the Solo Parent Welfare Act.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Highlight: charts from any office's records</a:t>
            </a:r>
            <a:endParaRPr lang="en-US" sz="3000" dirty="0"/>
          </a:p>
        </p:txBody>
      </p:sp>
      <p:sp>
        <p:nvSpPr>
          <p:cNvPr id="3" name="Shape 1"/>
          <p:cNvSpPr/>
          <p:nvPr/>
        </p:nvSpPr>
        <p:spPr>
          <a:xfrm>
            <a:off x="457200" y="1234440"/>
            <a:ext cx="1828800" cy="1600200"/>
          </a:xfrm>
          <a:prstGeom prst="roundRect">
            <a:avLst>
              <a:gd name="adj" fmla="val 4571"/>
            </a:avLst>
          </a:prstGeom>
          <a:solidFill>
            <a:srgbClr val="F1F5F2"/>
          </a:solidFill>
          <a:ln/>
        </p:spPr>
      </p:sp>
      <p:sp>
        <p:nvSpPr>
          <p:cNvPr id="4" name="Shape 2"/>
          <p:cNvSpPr/>
          <p:nvPr/>
        </p:nvSpPr>
        <p:spPr>
          <a:xfrm>
            <a:off x="640080" y="1417320"/>
            <a:ext cx="457200" cy="457200"/>
          </a:xfrm>
          <a:prstGeom prst="ellipse">
            <a:avLst/>
          </a:prstGeom>
          <a:solidFill>
            <a:srgbClr val="0F6B4C"/>
          </a:solidFill>
          <a:ln/>
        </p:spPr>
      </p:sp>
      <p:pic>
        <p:nvPicPr>
          <p:cNvPr id="5"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6" name="Text 3"/>
          <p:cNvSpPr txBox="1"/>
          <p:nvPr/>
        </p:nvSpPr>
        <p:spPr>
          <a:xfrm>
            <a:off x="640080"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Pick the data</a:t>
            </a:r>
            <a:endParaRPr lang="en-US" sz="1350" dirty="0"/>
          </a:p>
        </p:txBody>
      </p:sp>
      <p:sp>
        <p:nvSpPr>
          <p:cNvPr id="7" name="Text 4"/>
          <p:cNvSpPr txBox="1"/>
          <p:nvPr/>
        </p:nvSpPr>
        <p:spPr>
          <a:xfrm>
            <a:off x="640080"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Records from any office in the system</a:t>
            </a:r>
            <a:endParaRPr lang="en-US" sz="1150" dirty="0"/>
          </a:p>
        </p:txBody>
      </p:sp>
      <p:sp>
        <p:nvSpPr>
          <p:cNvPr id="8" name="Text 5"/>
          <p:cNvSpPr txBox="1"/>
          <p:nvPr/>
        </p:nvSpPr>
        <p:spPr>
          <a:xfrm>
            <a:off x="2286000" y="1783080"/>
            <a:ext cx="301752"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9" name="Shape 6"/>
          <p:cNvSpPr/>
          <p:nvPr/>
        </p:nvSpPr>
        <p:spPr>
          <a:xfrm>
            <a:off x="2587752" y="1234440"/>
            <a:ext cx="1828800" cy="1600200"/>
          </a:xfrm>
          <a:prstGeom prst="roundRect">
            <a:avLst>
              <a:gd name="adj" fmla="val 4571"/>
            </a:avLst>
          </a:prstGeom>
          <a:solidFill>
            <a:srgbClr val="F1F5F2"/>
          </a:solidFill>
          <a:ln/>
        </p:spPr>
      </p:sp>
      <p:sp>
        <p:nvSpPr>
          <p:cNvPr id="10" name="Shape 7"/>
          <p:cNvSpPr/>
          <p:nvPr/>
        </p:nvSpPr>
        <p:spPr>
          <a:xfrm>
            <a:off x="2770632" y="1417320"/>
            <a:ext cx="457200" cy="457200"/>
          </a:xfrm>
          <a:prstGeom prst="ellipse">
            <a:avLst/>
          </a:prstGeom>
          <a:solidFill>
            <a:srgbClr val="0F6B4C"/>
          </a:solidFill>
          <a:ln/>
        </p:spPr>
      </p:sp>
      <p:pic>
        <p:nvPicPr>
          <p:cNvPr id="11" name="Image 1" descr="preencoded.png">    </p:cNvPr>
          <p:cNvPicPr>
            <a:picLocks noChangeAspect="1"/>
          </p:cNvPicPr>
          <p:nvPr/>
        </p:nvPicPr>
        <p:blipFill>
          <a:blip r:embed="rId2"/>
          <a:stretch>
            <a:fillRect/>
          </a:stretch>
        </p:blipFill>
        <p:spPr>
          <a:xfrm>
            <a:off x="2884932" y="1531620"/>
            <a:ext cx="228600" cy="228600"/>
          </a:xfrm>
          <a:prstGeom prst="rect">
            <a:avLst/>
          </a:prstGeom>
        </p:spPr>
      </p:pic>
      <p:sp>
        <p:nvSpPr>
          <p:cNvPr id="12" name="Text 8"/>
          <p:cNvSpPr txBox="1"/>
          <p:nvPr/>
        </p:nvSpPr>
        <p:spPr>
          <a:xfrm>
            <a:off x="2770632"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What to count</a:t>
            </a:r>
            <a:endParaRPr lang="en-US" sz="1350" dirty="0"/>
          </a:p>
        </p:txBody>
      </p:sp>
      <p:sp>
        <p:nvSpPr>
          <p:cNvPr id="13" name="Text 9"/>
          <p:cNvSpPr txBox="1"/>
          <p:nvPr/>
        </p:nvSpPr>
        <p:spPr>
          <a:xfrm>
            <a:off x="2770632"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Records, people, or the total of a number field</a:t>
            </a:r>
            <a:endParaRPr lang="en-US" sz="1150" dirty="0"/>
          </a:p>
        </p:txBody>
      </p:sp>
      <p:sp>
        <p:nvSpPr>
          <p:cNvPr id="14" name="Text 10"/>
          <p:cNvSpPr txBox="1"/>
          <p:nvPr/>
        </p:nvSpPr>
        <p:spPr>
          <a:xfrm>
            <a:off x="4416552" y="1783080"/>
            <a:ext cx="301752"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15" name="Shape 11"/>
          <p:cNvSpPr/>
          <p:nvPr/>
        </p:nvSpPr>
        <p:spPr>
          <a:xfrm>
            <a:off x="4718304" y="1234440"/>
            <a:ext cx="1828800" cy="1600200"/>
          </a:xfrm>
          <a:prstGeom prst="roundRect">
            <a:avLst>
              <a:gd name="adj" fmla="val 4571"/>
            </a:avLst>
          </a:prstGeom>
          <a:solidFill>
            <a:srgbClr val="F1F5F2"/>
          </a:solidFill>
          <a:ln/>
        </p:spPr>
      </p:sp>
      <p:sp>
        <p:nvSpPr>
          <p:cNvPr id="16" name="Shape 12"/>
          <p:cNvSpPr/>
          <p:nvPr/>
        </p:nvSpPr>
        <p:spPr>
          <a:xfrm>
            <a:off x="4901184" y="1417320"/>
            <a:ext cx="457200" cy="457200"/>
          </a:xfrm>
          <a:prstGeom prst="ellipse">
            <a:avLst/>
          </a:prstGeom>
          <a:solidFill>
            <a:srgbClr val="0F6B4C"/>
          </a:solidFill>
          <a:ln/>
        </p:spPr>
      </p:sp>
      <p:pic>
        <p:nvPicPr>
          <p:cNvPr id="17" name="Image 2" descr="preencoded.png">    </p:cNvPr>
          <p:cNvPicPr>
            <a:picLocks noChangeAspect="1"/>
          </p:cNvPicPr>
          <p:nvPr/>
        </p:nvPicPr>
        <p:blipFill>
          <a:blip r:embed="rId3"/>
          <a:stretch>
            <a:fillRect/>
          </a:stretch>
        </p:blipFill>
        <p:spPr>
          <a:xfrm>
            <a:off x="5015484" y="1531620"/>
            <a:ext cx="228600" cy="228600"/>
          </a:xfrm>
          <a:prstGeom prst="rect">
            <a:avLst/>
          </a:prstGeom>
        </p:spPr>
      </p:pic>
      <p:sp>
        <p:nvSpPr>
          <p:cNvPr id="18" name="Text 13"/>
          <p:cNvSpPr txBox="1"/>
          <p:nvPr/>
        </p:nvSpPr>
        <p:spPr>
          <a:xfrm>
            <a:off x="4901184"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Group it</a:t>
            </a:r>
            <a:endParaRPr lang="en-US" sz="1350" dirty="0"/>
          </a:p>
        </p:txBody>
      </p:sp>
      <p:sp>
        <p:nvSpPr>
          <p:cNvPr id="19" name="Text 14"/>
          <p:cNvSpPr txBox="1"/>
          <p:nvPr/>
        </p:nvSpPr>
        <p:spPr>
          <a:xfrm>
            <a:off x="4901184"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By barangay, month, age group or any field the office keeps</a:t>
            </a:r>
            <a:endParaRPr lang="en-US" sz="1150" dirty="0"/>
          </a:p>
        </p:txBody>
      </p:sp>
      <p:sp>
        <p:nvSpPr>
          <p:cNvPr id="20" name="Text 15"/>
          <p:cNvSpPr txBox="1"/>
          <p:nvPr/>
        </p:nvSpPr>
        <p:spPr>
          <a:xfrm>
            <a:off x="6547104" y="1783080"/>
            <a:ext cx="301752"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21" name="Shape 16"/>
          <p:cNvSpPr/>
          <p:nvPr/>
        </p:nvSpPr>
        <p:spPr>
          <a:xfrm>
            <a:off x="6848856" y="1234440"/>
            <a:ext cx="1828800" cy="1600200"/>
          </a:xfrm>
          <a:prstGeom prst="roundRect">
            <a:avLst>
              <a:gd name="adj" fmla="val 4571"/>
            </a:avLst>
          </a:prstGeom>
          <a:solidFill>
            <a:srgbClr val="F1F5F2"/>
          </a:solidFill>
          <a:ln/>
        </p:spPr>
      </p:sp>
      <p:sp>
        <p:nvSpPr>
          <p:cNvPr id="22" name="Shape 17"/>
          <p:cNvSpPr/>
          <p:nvPr/>
        </p:nvSpPr>
        <p:spPr>
          <a:xfrm>
            <a:off x="7031736" y="1417320"/>
            <a:ext cx="457200" cy="457200"/>
          </a:xfrm>
          <a:prstGeom prst="ellipse">
            <a:avLst/>
          </a:prstGeom>
          <a:solidFill>
            <a:srgbClr val="0F6B4C"/>
          </a:solidFill>
          <a:ln/>
        </p:spPr>
      </p:sp>
      <p:pic>
        <p:nvPicPr>
          <p:cNvPr id="23" name="Image 3" descr="preencoded.png">    </p:cNvPr>
          <p:cNvPicPr>
            <a:picLocks noChangeAspect="1"/>
          </p:cNvPicPr>
          <p:nvPr/>
        </p:nvPicPr>
        <p:blipFill>
          <a:blip r:embed="rId4"/>
          <a:stretch>
            <a:fillRect/>
          </a:stretch>
        </p:blipFill>
        <p:spPr>
          <a:xfrm>
            <a:off x="7146036" y="1531620"/>
            <a:ext cx="228600" cy="228600"/>
          </a:xfrm>
          <a:prstGeom prst="rect">
            <a:avLst/>
          </a:prstGeom>
        </p:spPr>
      </p:pic>
      <p:sp>
        <p:nvSpPr>
          <p:cNvPr id="24" name="Text 18"/>
          <p:cNvSpPr txBox="1"/>
          <p:nvPr/>
        </p:nvSpPr>
        <p:spPr>
          <a:xfrm>
            <a:off x="7031736"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Show it</a:t>
            </a:r>
            <a:endParaRPr lang="en-US" sz="1350" dirty="0"/>
          </a:p>
        </p:txBody>
      </p:sp>
      <p:sp>
        <p:nvSpPr>
          <p:cNvPr id="25" name="Text 19"/>
          <p:cNvSpPr txBox="1"/>
          <p:nvPr/>
        </p:nvSpPr>
        <p:spPr>
          <a:xfrm>
            <a:off x="7031736"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Bar, line or donut chart, or one big number</a:t>
            </a:r>
            <a:endParaRPr lang="en-US" sz="1150" dirty="0"/>
          </a:p>
        </p:txBody>
      </p:sp>
      <p:sp>
        <p:nvSpPr>
          <p:cNvPr id="26" name="Text 20"/>
          <p:cNvSpPr txBox="1"/>
          <p:nvPr/>
        </p:nvSpPr>
        <p:spPr>
          <a:xfrm>
            <a:off x="457200" y="3108960"/>
            <a:ext cx="8229600" cy="320040"/>
          </a:xfrm>
          <a:prstGeom prst="rect">
            <a:avLst/>
          </a:prstGeom>
          <a:noFill/>
          <a:ln/>
        </p:spPr>
        <p:txBody>
          <a:bodyPr wrap="square" lIns="0" tIns="0" rIns="0" bIns="0" rtlCol="0" anchor="ctr"/>
          <a:lstStyle/>
          <a:p>
            <a:pPr indent="0" marL="0">
              <a:buNone/>
            </a:pPr>
            <a:r>
              <a:rPr lang="en-US" sz="1400" b="1" dirty="0">
                <a:solidFill>
                  <a:schemeClr val="accent2"/>
                </a:solidFill>
              </a:rPr>
              <a:t>Beyond residents: charts the system already shows</a:t>
            </a:r>
            <a:endParaRPr lang="en-US" sz="1400" dirty="0"/>
          </a:p>
        </p:txBody>
      </p:sp>
      <p:sp>
        <p:nvSpPr>
          <p:cNvPr id="27" name="Shape 21"/>
          <p:cNvSpPr/>
          <p:nvPr/>
        </p:nvSpPr>
        <p:spPr>
          <a:xfrm>
            <a:off x="457200" y="3520440"/>
            <a:ext cx="1828800" cy="777240"/>
          </a:xfrm>
          <a:prstGeom prst="roundRect">
            <a:avLst>
              <a:gd name="adj" fmla="val 9412"/>
            </a:avLst>
          </a:prstGeom>
          <a:solidFill>
            <a:srgbClr val="F7E9E4"/>
          </a:solidFill>
          <a:ln/>
        </p:spPr>
      </p:sp>
      <p:sp>
        <p:nvSpPr>
          <p:cNvPr id="28" name="Text 22"/>
          <p:cNvSpPr txBox="1"/>
          <p:nvPr/>
        </p:nvSpPr>
        <p:spPr>
          <a:xfrm>
            <a:off x="594360"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Businesses by barangay</a:t>
            </a:r>
            <a:endParaRPr lang="en-US" sz="1300" dirty="0"/>
          </a:p>
        </p:txBody>
      </p:sp>
      <p:sp>
        <p:nvSpPr>
          <p:cNvPr id="29" name="Shape 23"/>
          <p:cNvSpPr/>
          <p:nvPr/>
        </p:nvSpPr>
        <p:spPr>
          <a:xfrm>
            <a:off x="2587752" y="3520440"/>
            <a:ext cx="1828800" cy="777240"/>
          </a:xfrm>
          <a:prstGeom prst="roundRect">
            <a:avLst>
              <a:gd name="adj" fmla="val 9412"/>
            </a:avLst>
          </a:prstGeom>
          <a:solidFill>
            <a:srgbClr val="F7E9E4"/>
          </a:solidFill>
          <a:ln/>
        </p:spPr>
      </p:sp>
      <p:sp>
        <p:nvSpPr>
          <p:cNvPr id="30" name="Text 24"/>
          <p:cNvSpPr txBox="1"/>
          <p:nvPr/>
        </p:nvSpPr>
        <p:spPr>
          <a:xfrm>
            <a:off x="2724912"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Building permits by use</a:t>
            </a:r>
            <a:endParaRPr lang="en-US" sz="1300" dirty="0"/>
          </a:p>
        </p:txBody>
      </p:sp>
      <p:sp>
        <p:nvSpPr>
          <p:cNvPr id="31" name="Shape 25"/>
          <p:cNvSpPr/>
          <p:nvPr/>
        </p:nvSpPr>
        <p:spPr>
          <a:xfrm>
            <a:off x="4718304" y="3520440"/>
            <a:ext cx="1828800" cy="777240"/>
          </a:xfrm>
          <a:prstGeom prst="roundRect">
            <a:avLst>
              <a:gd name="adj" fmla="val 9412"/>
            </a:avLst>
          </a:prstGeom>
          <a:solidFill>
            <a:srgbClr val="F7E9E4"/>
          </a:solidFill>
          <a:ln/>
        </p:spPr>
      </p:sp>
      <p:sp>
        <p:nvSpPr>
          <p:cNvPr id="32" name="Text 26"/>
          <p:cNvSpPr txBox="1"/>
          <p:nvPr/>
        </p:nvSpPr>
        <p:spPr>
          <a:xfrm>
            <a:off x="4855464"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Zoning clearances by decision</a:t>
            </a:r>
            <a:endParaRPr lang="en-US" sz="1300" dirty="0"/>
          </a:p>
        </p:txBody>
      </p:sp>
      <p:sp>
        <p:nvSpPr>
          <p:cNvPr id="33" name="Shape 27"/>
          <p:cNvSpPr/>
          <p:nvPr/>
        </p:nvSpPr>
        <p:spPr>
          <a:xfrm>
            <a:off x="6848856" y="3520440"/>
            <a:ext cx="1828800" cy="777240"/>
          </a:xfrm>
          <a:prstGeom prst="roundRect">
            <a:avLst>
              <a:gd name="adj" fmla="val 9412"/>
            </a:avLst>
          </a:prstGeom>
          <a:solidFill>
            <a:srgbClr val="F7E9E4"/>
          </a:solidFill>
          <a:ln/>
        </p:spPr>
      </p:sp>
      <p:sp>
        <p:nvSpPr>
          <p:cNvPr id="34" name="Text 28"/>
          <p:cNvSpPr txBox="1"/>
          <p:nvPr/>
        </p:nvSpPr>
        <p:spPr>
          <a:xfrm>
            <a:off x="6986016"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Businesses with lapsed permits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Highlight: program gaps show who is missed</a:t>
            </a:r>
            <a:endParaRPr lang="en-US" sz="3000" dirty="0"/>
          </a:p>
        </p:txBody>
      </p:sp>
      <p:sp>
        <p:nvSpPr>
          <p:cNvPr id="3" name="Shape 1"/>
          <p:cNvSpPr/>
          <p:nvPr/>
        </p:nvSpPr>
        <p:spPr>
          <a:xfrm>
            <a:off x="457200" y="1234440"/>
            <a:ext cx="4846320" cy="1508760"/>
          </a:xfrm>
          <a:prstGeom prst="roundRect">
            <a:avLst>
              <a:gd name="adj" fmla="val 4848"/>
            </a:avLst>
          </a:prstGeom>
          <a:solidFill>
            <a:srgbClr val="F1F5F2"/>
          </a:solidFill>
          <a:ln/>
        </p:spPr>
      </p:sp>
      <p:sp>
        <p:nvSpPr>
          <p:cNvPr id="4" name="Shape 2"/>
          <p:cNvSpPr/>
          <p:nvPr/>
        </p:nvSpPr>
        <p:spPr>
          <a:xfrm>
            <a:off x="685800" y="1463040"/>
            <a:ext cx="594360" cy="594360"/>
          </a:xfrm>
          <a:prstGeom prst="ellipse">
            <a:avLst/>
          </a:prstGeom>
          <a:solidFill>
            <a:srgbClr val="E3EFE8"/>
          </a:solidFill>
          <a:ln/>
        </p:spPr>
      </p:sp>
      <p:pic>
        <p:nvPicPr>
          <p:cNvPr id="5" name="Image 0" descr="preencoded.png">    </p:cNvPr>
          <p:cNvPicPr>
            <a:picLocks noChangeAspect="1"/>
          </p:cNvPicPr>
          <p:nvPr/>
        </p:nvPicPr>
        <p:blipFill>
          <a:blip r:embed="rId1"/>
          <a:stretch>
            <a:fillRect/>
          </a:stretch>
        </p:blipFill>
        <p:spPr>
          <a:xfrm>
            <a:off x="834390" y="1611630"/>
            <a:ext cx="297180" cy="297180"/>
          </a:xfrm>
          <a:prstGeom prst="rect">
            <a:avLst/>
          </a:prstGeom>
        </p:spPr>
      </p:pic>
      <p:sp>
        <p:nvSpPr>
          <p:cNvPr id="6" name="Text 3"/>
          <p:cNvSpPr txBox="1"/>
          <p:nvPr/>
        </p:nvSpPr>
        <p:spPr>
          <a:xfrm>
            <a:off x="1463040" y="1417320"/>
            <a:ext cx="3611880" cy="320040"/>
          </a:xfrm>
          <a:prstGeom prst="rect">
            <a:avLst/>
          </a:prstGeom>
          <a:noFill/>
          <a:ln/>
        </p:spPr>
        <p:txBody>
          <a:bodyPr wrap="square" lIns="0" tIns="0" rIns="0" bIns="0" rtlCol="0" anchor="ctr"/>
          <a:lstStyle/>
          <a:p>
            <a:pPr indent="0" marL="0">
              <a:buNone/>
            </a:pPr>
            <a:r>
              <a:rPr lang="en-US" sz="1600" b="1" dirty="0">
                <a:solidFill>
                  <a:schemeClr val="tx1"/>
                </a:solidFill>
              </a:rPr>
              <a:t>Not yet served</a:t>
            </a:r>
            <a:endParaRPr lang="en-US" sz="1600" dirty="0"/>
          </a:p>
        </p:txBody>
      </p:sp>
      <p:sp>
        <p:nvSpPr>
          <p:cNvPr id="7" name="Text 4"/>
          <p:cNvSpPr txBox="1"/>
          <p:nvPr/>
        </p:nvSpPr>
        <p:spPr>
          <a:xfrm>
            <a:off x="1463040" y="1764792"/>
            <a:ext cx="3611880" cy="411480"/>
          </a:xfrm>
          <a:prstGeom prst="rect">
            <a:avLst/>
          </a:prstGeom>
          <a:noFill/>
          <a:ln/>
        </p:spPr>
        <p:txBody>
          <a:bodyPr wrap="square" lIns="0" tIns="0" rIns="0" bIns="0" rtlCol="0" anchor="t"/>
          <a:lstStyle/>
          <a:p>
            <a:pPr indent="0" marL="0">
              <a:buNone/>
            </a:pPr>
            <a:r>
              <a:rPr lang="en-US" sz="1250" dirty="0">
                <a:solidFill>
                  <a:schemeClr val="tx1"/>
                </a:solidFill>
              </a:rPr>
              <a:t>People who meet a program's conditions but are not in it yet.</a:t>
            </a:r>
            <a:endParaRPr lang="en-US" sz="1250" dirty="0"/>
          </a:p>
        </p:txBody>
      </p:sp>
      <p:sp>
        <p:nvSpPr>
          <p:cNvPr id="8" name="Text 5"/>
          <p:cNvSpPr txBox="1"/>
          <p:nvPr/>
        </p:nvSpPr>
        <p:spPr>
          <a:xfrm>
            <a:off x="1463040" y="2194560"/>
            <a:ext cx="3611880" cy="457200"/>
          </a:xfrm>
          <a:prstGeom prst="rect">
            <a:avLst/>
          </a:prstGeom>
          <a:noFill/>
          <a:ln/>
        </p:spPr>
        <p:txBody>
          <a:bodyPr wrap="square" lIns="0" tIns="0" rIns="0" bIns="0" rtlCol="0" anchor="t"/>
          <a:lstStyle/>
          <a:p>
            <a:pPr indent="0" marL="0">
              <a:buNone/>
            </a:pPr>
            <a:r>
              <a:rPr lang="en-US" sz="1200" i="1" dirty="0">
                <a:solidFill>
                  <a:schemeClr val="accent3"/>
                </a:solidFill>
              </a:rPr>
              <a:t>Example: residents aged 60 or older who are not in the senior citizen program.</a:t>
            </a:r>
            <a:endParaRPr lang="en-US" sz="1200" dirty="0"/>
          </a:p>
        </p:txBody>
      </p:sp>
      <p:sp>
        <p:nvSpPr>
          <p:cNvPr id="9" name="Shape 6"/>
          <p:cNvSpPr/>
          <p:nvPr/>
        </p:nvSpPr>
        <p:spPr>
          <a:xfrm>
            <a:off x="457200" y="2926080"/>
            <a:ext cx="4846320" cy="1508760"/>
          </a:xfrm>
          <a:prstGeom prst="roundRect">
            <a:avLst>
              <a:gd name="adj" fmla="val 4848"/>
            </a:avLst>
          </a:prstGeom>
          <a:solidFill>
            <a:srgbClr val="F1F5F2"/>
          </a:solidFill>
          <a:ln/>
        </p:spPr>
      </p:sp>
      <p:sp>
        <p:nvSpPr>
          <p:cNvPr id="10" name="Shape 7"/>
          <p:cNvSpPr/>
          <p:nvPr/>
        </p:nvSpPr>
        <p:spPr>
          <a:xfrm>
            <a:off x="685800" y="3154680"/>
            <a:ext cx="594360" cy="594360"/>
          </a:xfrm>
          <a:prstGeom prst="ellipse">
            <a:avLst/>
          </a:prstGeom>
          <a:solidFill>
            <a:srgbClr val="F7E9E4"/>
          </a:solidFill>
          <a:ln/>
        </p:spPr>
      </p:sp>
      <p:pic>
        <p:nvPicPr>
          <p:cNvPr id="11" name="Image 1" descr="preencoded.png">    </p:cNvPr>
          <p:cNvPicPr>
            <a:picLocks noChangeAspect="1"/>
          </p:cNvPicPr>
          <p:nvPr/>
        </p:nvPicPr>
        <p:blipFill>
          <a:blip r:embed="rId2"/>
          <a:stretch>
            <a:fillRect/>
          </a:stretch>
        </p:blipFill>
        <p:spPr>
          <a:xfrm>
            <a:off x="834390" y="3303270"/>
            <a:ext cx="297180" cy="297180"/>
          </a:xfrm>
          <a:prstGeom prst="rect">
            <a:avLst/>
          </a:prstGeom>
        </p:spPr>
      </p:pic>
      <p:sp>
        <p:nvSpPr>
          <p:cNvPr id="12" name="Text 8"/>
          <p:cNvSpPr txBox="1"/>
          <p:nvPr/>
        </p:nvSpPr>
        <p:spPr>
          <a:xfrm>
            <a:off x="1463040" y="3108960"/>
            <a:ext cx="3611880" cy="320040"/>
          </a:xfrm>
          <a:prstGeom prst="rect">
            <a:avLst/>
          </a:prstGeom>
          <a:noFill/>
          <a:ln/>
        </p:spPr>
        <p:txBody>
          <a:bodyPr wrap="square" lIns="0" tIns="0" rIns="0" bIns="0" rtlCol="0" anchor="ctr"/>
          <a:lstStyle/>
          <a:p>
            <a:pPr indent="0" marL="0">
              <a:buNone/>
            </a:pPr>
            <a:r>
              <a:rPr lang="en-US" sz="1600" b="1" dirty="0">
                <a:solidFill>
                  <a:schemeClr val="tx1"/>
                </a:solidFill>
              </a:rPr>
              <a:t>Needs cleanup</a:t>
            </a:r>
            <a:endParaRPr lang="en-US" sz="1600" dirty="0"/>
          </a:p>
        </p:txBody>
      </p:sp>
      <p:sp>
        <p:nvSpPr>
          <p:cNvPr id="13" name="Text 9"/>
          <p:cNvSpPr txBox="1"/>
          <p:nvPr/>
        </p:nvSpPr>
        <p:spPr>
          <a:xfrm>
            <a:off x="1463040" y="3456432"/>
            <a:ext cx="3611880" cy="411480"/>
          </a:xfrm>
          <a:prstGeom prst="rect">
            <a:avLst/>
          </a:prstGeom>
          <a:noFill/>
          <a:ln/>
        </p:spPr>
        <p:txBody>
          <a:bodyPr wrap="square" lIns="0" tIns="0" rIns="0" bIns="0" rtlCol="0" anchor="t"/>
          <a:lstStyle/>
          <a:p>
            <a:pPr indent="0" marL="0">
              <a:buNone/>
            </a:pPr>
            <a:r>
              <a:rPr lang="en-US" sz="1250" dirty="0">
                <a:solidFill>
                  <a:schemeClr val="tx1"/>
                </a:solidFill>
              </a:rPr>
              <a:t>People still in a program even though they no longer meet its conditions.</a:t>
            </a:r>
            <a:endParaRPr lang="en-US" sz="1250" dirty="0"/>
          </a:p>
        </p:txBody>
      </p:sp>
      <p:sp>
        <p:nvSpPr>
          <p:cNvPr id="14" name="Text 10"/>
          <p:cNvSpPr txBox="1"/>
          <p:nvPr/>
        </p:nvSpPr>
        <p:spPr>
          <a:xfrm>
            <a:off x="1463040" y="3886200"/>
            <a:ext cx="3611880" cy="457200"/>
          </a:xfrm>
          <a:prstGeom prst="rect">
            <a:avLst/>
          </a:prstGeom>
          <a:noFill/>
          <a:ln/>
        </p:spPr>
        <p:txBody>
          <a:bodyPr wrap="square" lIns="0" tIns="0" rIns="0" bIns="0" rtlCol="0" anchor="t"/>
          <a:lstStyle/>
          <a:p>
            <a:pPr indent="0" marL="0">
              <a:buNone/>
            </a:pPr>
            <a:r>
              <a:rPr lang="en-US" sz="1200" i="1" dirty="0">
                <a:solidFill>
                  <a:schemeClr val="accent3"/>
                </a:solidFill>
              </a:rPr>
              <a:t>Example: people under 60 still listed in the senior citizen program.</a:t>
            </a:r>
            <a:endParaRPr lang="en-US" sz="1200" dirty="0"/>
          </a:p>
        </p:txBody>
      </p:sp>
      <p:sp>
        <p:nvSpPr>
          <p:cNvPr id="15" name="Shape 11"/>
          <p:cNvSpPr/>
          <p:nvPr/>
        </p:nvSpPr>
        <p:spPr>
          <a:xfrm>
            <a:off x="5669280" y="1280160"/>
            <a:ext cx="457200" cy="457200"/>
          </a:xfrm>
          <a:prstGeom prst="ellipse">
            <a:avLst/>
          </a:prstGeom>
          <a:solidFill>
            <a:srgbClr val="E3EFE8"/>
          </a:solidFill>
          <a:ln/>
        </p:spPr>
      </p:sp>
      <p:pic>
        <p:nvPicPr>
          <p:cNvPr id="16" name="Image 2" descr="preencoded.png">    </p:cNvPr>
          <p:cNvPicPr>
            <a:picLocks noChangeAspect="1"/>
          </p:cNvPicPr>
          <p:nvPr/>
        </p:nvPicPr>
        <p:blipFill>
          <a:blip r:embed="rId3"/>
          <a:stretch>
            <a:fillRect/>
          </a:stretch>
        </p:blipFill>
        <p:spPr>
          <a:xfrm>
            <a:off x="5783580" y="1394460"/>
            <a:ext cx="228600" cy="228600"/>
          </a:xfrm>
          <a:prstGeom prst="rect">
            <a:avLst/>
          </a:prstGeom>
        </p:spPr>
      </p:pic>
      <p:sp>
        <p:nvSpPr>
          <p:cNvPr id="17" name="Text 12"/>
          <p:cNvSpPr txBox="1"/>
          <p:nvPr/>
        </p:nvSpPr>
        <p:spPr>
          <a:xfrm>
            <a:off x="6263640" y="1261872"/>
            <a:ext cx="2423160" cy="274320"/>
          </a:xfrm>
          <a:prstGeom prst="rect">
            <a:avLst/>
          </a:prstGeom>
          <a:noFill/>
          <a:ln/>
        </p:spPr>
        <p:txBody>
          <a:bodyPr wrap="square" lIns="0" tIns="0" rIns="0" bIns="0" rtlCol="0" anchor="ctr"/>
          <a:lstStyle/>
          <a:p>
            <a:pPr indent="0" marL="0">
              <a:buNone/>
            </a:pPr>
            <a:r>
              <a:rPr lang="en-US" sz="1400" b="1" dirty="0">
                <a:solidFill>
                  <a:schemeClr val="tx1"/>
                </a:solidFill>
              </a:rPr>
              <a:t>Filter by barangay</a:t>
            </a:r>
            <a:endParaRPr lang="en-US" sz="1400" dirty="0"/>
          </a:p>
        </p:txBody>
      </p:sp>
      <p:sp>
        <p:nvSpPr>
          <p:cNvPr id="18" name="Text 13"/>
          <p:cNvSpPr txBox="1"/>
          <p:nvPr/>
        </p:nvSpPr>
        <p:spPr>
          <a:xfrm>
            <a:off x="6263640" y="1554480"/>
            <a:ext cx="2423160" cy="640080"/>
          </a:xfrm>
          <a:prstGeom prst="rect">
            <a:avLst/>
          </a:prstGeom>
          <a:noFill/>
          <a:ln/>
        </p:spPr>
        <p:txBody>
          <a:bodyPr wrap="square" lIns="0" tIns="0" rIns="0" bIns="0" rtlCol="0" anchor="t"/>
          <a:lstStyle/>
          <a:p>
            <a:pPr indent="0" marL="0">
              <a:buNone/>
            </a:pPr>
            <a:r>
              <a:rPr lang="en-US" sz="1150" dirty="0">
                <a:solidFill>
                  <a:schemeClr val="accent3"/>
                </a:solidFill>
              </a:rPr>
              <a:t>See where the people who were missed live.</a:t>
            </a:r>
            <a:endParaRPr lang="en-US" sz="1150" dirty="0"/>
          </a:p>
        </p:txBody>
      </p:sp>
      <p:sp>
        <p:nvSpPr>
          <p:cNvPr id="19" name="Shape 14"/>
          <p:cNvSpPr/>
          <p:nvPr/>
        </p:nvSpPr>
        <p:spPr>
          <a:xfrm>
            <a:off x="5669280" y="2331720"/>
            <a:ext cx="457200" cy="457200"/>
          </a:xfrm>
          <a:prstGeom prst="ellipse">
            <a:avLst/>
          </a:prstGeom>
          <a:solidFill>
            <a:srgbClr val="E3EFE8"/>
          </a:solidFill>
          <a:ln/>
        </p:spPr>
      </p:sp>
      <p:pic>
        <p:nvPicPr>
          <p:cNvPr id="20" name="Image 3" descr="preencoded.png">    </p:cNvPr>
          <p:cNvPicPr>
            <a:picLocks noChangeAspect="1"/>
          </p:cNvPicPr>
          <p:nvPr/>
        </p:nvPicPr>
        <p:blipFill>
          <a:blip r:embed="rId4"/>
          <a:stretch>
            <a:fillRect/>
          </a:stretch>
        </p:blipFill>
        <p:spPr>
          <a:xfrm>
            <a:off x="5783580" y="2446020"/>
            <a:ext cx="228600" cy="228600"/>
          </a:xfrm>
          <a:prstGeom prst="rect">
            <a:avLst/>
          </a:prstGeom>
        </p:spPr>
      </p:pic>
      <p:sp>
        <p:nvSpPr>
          <p:cNvPr id="21" name="Text 15"/>
          <p:cNvSpPr txBox="1"/>
          <p:nvPr/>
        </p:nvSpPr>
        <p:spPr>
          <a:xfrm>
            <a:off x="6263640" y="2313432"/>
            <a:ext cx="2423160" cy="274320"/>
          </a:xfrm>
          <a:prstGeom prst="rect">
            <a:avLst/>
          </a:prstGeom>
          <a:noFill/>
          <a:ln/>
        </p:spPr>
        <p:txBody>
          <a:bodyPr wrap="square" lIns="0" tIns="0" rIns="0" bIns="0" rtlCol="0" anchor="ctr"/>
          <a:lstStyle/>
          <a:p>
            <a:pPr indent="0" marL="0">
              <a:buNone/>
            </a:pPr>
            <a:r>
              <a:rPr lang="en-US" sz="1400" b="1" dirty="0">
                <a:solidFill>
                  <a:schemeClr val="tx1"/>
                </a:solidFill>
              </a:rPr>
              <a:t>Hand the list to the office</a:t>
            </a:r>
            <a:endParaRPr lang="en-US" sz="1400" dirty="0"/>
          </a:p>
        </p:txBody>
      </p:sp>
      <p:sp>
        <p:nvSpPr>
          <p:cNvPr id="22" name="Text 16"/>
          <p:cNvSpPr txBox="1"/>
          <p:nvPr/>
        </p:nvSpPr>
        <p:spPr>
          <a:xfrm>
            <a:off x="6263640" y="2606040"/>
            <a:ext cx="2423160" cy="640080"/>
          </a:xfrm>
          <a:prstGeom prst="rect">
            <a:avLst/>
          </a:prstGeom>
          <a:noFill/>
          <a:ln/>
        </p:spPr>
        <p:txBody>
          <a:bodyPr wrap="square" lIns="0" tIns="0" rIns="0" bIns="0" rtlCol="0" anchor="t"/>
          <a:lstStyle/>
          <a:p>
            <a:pPr indent="0" marL="0">
              <a:buNone/>
            </a:pPr>
            <a:r>
              <a:rPr lang="en-US" sz="1150" dirty="0">
                <a:solidFill>
                  <a:schemeClr val="accent3"/>
                </a:solidFill>
              </a:rPr>
              <a:t>Export the names so staff can reach out.</a:t>
            </a:r>
            <a:endParaRPr lang="en-US" sz="1150" dirty="0"/>
          </a:p>
        </p:txBody>
      </p:sp>
      <p:sp>
        <p:nvSpPr>
          <p:cNvPr id="23" name="Shape 17"/>
          <p:cNvSpPr/>
          <p:nvPr/>
        </p:nvSpPr>
        <p:spPr>
          <a:xfrm>
            <a:off x="5669280" y="3383280"/>
            <a:ext cx="457200" cy="457200"/>
          </a:xfrm>
          <a:prstGeom prst="ellipse">
            <a:avLst/>
          </a:prstGeom>
          <a:solidFill>
            <a:srgbClr val="E3EFE8"/>
          </a:solidFill>
          <a:ln/>
        </p:spPr>
      </p:sp>
      <p:pic>
        <p:nvPicPr>
          <p:cNvPr id="24" name="Image 4" descr="preencoded.png">    </p:cNvPr>
          <p:cNvPicPr>
            <a:picLocks noChangeAspect="1"/>
          </p:cNvPicPr>
          <p:nvPr/>
        </p:nvPicPr>
        <p:blipFill>
          <a:blip r:embed="rId5"/>
          <a:stretch>
            <a:fillRect/>
          </a:stretch>
        </p:blipFill>
        <p:spPr>
          <a:xfrm>
            <a:off x="5783580" y="3497580"/>
            <a:ext cx="228600" cy="228600"/>
          </a:xfrm>
          <a:prstGeom prst="rect">
            <a:avLst/>
          </a:prstGeom>
        </p:spPr>
      </p:pic>
      <p:sp>
        <p:nvSpPr>
          <p:cNvPr id="25" name="Text 18"/>
          <p:cNvSpPr txBox="1"/>
          <p:nvPr/>
        </p:nvSpPr>
        <p:spPr>
          <a:xfrm>
            <a:off x="6263640" y="3364992"/>
            <a:ext cx="2423160" cy="274320"/>
          </a:xfrm>
          <a:prstGeom prst="rect">
            <a:avLst/>
          </a:prstGeom>
          <a:noFill/>
          <a:ln/>
        </p:spPr>
        <p:txBody>
          <a:bodyPr wrap="square" lIns="0" tIns="0" rIns="0" bIns="0" rtlCol="0" anchor="ctr"/>
          <a:lstStyle/>
          <a:p>
            <a:pPr indent="0" marL="0">
              <a:buNone/>
            </a:pPr>
            <a:r>
              <a:rPr lang="en-US" sz="1400" b="1" dirty="0">
                <a:solidFill>
                  <a:schemeClr val="tx1"/>
                </a:solidFill>
              </a:rPr>
              <a:t>Rules set once</a:t>
            </a:r>
            <a:endParaRPr lang="en-US" sz="1400" dirty="0"/>
          </a:p>
        </p:txBody>
      </p:sp>
      <p:sp>
        <p:nvSpPr>
          <p:cNvPr id="26" name="Text 19"/>
          <p:cNvSpPr txBox="1"/>
          <p:nvPr/>
        </p:nvSpPr>
        <p:spPr>
          <a:xfrm>
            <a:off x="6263640" y="3657600"/>
            <a:ext cx="2423160" cy="640080"/>
          </a:xfrm>
          <a:prstGeom prst="rect">
            <a:avLst/>
          </a:prstGeom>
          <a:noFill/>
          <a:ln/>
        </p:spPr>
        <p:txBody>
          <a:bodyPr wrap="square" lIns="0" tIns="0" rIns="0" bIns="0" rtlCol="0" anchor="t"/>
          <a:lstStyle/>
          <a:p>
            <a:pPr indent="0" marL="0">
              <a:buNone/>
            </a:pPr>
            <a:r>
              <a:rPr lang="en-US" sz="1150" dirty="0">
                <a:solidFill>
                  <a:schemeClr val="accent3"/>
                </a:solidFill>
              </a:rPr>
              <a:t>The City administrator sets the rules; each office sees gaps in its own programs.</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Same programs, more households reached</a:t>
            </a:r>
            <a:endParaRPr lang="en-US" sz="3000" dirty="0"/>
          </a:p>
        </p:txBody>
      </p:sp>
      <p:sp>
        <p:nvSpPr>
          <p:cNvPr id="3" name="Shape 1"/>
          <p:cNvSpPr/>
          <p:nvPr/>
        </p:nvSpPr>
        <p:spPr>
          <a:xfrm>
            <a:off x="457200" y="1188720"/>
            <a:ext cx="4023360" cy="2240280"/>
          </a:xfrm>
          <a:prstGeom prst="roundRect">
            <a:avLst>
              <a:gd name="adj" fmla="val 3265"/>
            </a:avLst>
          </a:prstGeom>
          <a:solidFill>
            <a:srgbClr val="F1F5F2"/>
          </a:solidFill>
          <a:ln/>
        </p:spPr>
      </p:sp>
      <p:sp>
        <p:nvSpPr>
          <p:cNvPr id="4" name="Text 2"/>
          <p:cNvSpPr txBox="1"/>
          <p:nvPr/>
        </p:nvSpPr>
        <p:spPr>
          <a:xfrm>
            <a:off x="685800" y="1280160"/>
            <a:ext cx="3566160" cy="274320"/>
          </a:xfrm>
          <a:prstGeom prst="rect">
            <a:avLst/>
          </a:prstGeom>
          <a:noFill/>
          <a:ln/>
        </p:spPr>
        <p:txBody>
          <a:bodyPr wrap="square" lIns="0" tIns="0" rIns="0" bIns="0" rtlCol="0" anchor="ctr"/>
          <a:lstStyle/>
          <a:p>
            <a:pPr indent="0" marL="0">
              <a:buNone/>
            </a:pPr>
            <a:r>
              <a:rPr lang="en-US" sz="1400" b="1" dirty="0">
                <a:solidFill>
                  <a:schemeClr val="accent2"/>
                </a:solidFill>
              </a:rPr>
              <a:t>Without a shared record</a:t>
            </a:r>
            <a:endParaRPr lang="en-US" sz="1400" dirty="0"/>
          </a:p>
        </p:txBody>
      </p:sp>
      <p:sp>
        <p:nvSpPr>
          <p:cNvPr id="5" name="Text 3"/>
          <p:cNvSpPr txBox="1"/>
          <p:nvPr/>
        </p:nvSpPr>
        <p:spPr>
          <a:xfrm>
            <a:off x="685800" y="1554480"/>
            <a:ext cx="3566160" cy="228600"/>
          </a:xfrm>
          <a:prstGeom prst="rect">
            <a:avLst/>
          </a:prstGeom>
          <a:noFill/>
          <a:ln/>
        </p:spPr>
        <p:txBody>
          <a:bodyPr wrap="square" lIns="0" tIns="0" rIns="0" bIns="0" rtlCol="0" anchor="ctr"/>
          <a:lstStyle/>
          <a:p>
            <a:pPr indent="0" marL="0">
              <a:buNone/>
            </a:pPr>
            <a:r>
              <a:rPr lang="en-US" sz="1100" dirty="0">
                <a:solidFill>
                  <a:schemeClr val="accent3"/>
                </a:solidFill>
              </a:rPr>
              <a:t>Overlaps between offices are hard to see.</a:t>
            </a:r>
            <a:endParaRPr lang="en-US" sz="1100" dirty="0"/>
          </a:p>
        </p:txBody>
      </p:sp>
      <p:sp>
        <p:nvSpPr>
          <p:cNvPr id="6" name="Shape 4"/>
          <p:cNvSpPr/>
          <p:nvPr/>
        </p:nvSpPr>
        <p:spPr>
          <a:xfrm>
            <a:off x="685800" y="1920240"/>
            <a:ext cx="1325880" cy="274320"/>
          </a:xfrm>
          <a:prstGeom prst="roundRect">
            <a:avLst>
              <a:gd name="adj" fmla="val 20000"/>
            </a:avLst>
          </a:prstGeom>
          <a:solidFill>
            <a:srgbClr val="FFFFFF"/>
          </a:solidFill>
          <a:ln/>
        </p:spPr>
      </p:sp>
      <p:sp>
        <p:nvSpPr>
          <p:cNvPr id="7" name="Text 5"/>
          <p:cNvSpPr txBox="1"/>
          <p:nvPr/>
        </p:nvSpPr>
        <p:spPr>
          <a:xfrm>
            <a:off x="685800" y="192024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Social pension</a:t>
            </a:r>
            <a:endParaRPr lang="en-US" sz="1050" dirty="0"/>
          </a:p>
        </p:txBody>
      </p:sp>
      <p:sp>
        <p:nvSpPr>
          <p:cNvPr id="8" name="Shape 6"/>
          <p:cNvSpPr/>
          <p:nvPr/>
        </p:nvSpPr>
        <p:spPr>
          <a:xfrm>
            <a:off x="2057400" y="2057400"/>
            <a:ext cx="1417320" cy="0"/>
          </a:xfrm>
          <a:prstGeom prst="line">
            <a:avLst/>
          </a:prstGeom>
          <a:noFill/>
          <a:ln w="15875">
            <a:solidFill>
              <a:srgbClr val="B85042"/>
            </a:solidFill>
            <a:prstDash val="solid"/>
          </a:ln>
        </p:spPr>
      </p:sp>
      <p:pic>
        <p:nvPicPr>
          <p:cNvPr id="9" name="Image 0" descr="preencoded.png">    </p:cNvPr>
          <p:cNvPicPr>
            <a:picLocks noChangeAspect="1"/>
          </p:cNvPicPr>
          <p:nvPr/>
        </p:nvPicPr>
        <p:blipFill>
          <a:blip r:embed="rId1"/>
          <a:stretch>
            <a:fillRect/>
          </a:stretch>
        </p:blipFill>
        <p:spPr>
          <a:xfrm>
            <a:off x="3566160" y="1920240"/>
            <a:ext cx="274320" cy="274320"/>
          </a:xfrm>
          <a:prstGeom prst="rect">
            <a:avLst/>
          </a:prstGeom>
        </p:spPr>
      </p:pic>
      <p:sp>
        <p:nvSpPr>
          <p:cNvPr id="10" name="Shape 7"/>
          <p:cNvSpPr/>
          <p:nvPr/>
        </p:nvSpPr>
        <p:spPr>
          <a:xfrm>
            <a:off x="685800" y="2286000"/>
            <a:ext cx="1325880" cy="274320"/>
          </a:xfrm>
          <a:prstGeom prst="roundRect">
            <a:avLst>
              <a:gd name="adj" fmla="val 20000"/>
            </a:avLst>
          </a:prstGeom>
          <a:solidFill>
            <a:srgbClr val="FFFFFF"/>
          </a:solidFill>
          <a:ln/>
        </p:spPr>
      </p:sp>
      <p:sp>
        <p:nvSpPr>
          <p:cNvPr id="11" name="Text 8"/>
          <p:cNvSpPr txBox="1"/>
          <p:nvPr/>
        </p:nvSpPr>
        <p:spPr>
          <a:xfrm>
            <a:off x="685800" y="228600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PWD assistance</a:t>
            </a:r>
            <a:endParaRPr lang="en-US" sz="1050" dirty="0"/>
          </a:p>
        </p:txBody>
      </p:sp>
      <p:sp>
        <p:nvSpPr>
          <p:cNvPr id="12" name="Shape 9"/>
          <p:cNvSpPr/>
          <p:nvPr/>
        </p:nvSpPr>
        <p:spPr>
          <a:xfrm flipV="1">
            <a:off x="2057400" y="2057400"/>
            <a:ext cx="1417320" cy="365760"/>
          </a:xfrm>
          <a:prstGeom prst="line">
            <a:avLst/>
          </a:prstGeom>
          <a:noFill/>
          <a:ln w="15875">
            <a:solidFill>
              <a:srgbClr val="B85042"/>
            </a:solidFill>
            <a:prstDash val="solid"/>
          </a:ln>
        </p:spPr>
      </p:sp>
      <p:pic>
        <p:nvPicPr>
          <p:cNvPr id="13" name="Image 1" descr="preencoded.png">    </p:cNvPr>
          <p:cNvPicPr>
            <a:picLocks noChangeAspect="1"/>
          </p:cNvPicPr>
          <p:nvPr/>
        </p:nvPicPr>
        <p:blipFill>
          <a:blip r:embed="rId2"/>
          <a:stretch>
            <a:fillRect/>
          </a:stretch>
        </p:blipFill>
        <p:spPr>
          <a:xfrm>
            <a:off x="3566160" y="2286000"/>
            <a:ext cx="274320" cy="274320"/>
          </a:xfrm>
          <a:prstGeom prst="rect">
            <a:avLst/>
          </a:prstGeom>
        </p:spPr>
      </p:pic>
      <p:sp>
        <p:nvSpPr>
          <p:cNvPr id="14" name="Shape 10"/>
          <p:cNvSpPr/>
          <p:nvPr/>
        </p:nvSpPr>
        <p:spPr>
          <a:xfrm>
            <a:off x="685800" y="2651760"/>
            <a:ext cx="1325880" cy="274320"/>
          </a:xfrm>
          <a:prstGeom prst="roundRect">
            <a:avLst>
              <a:gd name="adj" fmla="val 20000"/>
            </a:avLst>
          </a:prstGeom>
          <a:solidFill>
            <a:srgbClr val="FFFFFF"/>
          </a:solidFill>
          <a:ln/>
        </p:spPr>
      </p:sp>
      <p:sp>
        <p:nvSpPr>
          <p:cNvPr id="15" name="Text 11"/>
          <p:cNvSpPr txBox="1"/>
          <p:nvPr/>
        </p:nvSpPr>
        <p:spPr>
          <a:xfrm>
            <a:off x="685800" y="265176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Solo parent aid</a:t>
            </a:r>
            <a:endParaRPr lang="en-US" sz="1050" dirty="0"/>
          </a:p>
        </p:txBody>
      </p:sp>
      <p:sp>
        <p:nvSpPr>
          <p:cNvPr id="16" name="Shape 12"/>
          <p:cNvSpPr/>
          <p:nvPr/>
        </p:nvSpPr>
        <p:spPr>
          <a:xfrm flipV="1">
            <a:off x="2057400" y="2057400"/>
            <a:ext cx="1417320" cy="731520"/>
          </a:xfrm>
          <a:prstGeom prst="line">
            <a:avLst/>
          </a:prstGeom>
          <a:noFill/>
          <a:ln w="15875">
            <a:solidFill>
              <a:srgbClr val="B85042"/>
            </a:solidFill>
            <a:prstDash val="solid"/>
          </a:ln>
        </p:spPr>
      </p:sp>
      <p:pic>
        <p:nvPicPr>
          <p:cNvPr id="17" name="Image 2" descr="preencoded.png">    </p:cNvPr>
          <p:cNvPicPr>
            <a:picLocks noChangeAspect="1"/>
          </p:cNvPicPr>
          <p:nvPr/>
        </p:nvPicPr>
        <p:blipFill>
          <a:blip r:embed="rId3"/>
          <a:stretch>
            <a:fillRect/>
          </a:stretch>
        </p:blipFill>
        <p:spPr>
          <a:xfrm>
            <a:off x="3566160" y="2651760"/>
            <a:ext cx="274320" cy="274320"/>
          </a:xfrm>
          <a:prstGeom prst="rect">
            <a:avLst/>
          </a:prstGeom>
        </p:spPr>
      </p:pic>
      <p:sp>
        <p:nvSpPr>
          <p:cNvPr id="18" name="Shape 13"/>
          <p:cNvSpPr/>
          <p:nvPr/>
        </p:nvSpPr>
        <p:spPr>
          <a:xfrm>
            <a:off x="685800" y="3017520"/>
            <a:ext cx="1325880" cy="274320"/>
          </a:xfrm>
          <a:prstGeom prst="roundRect">
            <a:avLst>
              <a:gd name="adj" fmla="val 20000"/>
            </a:avLst>
          </a:prstGeom>
          <a:solidFill>
            <a:srgbClr val="FFFFFF"/>
          </a:solidFill>
          <a:ln/>
        </p:spPr>
      </p:sp>
      <p:sp>
        <p:nvSpPr>
          <p:cNvPr id="19" name="Text 14"/>
          <p:cNvSpPr txBox="1"/>
          <p:nvPr/>
        </p:nvSpPr>
        <p:spPr>
          <a:xfrm>
            <a:off x="685800" y="301752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Farm subsidy</a:t>
            </a:r>
            <a:endParaRPr lang="en-US" sz="1050" dirty="0"/>
          </a:p>
        </p:txBody>
      </p:sp>
      <p:sp>
        <p:nvSpPr>
          <p:cNvPr id="20" name="Shape 15"/>
          <p:cNvSpPr/>
          <p:nvPr/>
        </p:nvSpPr>
        <p:spPr>
          <a:xfrm flipV="1">
            <a:off x="2057400" y="2057400"/>
            <a:ext cx="1417320" cy="1097280"/>
          </a:xfrm>
          <a:prstGeom prst="line">
            <a:avLst/>
          </a:prstGeom>
          <a:noFill/>
          <a:ln w="15875">
            <a:solidFill>
              <a:srgbClr val="B85042"/>
            </a:solidFill>
            <a:prstDash val="solid"/>
          </a:ln>
        </p:spPr>
      </p:sp>
      <p:pic>
        <p:nvPicPr>
          <p:cNvPr id="21" name="Image 3" descr="preencoded.png">    </p:cNvPr>
          <p:cNvPicPr>
            <a:picLocks noChangeAspect="1"/>
          </p:cNvPicPr>
          <p:nvPr/>
        </p:nvPicPr>
        <p:blipFill>
          <a:blip r:embed="rId4"/>
          <a:stretch>
            <a:fillRect/>
          </a:stretch>
        </p:blipFill>
        <p:spPr>
          <a:xfrm>
            <a:off x="3566160" y="3017520"/>
            <a:ext cx="274320" cy="274320"/>
          </a:xfrm>
          <a:prstGeom prst="rect">
            <a:avLst/>
          </a:prstGeom>
        </p:spPr>
      </p:pic>
      <p:sp>
        <p:nvSpPr>
          <p:cNvPr id="22" name="Shape 16"/>
          <p:cNvSpPr/>
          <p:nvPr/>
        </p:nvSpPr>
        <p:spPr>
          <a:xfrm>
            <a:off x="4663440" y="1188720"/>
            <a:ext cx="4023360" cy="2240280"/>
          </a:xfrm>
          <a:prstGeom prst="roundRect">
            <a:avLst>
              <a:gd name="adj" fmla="val 3265"/>
            </a:avLst>
          </a:prstGeom>
          <a:solidFill>
            <a:srgbClr val="F1F5F2"/>
          </a:solidFill>
          <a:ln/>
        </p:spPr>
      </p:sp>
      <p:sp>
        <p:nvSpPr>
          <p:cNvPr id="23" name="Text 17"/>
          <p:cNvSpPr txBox="1"/>
          <p:nvPr/>
        </p:nvSpPr>
        <p:spPr>
          <a:xfrm>
            <a:off x="4892040" y="1280160"/>
            <a:ext cx="3566160" cy="274320"/>
          </a:xfrm>
          <a:prstGeom prst="rect">
            <a:avLst/>
          </a:prstGeom>
          <a:noFill/>
          <a:ln/>
        </p:spPr>
        <p:txBody>
          <a:bodyPr wrap="square" lIns="0" tIns="0" rIns="0" bIns="0" rtlCol="0" anchor="ctr"/>
          <a:lstStyle/>
          <a:p>
            <a:pPr indent="0" marL="0">
              <a:buNone/>
            </a:pPr>
            <a:r>
              <a:rPr lang="en-US" sz="1400" b="1" dirty="0">
                <a:solidFill>
                  <a:schemeClr val="tx2"/>
                </a:solidFill>
              </a:rPr>
              <a:t>With VUCRMS</a:t>
            </a:r>
            <a:endParaRPr lang="en-US" sz="1400" dirty="0"/>
          </a:p>
        </p:txBody>
      </p:sp>
      <p:sp>
        <p:nvSpPr>
          <p:cNvPr id="24" name="Text 18"/>
          <p:cNvSpPr txBox="1"/>
          <p:nvPr/>
        </p:nvSpPr>
        <p:spPr>
          <a:xfrm>
            <a:off x="4892040" y="1554480"/>
            <a:ext cx="3566160" cy="228600"/>
          </a:xfrm>
          <a:prstGeom prst="rect">
            <a:avLst/>
          </a:prstGeom>
          <a:noFill/>
          <a:ln/>
        </p:spPr>
        <p:txBody>
          <a:bodyPr wrap="square" lIns="0" tIns="0" rIns="0" bIns="0" rtlCol="0" anchor="ctr"/>
          <a:lstStyle/>
          <a:p>
            <a:pPr indent="0" marL="0">
              <a:buNone/>
            </a:pPr>
            <a:r>
              <a:rPr lang="en-US" sz="1100" dirty="0">
                <a:solidFill>
                  <a:schemeClr val="accent3"/>
                </a:solidFill>
              </a:rPr>
              <a:t>Each program can reach more households.</a:t>
            </a:r>
            <a:endParaRPr lang="en-US" sz="1100" dirty="0"/>
          </a:p>
        </p:txBody>
      </p:sp>
      <p:sp>
        <p:nvSpPr>
          <p:cNvPr id="25" name="Shape 19"/>
          <p:cNvSpPr/>
          <p:nvPr/>
        </p:nvSpPr>
        <p:spPr>
          <a:xfrm>
            <a:off x="4892040" y="1920240"/>
            <a:ext cx="1325880" cy="274320"/>
          </a:xfrm>
          <a:prstGeom prst="roundRect">
            <a:avLst>
              <a:gd name="adj" fmla="val 20000"/>
            </a:avLst>
          </a:prstGeom>
          <a:solidFill>
            <a:srgbClr val="FFFFFF"/>
          </a:solidFill>
          <a:ln/>
        </p:spPr>
      </p:sp>
      <p:sp>
        <p:nvSpPr>
          <p:cNvPr id="26" name="Text 20"/>
          <p:cNvSpPr txBox="1"/>
          <p:nvPr/>
        </p:nvSpPr>
        <p:spPr>
          <a:xfrm>
            <a:off x="4892040" y="192024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Social pension</a:t>
            </a:r>
            <a:endParaRPr lang="en-US" sz="1050" dirty="0"/>
          </a:p>
        </p:txBody>
      </p:sp>
      <p:sp>
        <p:nvSpPr>
          <p:cNvPr id="27" name="Shape 21"/>
          <p:cNvSpPr/>
          <p:nvPr/>
        </p:nvSpPr>
        <p:spPr>
          <a:xfrm>
            <a:off x="6263640" y="2057400"/>
            <a:ext cx="1417320" cy="0"/>
          </a:xfrm>
          <a:prstGeom prst="line">
            <a:avLst/>
          </a:prstGeom>
          <a:noFill/>
          <a:ln w="15875">
            <a:solidFill>
              <a:srgbClr val="0F6B4C"/>
            </a:solidFill>
            <a:prstDash val="solid"/>
          </a:ln>
        </p:spPr>
      </p:sp>
      <p:pic>
        <p:nvPicPr>
          <p:cNvPr id="28" name="Image 4" descr="preencoded.png">    </p:cNvPr>
          <p:cNvPicPr>
            <a:picLocks noChangeAspect="1"/>
          </p:cNvPicPr>
          <p:nvPr/>
        </p:nvPicPr>
        <p:blipFill>
          <a:blip r:embed="rId5"/>
          <a:stretch>
            <a:fillRect/>
          </a:stretch>
        </p:blipFill>
        <p:spPr>
          <a:xfrm>
            <a:off x="7772400" y="1920240"/>
            <a:ext cx="274320" cy="274320"/>
          </a:xfrm>
          <a:prstGeom prst="rect">
            <a:avLst/>
          </a:prstGeom>
        </p:spPr>
      </p:pic>
      <p:sp>
        <p:nvSpPr>
          <p:cNvPr id="29" name="Shape 22"/>
          <p:cNvSpPr/>
          <p:nvPr/>
        </p:nvSpPr>
        <p:spPr>
          <a:xfrm>
            <a:off x="4892040" y="2286000"/>
            <a:ext cx="1325880" cy="274320"/>
          </a:xfrm>
          <a:prstGeom prst="roundRect">
            <a:avLst>
              <a:gd name="adj" fmla="val 20000"/>
            </a:avLst>
          </a:prstGeom>
          <a:solidFill>
            <a:srgbClr val="FFFFFF"/>
          </a:solidFill>
          <a:ln/>
        </p:spPr>
      </p:sp>
      <p:sp>
        <p:nvSpPr>
          <p:cNvPr id="30" name="Text 23"/>
          <p:cNvSpPr txBox="1"/>
          <p:nvPr/>
        </p:nvSpPr>
        <p:spPr>
          <a:xfrm>
            <a:off x="4892040" y="228600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PWD assistance</a:t>
            </a:r>
            <a:endParaRPr lang="en-US" sz="1050" dirty="0"/>
          </a:p>
        </p:txBody>
      </p:sp>
      <p:sp>
        <p:nvSpPr>
          <p:cNvPr id="31" name="Shape 24"/>
          <p:cNvSpPr/>
          <p:nvPr/>
        </p:nvSpPr>
        <p:spPr>
          <a:xfrm>
            <a:off x="6263640" y="2423160"/>
            <a:ext cx="1417320" cy="0"/>
          </a:xfrm>
          <a:prstGeom prst="line">
            <a:avLst/>
          </a:prstGeom>
          <a:noFill/>
          <a:ln w="15875">
            <a:solidFill>
              <a:srgbClr val="0F6B4C"/>
            </a:solidFill>
            <a:prstDash val="solid"/>
          </a:ln>
        </p:spPr>
      </p:sp>
      <p:pic>
        <p:nvPicPr>
          <p:cNvPr id="32" name="Image 5" descr="preencoded.png">    </p:cNvPr>
          <p:cNvPicPr>
            <a:picLocks noChangeAspect="1"/>
          </p:cNvPicPr>
          <p:nvPr/>
        </p:nvPicPr>
        <p:blipFill>
          <a:blip r:embed="rId6"/>
          <a:stretch>
            <a:fillRect/>
          </a:stretch>
        </p:blipFill>
        <p:spPr>
          <a:xfrm>
            <a:off x="7772400" y="2286000"/>
            <a:ext cx="274320" cy="274320"/>
          </a:xfrm>
          <a:prstGeom prst="rect">
            <a:avLst/>
          </a:prstGeom>
        </p:spPr>
      </p:pic>
      <p:sp>
        <p:nvSpPr>
          <p:cNvPr id="33" name="Shape 25"/>
          <p:cNvSpPr/>
          <p:nvPr/>
        </p:nvSpPr>
        <p:spPr>
          <a:xfrm>
            <a:off x="4892040" y="2651760"/>
            <a:ext cx="1325880" cy="274320"/>
          </a:xfrm>
          <a:prstGeom prst="roundRect">
            <a:avLst>
              <a:gd name="adj" fmla="val 20000"/>
            </a:avLst>
          </a:prstGeom>
          <a:solidFill>
            <a:srgbClr val="FFFFFF"/>
          </a:solidFill>
          <a:ln/>
        </p:spPr>
      </p:sp>
      <p:sp>
        <p:nvSpPr>
          <p:cNvPr id="34" name="Text 26"/>
          <p:cNvSpPr txBox="1"/>
          <p:nvPr/>
        </p:nvSpPr>
        <p:spPr>
          <a:xfrm>
            <a:off x="4892040" y="265176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Solo parent aid</a:t>
            </a:r>
            <a:endParaRPr lang="en-US" sz="1050" dirty="0"/>
          </a:p>
        </p:txBody>
      </p:sp>
      <p:sp>
        <p:nvSpPr>
          <p:cNvPr id="35" name="Shape 27"/>
          <p:cNvSpPr/>
          <p:nvPr/>
        </p:nvSpPr>
        <p:spPr>
          <a:xfrm>
            <a:off x="6263640" y="2788920"/>
            <a:ext cx="1417320" cy="0"/>
          </a:xfrm>
          <a:prstGeom prst="line">
            <a:avLst/>
          </a:prstGeom>
          <a:noFill/>
          <a:ln w="15875">
            <a:solidFill>
              <a:srgbClr val="0F6B4C"/>
            </a:solidFill>
            <a:prstDash val="solid"/>
          </a:ln>
        </p:spPr>
      </p:sp>
      <p:pic>
        <p:nvPicPr>
          <p:cNvPr id="36" name="Image 6" descr="preencoded.png">    </p:cNvPr>
          <p:cNvPicPr>
            <a:picLocks noChangeAspect="1"/>
          </p:cNvPicPr>
          <p:nvPr/>
        </p:nvPicPr>
        <p:blipFill>
          <a:blip r:embed="rId7"/>
          <a:stretch>
            <a:fillRect/>
          </a:stretch>
        </p:blipFill>
        <p:spPr>
          <a:xfrm>
            <a:off x="7772400" y="2651760"/>
            <a:ext cx="274320" cy="274320"/>
          </a:xfrm>
          <a:prstGeom prst="rect">
            <a:avLst/>
          </a:prstGeom>
        </p:spPr>
      </p:pic>
      <p:sp>
        <p:nvSpPr>
          <p:cNvPr id="37" name="Shape 28"/>
          <p:cNvSpPr/>
          <p:nvPr/>
        </p:nvSpPr>
        <p:spPr>
          <a:xfrm>
            <a:off x="4892040" y="3017520"/>
            <a:ext cx="1325880" cy="274320"/>
          </a:xfrm>
          <a:prstGeom prst="roundRect">
            <a:avLst>
              <a:gd name="adj" fmla="val 20000"/>
            </a:avLst>
          </a:prstGeom>
          <a:solidFill>
            <a:srgbClr val="FFFFFF"/>
          </a:solidFill>
          <a:ln/>
        </p:spPr>
      </p:sp>
      <p:sp>
        <p:nvSpPr>
          <p:cNvPr id="38" name="Text 29"/>
          <p:cNvSpPr txBox="1"/>
          <p:nvPr/>
        </p:nvSpPr>
        <p:spPr>
          <a:xfrm>
            <a:off x="4892040" y="301752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Farm subsidy</a:t>
            </a:r>
            <a:endParaRPr lang="en-US" sz="1050" dirty="0"/>
          </a:p>
        </p:txBody>
      </p:sp>
      <p:sp>
        <p:nvSpPr>
          <p:cNvPr id="39" name="Shape 30"/>
          <p:cNvSpPr/>
          <p:nvPr/>
        </p:nvSpPr>
        <p:spPr>
          <a:xfrm>
            <a:off x="6263640" y="3154680"/>
            <a:ext cx="1417320" cy="0"/>
          </a:xfrm>
          <a:prstGeom prst="line">
            <a:avLst/>
          </a:prstGeom>
          <a:noFill/>
          <a:ln w="15875">
            <a:solidFill>
              <a:srgbClr val="0F6B4C"/>
            </a:solidFill>
            <a:prstDash val="solid"/>
          </a:ln>
        </p:spPr>
      </p:sp>
      <p:pic>
        <p:nvPicPr>
          <p:cNvPr id="40" name="Image 7" descr="preencoded.png">    </p:cNvPr>
          <p:cNvPicPr>
            <a:picLocks noChangeAspect="1"/>
          </p:cNvPicPr>
          <p:nvPr/>
        </p:nvPicPr>
        <p:blipFill>
          <a:blip r:embed="rId8"/>
          <a:stretch>
            <a:fillRect/>
          </a:stretch>
        </p:blipFill>
        <p:spPr>
          <a:xfrm>
            <a:off x="7772400" y="3017520"/>
            <a:ext cx="274320" cy="274320"/>
          </a:xfrm>
          <a:prstGeom prst="rect">
            <a:avLst/>
          </a:prstGeom>
        </p:spPr>
      </p:pic>
      <p:sp>
        <p:nvSpPr>
          <p:cNvPr id="41" name="Shape 31"/>
          <p:cNvSpPr/>
          <p:nvPr/>
        </p:nvSpPr>
        <p:spPr>
          <a:xfrm>
            <a:off x="457200" y="3639312"/>
            <a:ext cx="411480" cy="411480"/>
          </a:xfrm>
          <a:prstGeom prst="ellipse">
            <a:avLst/>
          </a:prstGeom>
          <a:solidFill>
            <a:srgbClr val="E3EFE8"/>
          </a:solidFill>
          <a:ln/>
        </p:spPr>
      </p:sp>
      <p:pic>
        <p:nvPicPr>
          <p:cNvPr id="42" name="Image 8" descr="preencoded.png">    </p:cNvPr>
          <p:cNvPicPr>
            <a:picLocks noChangeAspect="1"/>
          </p:cNvPicPr>
          <p:nvPr/>
        </p:nvPicPr>
        <p:blipFill>
          <a:blip r:embed="rId9"/>
          <a:stretch>
            <a:fillRect/>
          </a:stretch>
        </p:blipFill>
        <p:spPr>
          <a:xfrm>
            <a:off x="560070" y="3742182"/>
            <a:ext cx="205740" cy="205740"/>
          </a:xfrm>
          <a:prstGeom prst="rect">
            <a:avLst/>
          </a:prstGeom>
        </p:spPr>
      </p:pic>
      <p:sp>
        <p:nvSpPr>
          <p:cNvPr id="43" name="Text 32"/>
          <p:cNvSpPr txBox="1"/>
          <p:nvPr/>
        </p:nvSpPr>
        <p:spPr>
          <a:xfrm>
            <a:off x="960120" y="3611880"/>
            <a:ext cx="3291840" cy="274320"/>
          </a:xfrm>
          <a:prstGeom prst="rect">
            <a:avLst/>
          </a:prstGeom>
          <a:noFill/>
          <a:ln/>
        </p:spPr>
        <p:txBody>
          <a:bodyPr wrap="square" lIns="0" tIns="0" rIns="0" bIns="0" rtlCol="0" anchor="ctr"/>
          <a:lstStyle/>
          <a:p>
            <a:pPr indent="0" marL="0">
              <a:buNone/>
            </a:pPr>
            <a:r>
              <a:rPr lang="en-US" sz="1200" b="1" dirty="0">
                <a:solidFill>
                  <a:schemeClr val="tx1"/>
                </a:solidFill>
              </a:rPr>
              <a:t>Programs per household</a:t>
            </a:r>
            <a:endParaRPr lang="en-US" sz="1200" dirty="0"/>
          </a:p>
        </p:txBody>
      </p:sp>
      <p:sp>
        <p:nvSpPr>
          <p:cNvPr id="44" name="Text 33"/>
          <p:cNvSpPr txBox="1"/>
          <p:nvPr/>
        </p:nvSpPr>
        <p:spPr>
          <a:xfrm>
            <a:off x="960120" y="3904488"/>
            <a:ext cx="3291840" cy="548640"/>
          </a:xfrm>
          <a:prstGeom prst="rect">
            <a:avLst/>
          </a:prstGeom>
          <a:noFill/>
          <a:ln/>
        </p:spPr>
        <p:txBody>
          <a:bodyPr wrap="square" lIns="0" tIns="0" rIns="0" bIns="0" rtlCol="0" anchor="t"/>
          <a:lstStyle/>
          <a:p>
            <a:pPr indent="0" marL="0">
              <a:buNone/>
            </a:pPr>
            <a:r>
              <a:rPr lang="en-US" sz="1050" dirty="0">
                <a:solidFill>
                  <a:schemeClr val="accent3"/>
                </a:solidFill>
              </a:rPr>
              <a:t>Shows the share in 4 or more programs and the share in none.</a:t>
            </a:r>
            <a:endParaRPr lang="en-US" sz="1050" dirty="0"/>
          </a:p>
        </p:txBody>
      </p:sp>
      <p:sp>
        <p:nvSpPr>
          <p:cNvPr id="45" name="Shape 34"/>
          <p:cNvSpPr/>
          <p:nvPr/>
        </p:nvSpPr>
        <p:spPr>
          <a:xfrm>
            <a:off x="4663440" y="3639312"/>
            <a:ext cx="411480" cy="411480"/>
          </a:xfrm>
          <a:prstGeom prst="ellipse">
            <a:avLst/>
          </a:prstGeom>
          <a:solidFill>
            <a:srgbClr val="E3EFE8"/>
          </a:solidFill>
          <a:ln/>
        </p:spPr>
      </p:sp>
      <p:pic>
        <p:nvPicPr>
          <p:cNvPr id="46" name="Image 9" descr="preencoded.png">    </p:cNvPr>
          <p:cNvPicPr>
            <a:picLocks noChangeAspect="1"/>
          </p:cNvPicPr>
          <p:nvPr/>
        </p:nvPicPr>
        <p:blipFill>
          <a:blip r:embed="rId10"/>
          <a:stretch>
            <a:fillRect/>
          </a:stretch>
        </p:blipFill>
        <p:spPr>
          <a:xfrm>
            <a:off x="4766310" y="3742182"/>
            <a:ext cx="205740" cy="205740"/>
          </a:xfrm>
          <a:prstGeom prst="rect">
            <a:avLst/>
          </a:prstGeom>
        </p:spPr>
      </p:pic>
      <p:sp>
        <p:nvSpPr>
          <p:cNvPr id="47" name="Text 35"/>
          <p:cNvSpPr txBox="1"/>
          <p:nvPr/>
        </p:nvSpPr>
        <p:spPr>
          <a:xfrm>
            <a:off x="5166360" y="3611880"/>
            <a:ext cx="3291840" cy="274320"/>
          </a:xfrm>
          <a:prstGeom prst="rect">
            <a:avLst/>
          </a:prstGeom>
          <a:noFill/>
          <a:ln/>
        </p:spPr>
        <p:txBody>
          <a:bodyPr wrap="square" lIns="0" tIns="0" rIns="0" bIns="0" rtlCol="0" anchor="ctr"/>
          <a:lstStyle/>
          <a:p>
            <a:pPr indent="0" marL="0">
              <a:buNone/>
            </a:pPr>
            <a:r>
              <a:rPr lang="en-US" sz="1200" b="1" dirty="0">
                <a:solidFill>
                  <a:schemeClr val="tx1"/>
                </a:solidFill>
              </a:rPr>
              <a:t>No one left without help</a:t>
            </a:r>
            <a:endParaRPr lang="en-US" sz="1200" dirty="0"/>
          </a:p>
        </p:txBody>
      </p:sp>
      <p:sp>
        <p:nvSpPr>
          <p:cNvPr id="48" name="Text 36"/>
          <p:cNvSpPr txBox="1"/>
          <p:nvPr/>
        </p:nvSpPr>
        <p:spPr>
          <a:xfrm>
            <a:off x="5166360" y="3904488"/>
            <a:ext cx="3291840" cy="548640"/>
          </a:xfrm>
          <a:prstGeom prst="rect">
            <a:avLst/>
          </a:prstGeom>
          <a:noFill/>
          <a:ln/>
        </p:spPr>
        <p:txBody>
          <a:bodyPr wrap="square" lIns="0" tIns="0" rIns="0" bIns="0" rtlCol="0" anchor="t"/>
          <a:lstStyle/>
          <a:p>
            <a:pPr indent="0" marL="0">
              <a:buNone/>
            </a:pPr>
            <a:r>
              <a:rPr lang="en-US" sz="1050" dirty="0">
                <a:solidFill>
                  <a:schemeClr val="accent3"/>
                </a:solidFill>
              </a:rPr>
              <a:t>Flags households with a senior or a child under 5 that get nothing.</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Safe to trust with residents' data</a:t>
            </a:r>
            <a:endParaRPr lang="en-US" sz="3000" dirty="0"/>
          </a:p>
        </p:txBody>
      </p:sp>
      <p:sp>
        <p:nvSpPr>
          <p:cNvPr id="3" name="Shape 1"/>
          <p:cNvSpPr/>
          <p:nvPr/>
        </p:nvSpPr>
        <p:spPr>
          <a:xfrm>
            <a:off x="457200" y="1554480"/>
            <a:ext cx="4023360" cy="1737360"/>
          </a:xfrm>
          <a:prstGeom prst="roundRect">
            <a:avLst>
              <a:gd name="adj" fmla="val 4211"/>
            </a:avLst>
          </a:prstGeom>
          <a:solidFill>
            <a:srgbClr val="F1F5F2"/>
          </a:solidFill>
          <a:ln/>
        </p:spPr>
      </p:sp>
      <p:sp>
        <p:nvSpPr>
          <p:cNvPr id="4" name="Shape 2"/>
          <p:cNvSpPr/>
          <p:nvPr/>
        </p:nvSpPr>
        <p:spPr>
          <a:xfrm>
            <a:off x="685800" y="1783080"/>
            <a:ext cx="594360" cy="594360"/>
          </a:xfrm>
          <a:prstGeom prst="ellipse">
            <a:avLst/>
          </a:prstGeom>
          <a:solidFill>
            <a:srgbClr val="0F6B4C"/>
          </a:solidFill>
          <a:ln/>
        </p:spPr>
      </p:sp>
      <p:pic>
        <p:nvPicPr>
          <p:cNvPr id="5" name="Image 0" descr="preencoded.png">    </p:cNvPr>
          <p:cNvPicPr>
            <a:picLocks noChangeAspect="1"/>
          </p:cNvPicPr>
          <p:nvPr/>
        </p:nvPicPr>
        <p:blipFill>
          <a:blip r:embed="rId1"/>
          <a:stretch>
            <a:fillRect/>
          </a:stretch>
        </p:blipFill>
        <p:spPr>
          <a:xfrm>
            <a:off x="834390" y="1931670"/>
            <a:ext cx="297180" cy="297180"/>
          </a:xfrm>
          <a:prstGeom prst="rect">
            <a:avLst/>
          </a:prstGeom>
        </p:spPr>
      </p:pic>
      <p:sp>
        <p:nvSpPr>
          <p:cNvPr id="6" name="Text 3"/>
          <p:cNvSpPr txBox="1"/>
          <p:nvPr/>
        </p:nvSpPr>
        <p:spPr>
          <a:xfrm>
            <a:off x="1463040" y="1755648"/>
            <a:ext cx="2788920" cy="365760"/>
          </a:xfrm>
          <a:prstGeom prst="rect">
            <a:avLst/>
          </a:prstGeom>
          <a:noFill/>
          <a:ln/>
        </p:spPr>
        <p:txBody>
          <a:bodyPr wrap="square" lIns="0" tIns="0" rIns="0" bIns="0" rtlCol="0" anchor="ctr"/>
          <a:lstStyle/>
          <a:p>
            <a:pPr indent="0" marL="0">
              <a:buNone/>
            </a:pPr>
            <a:r>
              <a:rPr lang="en-US" sz="1600" b="1" dirty="0">
                <a:solidFill>
                  <a:schemeClr val="tx1"/>
                </a:solidFill>
              </a:rPr>
              <a:t>Accountability</a:t>
            </a:r>
            <a:endParaRPr lang="en-US" sz="1600" dirty="0"/>
          </a:p>
        </p:txBody>
      </p:sp>
      <p:sp>
        <p:nvSpPr>
          <p:cNvPr id="7" name="Text 4"/>
          <p:cNvSpPr txBox="1"/>
          <p:nvPr/>
        </p:nvSpPr>
        <p:spPr>
          <a:xfrm>
            <a:off x="1463040" y="2148840"/>
            <a:ext cx="2788920" cy="1005840"/>
          </a:xfrm>
          <a:prstGeom prst="rect">
            <a:avLst/>
          </a:prstGeom>
          <a:noFill/>
          <a:ln/>
        </p:spPr>
        <p:txBody>
          <a:bodyPr wrap="square" lIns="0" tIns="0" rIns="0" bIns="0" rtlCol="0" anchor="t"/>
          <a:lstStyle/>
          <a:p>
            <a:pPr indent="0" marL="0">
              <a:buNone/>
            </a:pPr>
            <a:r>
              <a:rPr lang="en-US" sz="1400" dirty="0">
                <a:solidFill>
                  <a:schemeClr val="accent3"/>
                </a:solidFill>
              </a:rPr>
              <a:t>Every change is logged with who made it and when. No one, not even an administrator, can edit the log.</a:t>
            </a:r>
            <a:endParaRPr lang="en-US" sz="1400" dirty="0"/>
          </a:p>
        </p:txBody>
      </p:sp>
      <p:sp>
        <p:nvSpPr>
          <p:cNvPr id="8" name="Shape 5"/>
          <p:cNvSpPr/>
          <p:nvPr/>
        </p:nvSpPr>
        <p:spPr>
          <a:xfrm>
            <a:off x="4663440" y="1554480"/>
            <a:ext cx="4023360" cy="1737360"/>
          </a:xfrm>
          <a:prstGeom prst="roundRect">
            <a:avLst>
              <a:gd name="adj" fmla="val 4211"/>
            </a:avLst>
          </a:prstGeom>
          <a:solidFill>
            <a:srgbClr val="F1F5F2"/>
          </a:solidFill>
          <a:ln/>
        </p:spPr>
      </p:sp>
      <p:sp>
        <p:nvSpPr>
          <p:cNvPr id="9" name="Shape 6"/>
          <p:cNvSpPr/>
          <p:nvPr/>
        </p:nvSpPr>
        <p:spPr>
          <a:xfrm>
            <a:off x="4892040" y="1783080"/>
            <a:ext cx="594360" cy="594360"/>
          </a:xfrm>
          <a:prstGeom prst="ellipse">
            <a:avLst/>
          </a:prstGeom>
          <a:solidFill>
            <a:srgbClr val="0F6B4C"/>
          </a:solidFill>
          <a:ln/>
        </p:spPr>
      </p:sp>
      <p:pic>
        <p:nvPicPr>
          <p:cNvPr id="10" name="Image 1" descr="preencoded.png">    </p:cNvPr>
          <p:cNvPicPr>
            <a:picLocks noChangeAspect="1"/>
          </p:cNvPicPr>
          <p:nvPr/>
        </p:nvPicPr>
        <p:blipFill>
          <a:blip r:embed="rId2"/>
          <a:stretch>
            <a:fillRect/>
          </a:stretch>
        </p:blipFill>
        <p:spPr>
          <a:xfrm>
            <a:off x="5040630" y="1931670"/>
            <a:ext cx="297180" cy="297180"/>
          </a:xfrm>
          <a:prstGeom prst="rect">
            <a:avLst/>
          </a:prstGeom>
        </p:spPr>
      </p:pic>
      <p:sp>
        <p:nvSpPr>
          <p:cNvPr id="11" name="Text 7"/>
          <p:cNvSpPr txBox="1"/>
          <p:nvPr/>
        </p:nvSpPr>
        <p:spPr>
          <a:xfrm>
            <a:off x="5669280" y="1755648"/>
            <a:ext cx="2788920" cy="365760"/>
          </a:xfrm>
          <a:prstGeom prst="rect">
            <a:avLst/>
          </a:prstGeom>
          <a:noFill/>
          <a:ln/>
        </p:spPr>
        <p:txBody>
          <a:bodyPr wrap="square" lIns="0" tIns="0" rIns="0" bIns="0" rtlCol="0" anchor="ctr"/>
          <a:lstStyle/>
          <a:p>
            <a:pPr indent="0" marL="0">
              <a:buNone/>
            </a:pPr>
            <a:r>
              <a:rPr lang="en-US" sz="1600" b="1" dirty="0">
                <a:solidFill>
                  <a:schemeClr val="tx1"/>
                </a:solidFill>
              </a:rPr>
              <a:t>Privacy by design</a:t>
            </a:r>
            <a:endParaRPr lang="en-US" sz="1600" dirty="0"/>
          </a:p>
        </p:txBody>
      </p:sp>
      <p:sp>
        <p:nvSpPr>
          <p:cNvPr id="12" name="Text 8"/>
          <p:cNvSpPr txBox="1"/>
          <p:nvPr/>
        </p:nvSpPr>
        <p:spPr>
          <a:xfrm>
            <a:off x="5669280" y="2148840"/>
            <a:ext cx="2788920" cy="1005840"/>
          </a:xfrm>
          <a:prstGeom prst="rect">
            <a:avLst/>
          </a:prstGeom>
          <a:noFill/>
          <a:ln/>
        </p:spPr>
        <p:txBody>
          <a:bodyPr wrap="square" lIns="0" tIns="0" rIns="0" bIns="0" rtlCol="0" anchor="t"/>
          <a:lstStyle/>
          <a:p>
            <a:pPr indent="0" marL="0">
              <a:buNone/>
            </a:pPr>
            <a:r>
              <a:rPr lang="en-US" sz="1400" dirty="0">
                <a:solidFill>
                  <a:schemeClr val="accent3"/>
                </a:solidFill>
              </a:rPr>
              <a:t>Built for the Data Privacy Act (RA 10173): government IDs are encrypted, and the system runs on the City's own server.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400" b="1" spc="200" kern="0" dirty="0">
                <a:solidFill>
                  <a:schemeClr val="accent4"/>
                </a:solidFill>
              </a:rPr>
              <a:t>NEXT STEPS</a:t>
            </a:r>
            <a:endParaRPr lang="en-US" sz="1400" dirty="0"/>
          </a:p>
        </p:txBody>
      </p:sp>
      <p:sp>
        <p:nvSpPr>
          <p:cNvPr id="3" name="Text 0"/>
          <p:cNvSpPr/>
          <p:nvPr>
            <p:ph idx="101" type="title" hasCustomPrompt="1"/>
          </p:nvPr>
        </p:nvSpPr>
        <p:spPr>
          <a:xfrm>
            <a:off x="548640" y="1508760"/>
            <a:ext cx="8046720" cy="1463040"/>
          </a:xfrm>
          <a:prstGeom prst="rect">
            <a:avLst/>
          </a:prstGeom>
          <a:noFill/>
          <a:ln/>
        </p:spPr>
        <p:txBody>
          <a:bodyPr wrap="square" lIns="0" tIns="0" rIns="0" bIns="0" rtlCol="0" anchor="t"/>
          <a:lstStyle/>
          <a:p>
            <a:pPr algn="l" indent="0" marL="0">
              <a:buNone/>
            </a:pPr>
            <a:r>
              <a:rPr lang="en-US" sz="3800" b="1" dirty="0">
                <a:solidFill>
                  <a:schemeClr val="bg1"/>
                </a:solidFill>
              </a:rPr>
              <a:t>Built around the records offices already keep</a:t>
            </a:r>
            <a:endParaRPr lang="en-US" sz="3800" dirty="0"/>
          </a:p>
        </p:txBody>
      </p:sp>
      <p:sp>
        <p:nvSpPr>
          <p:cNvPr id="4" name="Shape 2"/>
          <p:cNvSpPr/>
          <p:nvPr/>
        </p:nvSpPr>
        <p:spPr>
          <a:xfrm>
            <a:off x="548640" y="3063240"/>
            <a:ext cx="457200" cy="457200"/>
          </a:xfrm>
          <a:prstGeom prst="ellipse">
            <a:avLst/>
          </a:prstGeom>
          <a:solidFill>
            <a:srgbClr val="B85042"/>
          </a:solidFill>
          <a:ln/>
        </p:spPr>
      </p:sp>
      <p:sp>
        <p:nvSpPr>
          <p:cNvPr id="5" name="Text 3"/>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43000" y="3063240"/>
            <a:ext cx="1965960" cy="457200"/>
          </a:xfrm>
          <a:prstGeom prst="rect">
            <a:avLst/>
          </a:prstGeom>
          <a:noFill/>
          <a:ln/>
        </p:spPr>
        <p:txBody>
          <a:bodyPr wrap="square" lIns="0" tIns="0" rIns="0" bIns="0" rtlCol="0" anchor="ctr"/>
          <a:lstStyle/>
          <a:p>
            <a:pPr indent="0" marL="0">
              <a:buNone/>
            </a:pPr>
            <a:r>
              <a:rPr lang="en-US" sz="1500" b="1" dirty="0">
                <a:solidFill>
                  <a:schemeClr val="bg1"/>
                </a:solidFill>
              </a:rPr>
              <a:t>Share a sample</a:t>
            </a:r>
            <a:endParaRPr lang="en-US" sz="1500" dirty="0"/>
          </a:p>
        </p:txBody>
      </p:sp>
      <p:sp>
        <p:nvSpPr>
          <p:cNvPr id="7" name="Text 5"/>
          <p:cNvSpPr txBox="1"/>
          <p:nvPr/>
        </p:nvSpPr>
        <p:spPr>
          <a:xfrm>
            <a:off x="1143000" y="3566160"/>
            <a:ext cx="1965960" cy="914400"/>
          </a:xfrm>
          <a:prstGeom prst="rect">
            <a:avLst/>
          </a:prstGeom>
          <a:noFill/>
          <a:ln/>
        </p:spPr>
        <p:txBody>
          <a:bodyPr wrap="square" lIns="0" tIns="0" rIns="0" bIns="0" rtlCol="0" anchor="t"/>
          <a:lstStyle/>
          <a:p>
            <a:pPr indent="0" marL="0">
              <a:buNone/>
            </a:pPr>
            <a:r>
              <a:rPr lang="en-US" sz="1200" dirty="0">
                <a:solidFill>
                  <a:schemeClr val="accent4"/>
                </a:solidFill>
              </a:rPr>
              <a:t>Each office sends the records it keeps today: spreadsheet, form or paper list.</a:t>
            </a:r>
            <a:endParaRPr lang="en-US" sz="1200" dirty="0"/>
          </a:p>
        </p:txBody>
      </p:sp>
      <p:sp>
        <p:nvSpPr>
          <p:cNvPr id="8" name="Shape 6"/>
          <p:cNvSpPr/>
          <p:nvPr/>
        </p:nvSpPr>
        <p:spPr>
          <a:xfrm>
            <a:off x="3291840" y="3063240"/>
            <a:ext cx="457200" cy="457200"/>
          </a:xfrm>
          <a:prstGeom prst="ellipse">
            <a:avLst/>
          </a:prstGeom>
          <a:solidFill>
            <a:srgbClr val="B85042"/>
          </a:solidFill>
          <a:ln/>
        </p:spPr>
      </p:sp>
      <p:sp>
        <p:nvSpPr>
          <p:cNvPr id="9" name="Text 7"/>
          <p:cNvSpPr txBox="1"/>
          <p:nvPr/>
        </p:nvSpPr>
        <p:spPr>
          <a:xfrm>
            <a:off x="329184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3886200" y="3063240"/>
            <a:ext cx="1965960" cy="457200"/>
          </a:xfrm>
          <a:prstGeom prst="rect">
            <a:avLst/>
          </a:prstGeom>
          <a:noFill/>
          <a:ln/>
        </p:spPr>
        <p:txBody>
          <a:bodyPr wrap="square" lIns="0" tIns="0" rIns="0" bIns="0" rtlCol="0" anchor="ctr"/>
          <a:lstStyle/>
          <a:p>
            <a:pPr indent="0" marL="0">
              <a:buNone/>
            </a:pPr>
            <a:r>
              <a:rPr lang="en-US" sz="1500" b="1" dirty="0">
                <a:solidFill>
                  <a:schemeClr val="bg1"/>
                </a:solidFill>
              </a:rPr>
              <a:t>Set up each office</a:t>
            </a:r>
            <a:endParaRPr lang="en-US" sz="1500" dirty="0"/>
          </a:p>
        </p:txBody>
      </p:sp>
      <p:sp>
        <p:nvSpPr>
          <p:cNvPr id="11" name="Text 9"/>
          <p:cNvSpPr txBox="1"/>
          <p:nvPr/>
        </p:nvSpPr>
        <p:spPr>
          <a:xfrm>
            <a:off x="3886200" y="3566160"/>
            <a:ext cx="1965960" cy="914400"/>
          </a:xfrm>
          <a:prstGeom prst="rect">
            <a:avLst/>
          </a:prstGeom>
          <a:noFill/>
          <a:ln/>
        </p:spPr>
        <p:txBody>
          <a:bodyPr wrap="square" lIns="0" tIns="0" rIns="0" bIns="0" rtlCol="0" anchor="t"/>
          <a:lstStyle/>
          <a:p>
            <a:pPr indent="0" marL="0">
              <a:buNone/>
            </a:pPr>
            <a:r>
              <a:rPr lang="en-US" sz="1200" dirty="0">
                <a:solidFill>
                  <a:schemeClr val="accent4"/>
                </a:solidFill>
              </a:rPr>
              <a:t>Its space in VUCRMS is configured to match those records.</a:t>
            </a:r>
            <a:endParaRPr lang="en-US" sz="1200" dirty="0"/>
          </a:p>
        </p:txBody>
      </p:sp>
      <p:sp>
        <p:nvSpPr>
          <p:cNvPr id="12" name="Shape 10"/>
          <p:cNvSpPr/>
          <p:nvPr/>
        </p:nvSpPr>
        <p:spPr>
          <a:xfrm>
            <a:off x="6035040" y="3063240"/>
            <a:ext cx="457200" cy="457200"/>
          </a:xfrm>
          <a:prstGeom prst="ellipse">
            <a:avLst/>
          </a:prstGeom>
          <a:solidFill>
            <a:srgbClr val="B85042"/>
          </a:solidFill>
          <a:ln/>
        </p:spPr>
      </p:sp>
      <p:sp>
        <p:nvSpPr>
          <p:cNvPr id="13" name="Text 11"/>
          <p:cNvSpPr txBox="1"/>
          <p:nvPr/>
        </p:nvSpPr>
        <p:spPr>
          <a:xfrm>
            <a:off x="603504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6629400" y="3063240"/>
            <a:ext cx="1965960" cy="457200"/>
          </a:xfrm>
          <a:prstGeom prst="rect">
            <a:avLst/>
          </a:prstGeom>
          <a:noFill/>
          <a:ln/>
        </p:spPr>
        <p:txBody>
          <a:bodyPr wrap="square" lIns="0" tIns="0" rIns="0" bIns="0" rtlCol="0" anchor="ctr"/>
          <a:lstStyle/>
          <a:p>
            <a:pPr indent="0" marL="0">
              <a:buNone/>
            </a:pPr>
            <a:r>
              <a:rPr lang="en-US" sz="1500" b="1" dirty="0">
                <a:solidFill>
                  <a:schemeClr val="bg1"/>
                </a:solidFill>
              </a:rPr>
              <a:t>Go live</a:t>
            </a:r>
            <a:endParaRPr lang="en-US" sz="1500" dirty="0"/>
          </a:p>
        </p:txBody>
      </p:sp>
      <p:sp>
        <p:nvSpPr>
          <p:cNvPr id="15" name="Text 13"/>
          <p:cNvSpPr txBox="1"/>
          <p:nvPr/>
        </p:nvSpPr>
        <p:spPr>
          <a:xfrm>
            <a:off x="6629400" y="3566160"/>
            <a:ext cx="1965960" cy="914400"/>
          </a:xfrm>
          <a:prstGeom prst="rect">
            <a:avLst/>
          </a:prstGeom>
          <a:noFill/>
          <a:ln/>
        </p:spPr>
        <p:txBody>
          <a:bodyPr wrap="square" lIns="0" tIns="0" rIns="0" bIns="0" rtlCol="0" anchor="t"/>
          <a:lstStyle/>
          <a:p>
            <a:pPr indent="0" marL="0">
              <a:buNone/>
            </a:pPr>
            <a:r>
              <a:rPr lang="en-US" sz="1200" dirty="0">
                <a:solidFill>
                  <a:schemeClr val="accent4"/>
                </a:solidFill>
              </a:rPr>
              <a:t>Offices start recording in VUCRMS.</a:t>
            </a:r>
            <a:endParaRPr lang="en-US" sz="1200" dirty="0"/>
          </a:p>
        </p:txBody>
      </p:sp>
      <p:sp>
        <p:nvSpPr>
          <p:cNvPr id="17" name="Text 0"/>
          <p:cNvSpPr/>
          <p:nvPr>
            <p:ph idx="102" type="body" hasCustomPrompt="1"/>
          </p:nvPr>
        </p:nvSpPr>
        <p:spPr>
          <a:xfrm>
            <a:off x="548640" y="3063240"/>
            <a:ext cx="7315200" cy="1097280"/>
          </a:xfrm>
          <a:prstGeom prst="rect">
            <a:avLst/>
          </a:prstGeom>
          <a:noFill/>
          <a:ln/>
        </p:spPr>
        <p:txBody>
          <a:bodyPr wrap="square" lIns="0" tIns="0" rIns="0" bIns="0" rtlCol="0" anchor="t"/>
          <a:lstStyle/>
          <a:p>
            <a:pPr indent="0" marL="0">
              <a:buNone/>
            </a:pPr>
            <a:endParaRPr lang="en-US" sz="1600" dirty="0"/>
          </a:p>
        </p:txBody>
      </p:sp>
    </p:spTree>
  </p:cSld>
  <p:clrMapOvr>
    <a:masterClrMapping/>
  </p:clrMapOvr>
</p:sld>
</file>

<file path=ppt/theme/theme1.xml><?xml version="1.0" encoding="utf-8"?>
<a:theme xmlns:a="http://schemas.openxmlformats.org/drawingml/2006/main" name="Vigan Records">
  <a:themeElements>
    <a:clrScheme name="Vigan Records">
      <a:dk1>
        <a:srgbClr val="1C2420"/>
      </a:dk1>
      <a:lt1>
        <a:srgbClr val="FFFFFF"/>
      </a:lt1>
      <a:dk2>
        <a:srgbClr val="0F6B4C"/>
      </a:dk2>
      <a:lt2>
        <a:srgbClr val="F1F5F2"/>
      </a:lt2>
      <a:accent1>
        <a:srgbClr val="0F6B4C"/>
      </a:accent1>
      <a:accent2>
        <a:srgbClr val="B85042"/>
      </a:accent2>
      <a:accent3>
        <a:srgbClr val="5B655F"/>
      </a:accent3>
      <a:accent4>
        <a:srgbClr val="E3EFE8"/>
      </a:accent4>
      <a:accent5>
        <a:srgbClr val="F7E9E4"/>
      </a:accent5>
      <a:accent6>
        <a:srgbClr val="8B948D"/>
      </a:accent6>
      <a:hlink>
        <a:srgbClr val="0F6B4C"/>
      </a:hlink>
      <a:folHlink>
        <a:srgbClr val="5B655F"/>
      </a:folHlink>
    </a:clrScheme>
    <a:fontScheme name="Vigan Recor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VUCRMS: Why Vigan Needs It</dc:title>
  <dc:subject>PptxGenJS Presentation</dc:subject>
  <dc:creator>City Government of Vigan</dc:creator>
  <cp:lastModifiedBy>City Government of Vigan</cp:lastModifiedBy>
  <cp:revision>1</cp:revision>
  <dcterms:created xsi:type="dcterms:W3CDTF">2026-10-09T01:01:52Z</dcterms:created>
  <dcterms:modified xsi:type="dcterms:W3CDTF">2026-10-09T01:01:52Z</dcterms:modified>
</cp:coreProperties>
</file>